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Open with the pain, then position Supplify as the shared operating layer—not only a marketplace.
NUANCE: This is a product and operating-model overview, not a claim of customer traction. UI screenshots use isolated seeded demo data.
TRANSITION: Start with the fragmented reality the platform is designed to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core problem is not lack of screens; it is the absence of one connected operational record across both sides of the transaction.
NUANCE: Avoid unsupported market-size or efficiency statistics. Keep the point grounded in workflow fragmentation.
TRANSITION: Supplify connects those stages into one shared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differentiated value is continuity: the same order moves through pricing, fulfillment, delivery, receiving, and finance without being re-created.
NUANCE: The six stages simplify a wider platform for business communication.
TRANSITION: That shared flow serves a multi-actor ecosystem, not one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Restaurant teams, supplier teams, warehouse operators, and drivers get purpose-built experiences tied to the same transaction.
NUANCE: Public restaurant ordering and supplier public catalog are optional channels around the core B2B workflow.
TRANSITION: First, see the restaurant experience as a control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Supplify starts with easier sourcing and ordering but extends into the disciplines that determine margin and consistency.
NUANCE: Dashboard values are seeded demo data. Full centralized purchasing across every branch remains a future capability.
TRANSITION: The supplier receives the same order as an executable operational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Supplify gives suppliers an operational command center—not merely a seller listing or order inbox.
NUANCE: Inventory remains controlled by the operating supplier tenant and warehouse.
TRANSITION: The common thread is one order lifecycle with clear state and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Physical delivery, receiving acceptance, invoicing, and payment are separate milestones—not one vague “complete” status.
NUANCE: Invoices are grounded in accepted receiving quantities. Server-side state transitions and snapshots preserve the record.
TRANSITION: This lifecycle stays coherent across branches and warehouses.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Supplify separates the customer relationship from the tenant and warehouse that operationally own inventory and fulfillment.
NUANCE: A new basket resolves to one compatible supplier tenant and warehouse. Full central-purchasing orchestration is not complete.
TRANSITION: The same discipline applies to price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Supplify supports the real B2B hierarchy: catalog, relationship pricing, committed quotes, and promotions.
NUANCE: Checkout revalidates on the server. The order line becomes a historical snapshot, not a live reference.
TRANSITION: Once committed, the order becomes a controlled fulfillment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Warehouse ownership, fulfillment queues, driver workflow, and proof are part of the product.
NUANCE: New baskets do not arbitrarily split across tenants or warehouses; legacy assignments can still be read.
TRANSITION: Receiving turns physical delivery into accepted operational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Strategic value compounds when accepted order data improves inventory, payables, recipe costs, staffing context, and reporting.
NUANCE: These modules exist, but not every cross-module loop is fully automated.
TRANSITION: Selected offers can also extend beyond the authenticated B2B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Public channels widen demand capture while existing operational infrastructure supports downstream handling.
NUANCE: Restaurant consumer ordering is a separate B2C hospitality loop and remains secondary to the B2B story.
TRANSITION: The intelligence layer explains and prioritizes without uncontrolled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Current intelligence is deliberately safe: deterministic calculations and a permission-aware, read-only assistant.
NUANCE: It cannot place orders, mutate stock, set prices, or assign drivers. Action-taking AI is roadmap.
TRANSITION: The event system gets the right signals to the right people and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Recipients, preferences, plan features, and configured channels all shape operational communication.
NUANCE: In-app and realtime are core. External channels depend on environment and configuration.
TRANSITION: This workflow depth depends on a deliberate trust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Trust layers tenant context, permissions, private asset access, validation, audit, rate limits, and privileged-action safeguards.
NUANCE: Production security also depends on deployment configuration, credentials, monitoring, and operations.
TRANSITION: The same model is delivered through web, mobile, and public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Web, Android, and iOS use the same domain model while giving each role an appropriate experience.
NUANCE: Android and iOS source coverage is structurally aligned. Deployment services remain configuration-dependent.
TRANSITION: This architecture enables workflow depth beyond a thin catalog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Defensibility comes from connecting the operational steps after discovery and checkout—where complexity and data value accumulate.
NUANCE: This is a category comparison, not a named competitor benchmark.
TRANSITION: The commercial model maps that depth to each tenant’s operating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Restaurant tiers scale by branch and intelligence depth; supplier tiers scale by active ordering customer locations and operating depth.
NUANCE: Configured monthly prices are $49/$149/$349 for restaurants and $149/$349 for suppliers. Live recurring PSP automation is not production-complete.
TRANSITION: The final question is what is ready now and what remains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Supplify has credible end-to-end breadth. Readiness work is focused on production connections and closing selected loops.
NUANCE: Implemented means present in the audited codebase and local demo path; it is not a claim of live customer adoption or third-party provider activation.
TRANSITION: Close on one connected operating layer for the whole supply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Close with invitation: choose the audience’s priority—restaurant control, supplier execution, commercial model, or pilot readiness—and schedule a live walkthrough.
NUANCE: Keep claims product-true; invite a demo/pilot conversation rather than promising traction metrics.
TRANSITION: End on the four verbs: Source. Order. Fulfill.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2103120"/>
            <a:ext cx="7132320" cy="7132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069080"/>
            <a:ext cx="3749040" cy="3749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2103120"/>
            <a:ext cx="7132320" cy="7132320"/>
          </a:xfrm>
          <a:prstGeom prst="ellipse">
            <a:avLst/>
          </a:prstGeom>
          <a:solidFill>
            <a:srgbClr val="1E0B3A">
              <a:alpha val="28000"/>
            </a:srgbClr>
          </a:solidFill>
          <a:ln w="12700">
            <a:solidFill>
              <a:srgbClr val="1E0B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069080"/>
            <a:ext cx="3749040" cy="3749040"/>
          </a:xfrm>
          <a:prstGeom prst="ellipse">
            <a:avLst/>
          </a:prstGeom>
          <a:solidFill>
            <a:srgbClr val="1E0B3A">
              <a:alpha val="30000"/>
            </a:srgbClr>
          </a:solidFill>
          <a:ln w="12700">
            <a:solidFill>
              <a:srgbClr val="1E0B3A">
                <a:alpha val="0"/>
              </a:srgbClr>
            </a:solidFill>
            <a:prstDash val="solid"/>
          </a:ln>
        </p:spPr>
      </p:sp>
      <p:pic>
        <p:nvPicPr>
          <p:cNvPr id="6" name="Image 0" descr="C:\myProjects\supplify_erp\apps\web\static\brand\supplif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0744" y="521208"/>
            <a:ext cx="292608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00" b="1" spc="2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46920" y="530352"/>
            <a:ext cx="187452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548640"/>
            <a:ext cx="178308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OVERVIEW</a:t>
            </a:r>
            <a:endParaRPr lang="en-US" sz="82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1325880"/>
            <a:ext cx="85953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running F&amp;B supply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chats, sheets, and guesswork.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743200"/>
            <a:ext cx="75895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DE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is the connected operating platform for procurement and supply—one shared workflow from discovery and pricing through fulfillment, delivery, receiving, and financial control.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704088" y="3913632"/>
            <a:ext cx="100584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1719072" y="4069080"/>
            <a:ext cx="155448" cy="914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901952" y="3913632"/>
            <a:ext cx="100584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47672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2916936" y="4069080"/>
            <a:ext cx="155448" cy="914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099816" y="3913632"/>
            <a:ext cx="100584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45536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4114800" y="4069080"/>
            <a:ext cx="155448" cy="914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297680" y="3913632"/>
            <a:ext cx="100584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312664" y="4069080"/>
            <a:ext cx="155448" cy="914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495544" y="3913632"/>
            <a:ext cx="1005840" cy="310896"/>
          </a:xfrm>
          <a:prstGeom prst="roundRect">
            <a:avLst/>
          </a:prstGeom>
          <a:solidFill>
            <a:srgbClr val="382054"/>
          </a:solidFill>
          <a:ln w="12700">
            <a:solidFill>
              <a:srgbClr val="38205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41264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510528" y="4069080"/>
            <a:ext cx="155448" cy="914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693408" y="3913632"/>
            <a:ext cx="100584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39128" y="3931920"/>
            <a:ext cx="914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04088" y="4709160"/>
            <a:ext cx="6949440" cy="658368"/>
          </a:xfrm>
          <a:prstGeom prst="roundRect">
            <a:avLst/>
          </a:prstGeom>
          <a:solidFill>
            <a:srgbClr val="2A1545"/>
          </a:solidFill>
          <a:ln w="12700">
            <a:solidFill>
              <a:srgbClr val="2A1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6112" y="4864608"/>
            <a:ext cx="65836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restaurant teams and suppliers who need execution depth—not another catalog inbox.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6089904"/>
            <a:ext cx="29260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September 2026</a:t>
            </a:r>
            <a:endParaRPr lang="en-US" sz="88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6089904"/>
            <a:ext cx="4663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Product-ready platform  •  Pilot-ready conversation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OPERATING PROBLEM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order still dies in a group chat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Buying may start digitally—but price, stock, delivery, and payment truth scatter the moment the work begins.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27632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618488"/>
            <a:ext cx="43159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contacts, catalogs, and availability live in different places.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68680" y="2112264"/>
            <a:ext cx="914" cy="539496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660904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terms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651760"/>
            <a:ext cx="43159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Prices, quotes, promotions, and minimums are hard to reconcile.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68680" y="3145536"/>
            <a:ext cx="914" cy="539496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1246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94176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3685032"/>
            <a:ext cx="43159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Calls, WhatsApp, and spreadsheets become the real operating system.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68680" y="4178808"/>
            <a:ext cx="914" cy="539496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45736"/>
            <a:ext cx="457200" cy="457200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727448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4718304"/>
            <a:ext cx="43159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Delivery, receiving, disputes, invoices, and payment records drift apart.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543800" y="1572768"/>
            <a:ext cx="4050792" cy="4169664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55280" y="1947672"/>
            <a:ext cx="3200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COST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468880"/>
            <a:ext cx="318211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team reconstructs yesterday instead of controlling tomorrow.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55280" y="4800600"/>
            <a:ext cx="3054096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01000" y="4818888"/>
            <a:ext cx="296265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ORDER  •  MANY VERSIONS OF TRUTH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order. One timeline. One source of truth.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marketplace at the front—with the operational depth to finish the job after checkout.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2898648" cy="987552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764792"/>
            <a:ext cx="25328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139696"/>
            <a:ext cx="2532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&amp; control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30168" y="2057400"/>
            <a:ext cx="493776" cy="914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61104" y="1572768"/>
            <a:ext cx="2898648" cy="9875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3984" y="1764792"/>
            <a:ext cx="25328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139696"/>
            <a:ext cx="2532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operating record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32904" y="2057400"/>
            <a:ext cx="493776" cy="914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1572768"/>
            <a:ext cx="2898648" cy="9875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764792"/>
            <a:ext cx="25328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139696"/>
            <a:ext cx="2532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&amp; execute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346704"/>
            <a:ext cx="159105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700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• compare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249424" y="4041648"/>
            <a:ext cx="22860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32888" y="3346704"/>
            <a:ext cx="1591056" cy="1417320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9816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9981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642616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60904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• quote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142232" y="4041648"/>
            <a:ext cx="22860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25696" y="3346704"/>
            <a:ext cx="159105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92624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35424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53712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• pick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035040" y="4041648"/>
            <a:ext cx="22860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18504" y="3346704"/>
            <a:ext cx="1591056" cy="1417320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85432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85432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28232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• proof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927848" y="4041648"/>
            <a:ext cx="22860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11312" y="3346704"/>
            <a:ext cx="159105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30998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782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339328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• dispute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9820656" y="4041648"/>
            <a:ext cx="228600" cy="914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104120" y="3346704"/>
            <a:ext cx="1591056" cy="1417320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71048" y="309981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67104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213848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0232136" y="4142232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• finance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1993392" y="5266944"/>
            <a:ext cx="8211312" cy="53035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2167128" y="5385816"/>
            <a:ext cx="78638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RE-KEYING.  NO PARALLEL TRUTH.  NO “WHAT ACTUALLY HAPPENED?”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SUPPLIFY SERVES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ecosystem, role-aware experiences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actor sees the workflow they need; the platform keeps the shared commercial and operational context connected.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664208"/>
            <a:ext cx="2852928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938528"/>
            <a:ext cx="557784" cy="5577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1938528"/>
            <a:ext cx="5577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591056" y="1874520"/>
            <a:ext cx="171907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organization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2276856"/>
            <a:ext cx="1664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• buyers • finance • branch teams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58368" y="4187952"/>
            <a:ext cx="2852928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4462272"/>
            <a:ext cx="557784" cy="5577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462272"/>
            <a:ext cx="5577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91056" y="4398264"/>
            <a:ext cx="171907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branches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91056" y="4800600"/>
            <a:ext cx="1664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context • stock • receiving • staff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677656" y="1664208"/>
            <a:ext cx="2852928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06256" y="1938528"/>
            <a:ext cx="557784" cy="5577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06256" y="1938528"/>
            <a:ext cx="5577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10344" y="1874520"/>
            <a:ext cx="171907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organization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10344" y="2276856"/>
            <a:ext cx="1664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• pricing • finance • operations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77656" y="4187952"/>
            <a:ext cx="2852928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06256" y="4462272"/>
            <a:ext cx="557784" cy="5577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06256" y="4462272"/>
            <a:ext cx="5577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610344" y="4398264"/>
            <a:ext cx="171907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Warehouses &amp; drivers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10344" y="4800600"/>
            <a:ext cx="1664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• fulfillment • routes • proof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114800" y="2130552"/>
            <a:ext cx="3941064" cy="272491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pic>
        <p:nvPicPr>
          <p:cNvPr id="28" name="Image 0" descr="C:\myProjects\supplify_erp\apps\web\static\brand\supplif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2459736"/>
            <a:ext cx="1207008" cy="120700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47091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spc="2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608576" y="4251960"/>
            <a:ext cx="296265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• rules • events • records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547872" y="2240280"/>
            <a:ext cx="457200" cy="91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3547872" y="4754880"/>
            <a:ext cx="45720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101584" y="2240280"/>
            <a:ext cx="457200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101584" y="4754880"/>
            <a:ext cx="457200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764024" y="5358384"/>
            <a:ext cx="26517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09744" y="5376672"/>
            <a:ext cx="25603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PUBLIC CHANNELS</a:t>
            </a:r>
            <a:endParaRPr lang="en-US" sz="820" dirty="0"/>
          </a:p>
        </p:txBody>
      </p:sp>
      <p:sp>
        <p:nvSpPr>
          <p:cNvPr id="37" name="Text 34"/>
          <p:cNvSpPr txBox="1"/>
          <p:nvPr/>
        </p:nvSpPr>
        <p:spPr>
          <a:xfrm>
            <a:off x="4279392" y="5751576"/>
            <a:ext cx="362102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ordering • public supplier catalog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EXPERIENCE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restaurant teams control—not another shopping cart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Source, buy, receive, and manage with branch-aware visibility and a shared transaction history.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30368" y="1463040"/>
            <a:ext cx="6208776" cy="3922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pic>
        <p:nvPicPr>
          <p:cNvPr id="8" name="Image 0" descr="C:\myProjects\supplify_erp\presentation_source\assets\screenshots\restaura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1517904"/>
            <a:ext cx="6099048" cy="3813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31536" y="4992624"/>
            <a:ext cx="2514600" cy="310896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77256" y="5010912"/>
            <a:ext cx="24231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 UI  •  SEEDED DEMO DATA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40080" y="1572768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1591056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883664" y="1572768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Suppliers, catalogs, deals, and RFQs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640080" y="2368296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386584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</a:t>
            </a:r>
            <a:endParaRPr lang="en-US" sz="820" dirty="0"/>
          </a:p>
        </p:txBody>
      </p:sp>
      <p:sp>
        <p:nvSpPr>
          <p:cNvPr id="16" name="Text 13"/>
          <p:cNvSpPr txBox="1"/>
          <p:nvPr/>
        </p:nvSpPr>
        <p:spPr>
          <a:xfrm>
            <a:off x="1883664" y="2368296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pricing, quotes, cart, and quick lists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40080" y="3163824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182112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883664" y="3163824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status, delivery progress, and exceptions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640080" y="3959352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977640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1883664" y="3959352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quantities, discrepancies, and disputes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640080" y="4754880"/>
            <a:ext cx="1051560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4773168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820" dirty="0"/>
          </a:p>
        </p:txBody>
      </p:sp>
      <p:sp>
        <p:nvSpPr>
          <p:cNvPr id="25" name="Text 22"/>
          <p:cNvSpPr txBox="1"/>
          <p:nvPr/>
        </p:nvSpPr>
        <p:spPr>
          <a:xfrm>
            <a:off x="1883664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invoices, costs, staff, and reporting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649224" y="5532120"/>
            <a:ext cx="10735056" cy="484632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5641848"/>
            <a:ext cx="10058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WINS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2011680" y="5605272"/>
            <a:ext cx="896112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Purchasing, receiving, stock, and payables stay connected—so the branch never rebuilds the story after delivery.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EXPERIENCE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every order into an executable operating plan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with customer-specific terms, then coordinate warehouse, delivery, receivables, and growth.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12648" y="1463040"/>
            <a:ext cx="6108192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pic>
        <p:nvPicPr>
          <p:cNvPr id="8" name="Image 0" descr="C:\myProjects\supplify_erp\presentation_source\assets\screenshots\supplier-command-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17904"/>
            <a:ext cx="5998464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3816" y="4928616"/>
            <a:ext cx="2514600" cy="310896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" y="4946904"/>
            <a:ext cx="24231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 UI  •  SEEDED DEMO DATA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059168" y="1591056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04888" y="1609344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8284464" y="1591056"/>
            <a:ext cx="31638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Catalogs, customer pricing, quotes, and promotions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059168" y="2386584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04888" y="2404872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82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2386584"/>
            <a:ext cx="31638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Acknowledge, reserve, pick, pack, and assign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059168" y="3182112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04888" y="3200400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8284464" y="3182112"/>
            <a:ext cx="31638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Routes, drivers, live status, and proof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059168" y="3977640"/>
            <a:ext cx="105156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04888" y="3995928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3977640"/>
            <a:ext cx="31638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disputes, invoices, and receivables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059168" y="4773168"/>
            <a:ext cx="1051560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04888" y="4791456"/>
            <a:ext cx="960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820" dirty="0"/>
          </a:p>
        </p:txBody>
      </p:sp>
      <p:sp>
        <p:nvSpPr>
          <p:cNvPr id="25" name="Text 22"/>
          <p:cNvSpPr txBox="1"/>
          <p:nvPr/>
        </p:nvSpPr>
        <p:spPr>
          <a:xfrm>
            <a:off x="8284464" y="4773168"/>
            <a:ext cx="31638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acquisition and operational intelligence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667512" y="5532120"/>
            <a:ext cx="10789920" cy="475488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86968" y="5632704"/>
            <a:ext cx="103510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INCOMING ORDER  →  OPERATIONAL QUEUE  →  PROOF  →  RECEIVABLE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WORKFLOW FITS TOGETHER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order lifecycle—five moments of control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intent, physical execution, acceptance, and financial closure remain connected—but distinct.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3504" y="1874520"/>
            <a:ext cx="193852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572768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1872" y="1572768"/>
            <a:ext cx="6217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258568"/>
            <a:ext cx="16093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852928"/>
            <a:ext cx="148132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RFQ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569464" y="3337560"/>
            <a:ext cx="265176" cy="91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7792" y="1874520"/>
            <a:ext cx="193852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572768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1572768"/>
            <a:ext cx="6217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072384" y="2258568"/>
            <a:ext cx="16093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2852928"/>
            <a:ext cx="148132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resolve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lock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873752" y="3337560"/>
            <a:ext cx="265176" cy="91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1874520"/>
            <a:ext cx="193852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1572768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0448" y="1572768"/>
            <a:ext cx="6217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76672" y="2258568"/>
            <a:ext cx="16093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852928"/>
            <a:ext cx="148132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&amp; pack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178040" y="3337560"/>
            <a:ext cx="265176" cy="91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16368" y="1874520"/>
            <a:ext cx="193852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74736" y="1572768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74736" y="1572768"/>
            <a:ext cx="6217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258568"/>
            <a:ext cx="16093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44968" y="2852928"/>
            <a:ext cx="148132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status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9482328" y="3337560"/>
            <a:ext cx="265176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20656" y="1874520"/>
            <a:ext cx="193852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79024" y="1572768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79024" y="1572768"/>
            <a:ext cx="6217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985248" y="2258568"/>
            <a:ext cx="16093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49256" y="2852928"/>
            <a:ext cx="148132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&amp; pay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1197864" y="5431536"/>
            <a:ext cx="9784080" cy="530352"/>
          </a:xfrm>
          <a:prstGeom prst="roundRect">
            <a:avLst/>
          </a:prstGeom>
          <a:solidFill>
            <a:srgbClr val="FDE8E4"/>
          </a:solidFill>
          <a:ln w="12700">
            <a:solidFill>
              <a:srgbClr val="FDE8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17320" y="5541264"/>
            <a:ext cx="52120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97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 ≠  RECEIVED  ≠  INVOICED  ≠  PAID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5541264"/>
            <a:ext cx="379476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 buyers and suppliers can trust.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MULTI-BRANCH OPERATING MODEL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organizations—not isolated locations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visibility rolls up while execution stays attached to the branch, tenant, and warehouse that own it.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SIDE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1856232"/>
            <a:ext cx="2834640" cy="758952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048256"/>
            <a:ext cx="23591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organization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" y="3218688"/>
            <a:ext cx="90525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3392424"/>
            <a:ext cx="777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H="1">
            <a:off x="1124712" y="2615184"/>
            <a:ext cx="969264" cy="6035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3218688"/>
            <a:ext cx="90525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01368" y="3392424"/>
            <a:ext cx="777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93976" y="2615184"/>
            <a:ext cx="91440" cy="6035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3218688"/>
            <a:ext cx="90525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62072" y="3392424"/>
            <a:ext cx="777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93976" y="2615184"/>
            <a:ext cx="1152144" cy="6035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4325112"/>
            <a:ext cx="260604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visibility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delivery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stock &amp; receiving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13648" y="1481328"/>
            <a:ext cx="2907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SIDE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0" y="1856232"/>
            <a:ext cx="2834640" cy="7589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24544" y="2048256"/>
            <a:ext cx="23591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organization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95944" y="3145536"/>
            <a:ext cx="1307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69096" y="3319272"/>
            <a:ext cx="11612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OpCo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H="1">
            <a:off x="9354312" y="2615184"/>
            <a:ext cx="749808" cy="530352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68712" y="3145536"/>
            <a:ext cx="1307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41864" y="3319272"/>
            <a:ext cx="11612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OpCo 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04120" y="2615184"/>
            <a:ext cx="822960" cy="530352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47304" y="4407408"/>
            <a:ext cx="950976" cy="621792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0456" y="4572000"/>
            <a:ext cx="80467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08592" y="4407408"/>
            <a:ext cx="950976" cy="621792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81744" y="4572000"/>
            <a:ext cx="80467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469880" y="4407408"/>
            <a:ext cx="950976" cy="621792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43032" y="4572000"/>
            <a:ext cx="80467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156448" y="5321808"/>
            <a:ext cx="334670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sees the organization.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and fulfillment retain explicit ownership.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123944" y="2231136"/>
            <a:ext cx="3922776" cy="290779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08576" y="2587752"/>
            <a:ext cx="295351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35424" y="3063240"/>
            <a:ext cx="3099816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 rolls up.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ownership stays explicit.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35424" y="4480560"/>
            <a:ext cx="3099816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81144" y="4498848"/>
            <a:ext cx="30083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ARBITRARY CROSS-TENANT FULFILLMENT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CONTROL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follows the relationship—then becomes immutable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Applicable terms are resolved at checkout and the result is snapshotted onto the order.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74620" y="1536192"/>
            <a:ext cx="4617720" cy="612648"/>
          </a:xfrm>
          <a:prstGeom prst="roundRect">
            <a:avLst/>
          </a:prstGeom>
          <a:solidFill>
            <a:srgbClr val="EEEFF5"/>
          </a:solidFill>
          <a:ln w="12700">
            <a:solidFill>
              <a:srgbClr val="EEEF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788" y="1645920"/>
            <a:ext cx="240121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CATALOG PRICE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37303" y="1636776"/>
            <a:ext cx="205191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standard sell price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171700" y="2340864"/>
            <a:ext cx="5623560" cy="6126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2868" y="2450592"/>
            <a:ext cx="2924251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CONTRACT / CUSTOMER PRICE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927244" y="2441448"/>
            <a:ext cx="2534717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Date- and quantity-valid relationship terms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668780" y="3145536"/>
            <a:ext cx="6629400" cy="612648"/>
          </a:xfrm>
          <a:prstGeom prst="roundRect">
            <a:avLst/>
          </a:prstGeom>
          <a:solidFill>
            <a:srgbClr val="DED0FA"/>
          </a:solidFill>
          <a:ln w="12700">
            <a:solidFill>
              <a:srgbClr val="DED0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69948" y="3255264"/>
            <a:ext cx="34472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QUOTE LOCK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917186" y="3246120"/>
            <a:ext cx="301752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 quote overrides the contract for that line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165860" y="3950208"/>
            <a:ext cx="7635240" cy="612648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67028" y="4059936"/>
            <a:ext cx="3970325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ELIGIBLE PROMOTION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907128" y="4050792"/>
            <a:ext cx="3500323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Applied after the base price, subject to rules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76656" y="4754880"/>
            <a:ext cx="8613648" cy="612648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864608"/>
            <a:ext cx="4479097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SNAPSHOT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97344" y="4855464"/>
            <a:ext cx="3969959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Price, quantity, and context preserved for audit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802368" y="1545336"/>
            <a:ext cx="17373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40112" y="1892808"/>
            <a:ext cx="1261872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0049256" y="273405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41864" y="2679192"/>
            <a:ext cx="941832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Re-resolve at checkout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10049256" y="330098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41864" y="3246120"/>
            <a:ext cx="941832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 &amp; order multiple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10049256" y="386791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41864" y="3813048"/>
            <a:ext cx="941832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&amp; expiry checks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0049256" y="44348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41864" y="4379976"/>
            <a:ext cx="941832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client price trust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&amp; DELIVERY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marketplace continues into the warehouse and onto the road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remains connected while each role works from its own queue and permissions.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426464"/>
            <a:ext cx="6254496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pic>
        <p:nvPicPr>
          <p:cNvPr id="8" name="Image 0" descr="C:\myProjects\supplify_erp\presentation_source\assets\screenshots\supplier-fulfill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81328"/>
            <a:ext cx="6144768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4983480"/>
            <a:ext cx="2514600" cy="310896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5001768"/>
            <a:ext cx="24231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 UI  •  SEEDED DEMO DATA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187184" y="14904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87184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17536" y="1481328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80576" y="1481328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 demand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70064" y="1856232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87184" y="21214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87184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717536" y="2112264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80576" y="2112264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owner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370064" y="2487168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275234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87184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717536" y="2743200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/ PACK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80576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Executable queue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7370064" y="3118104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87184" y="33832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8718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717536" y="3374136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180576" y="3374136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&amp; sequence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70064" y="3749040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87184" y="401421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87184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717536" y="4005072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180576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status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7370064" y="4379976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87184" y="464515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187184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717536" y="4636008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180576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captured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7370064" y="5010912"/>
            <a:ext cx="914" cy="274320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87184" y="527608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187184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7717536" y="5266944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180576" y="5266944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truth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76656" y="5550408"/>
            <a:ext cx="10634472" cy="475488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3544" y="5650992"/>
            <a:ext cx="119786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BOUNDARY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2212848" y="5614416"/>
            <a:ext cx="86136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new basket is fulfilled by one compatible supplier tenant and one warehouse; it is not silently split across operators.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PROCUREMENT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becomes an operating data flywheel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supply activity feeds the modules that help restaurants control stock, cost, people, and service.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800600" y="1975104"/>
            <a:ext cx="2587752" cy="2587752"/>
          </a:xfrm>
          <a:prstGeom prst="ellipse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pic>
        <p:nvPicPr>
          <p:cNvPr id="8" name="Image 0" descr="C:\myProjects\supplify_erp\apps\web\static\brand\supplif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2" y="2432304"/>
            <a:ext cx="1170432" cy="11704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184648" y="3685032"/>
            <a:ext cx="182880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TRUTH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" y="1563624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819656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1737360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481328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On-hand • lots • expiry • waste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658368" y="310896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9536" y="3364992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" y="3364992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3282696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481328" y="3666744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• payables • credits • aging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658368" y="4654296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" y="491032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" y="4910328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481328" y="4828032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Recipes &amp; cost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481328" y="5212080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 • yield • cost impact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8787384" y="1563624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88552" y="1819656"/>
            <a:ext cx="493776" cy="49377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88552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610344" y="1737360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9610344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• schedules • labor operations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8787384" y="310896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88552" y="3364992"/>
            <a:ext cx="493776" cy="49377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88552" y="3364992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610344" y="3282696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 operations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610344" y="3666744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Reservations • waitlist • ordering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8787384" y="4654296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88552" y="4910328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88552" y="4910328"/>
            <a:ext cx="4937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610344" y="4828032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relationships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9610344" y="5212080"/>
            <a:ext cx="166420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• suppliers • disputes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3429000" y="2066544"/>
            <a:ext cx="1143000" cy="914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3429000" y="3611880"/>
            <a:ext cx="1143000" cy="914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3429000" y="5157216"/>
            <a:ext cx="1344168" cy="914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443216" y="2066544"/>
            <a:ext cx="11887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443216" y="3611880"/>
            <a:ext cx="11887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7443216" y="5157216"/>
            <a:ext cx="11887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676656" y="6007608"/>
            <a:ext cx="106984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as product modules; several cross-module automation loops remain partial.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EXPANSION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B2B core—with optional public demand channels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catalog and ordering experiences can be exposed publicly without replacing the operating system behind them.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" y="1527048"/>
            <a:ext cx="3803904" cy="4526280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819656"/>
            <a:ext cx="77724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1837944"/>
            <a:ext cx="6858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276856"/>
            <a:ext cx="3108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B2B network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50976" y="29260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procurement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82112"/>
            <a:ext cx="242316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DC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 and negotiated terms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50976" y="374904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operations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005072"/>
            <a:ext cx="242316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DC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Catalog, fulfillment, delivery, receivables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950976" y="4572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controls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828032"/>
            <a:ext cx="242316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DC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permissions, audit, notifications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727448" y="1490472"/>
            <a:ext cx="6620256" cy="4178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pic>
        <p:nvPicPr>
          <p:cNvPr id="24" name="Image 0" descr="C:\myProjects\supplify_erp\presentation_source\assets\screenshots\public-supplier-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1545336"/>
            <a:ext cx="6510528" cy="4069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928616" y="5276088"/>
            <a:ext cx="2514600" cy="310896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74336" y="5294376"/>
            <a:ext cx="24231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 UI  •  SEEDED DEMO DATA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4983480" y="5733288"/>
            <a:ext cx="1691640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0" y="5751576"/>
            <a:ext cx="16002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CHANNELS</a:t>
            </a:r>
            <a:endParaRPr lang="en-US" sz="820" dirty="0"/>
          </a:p>
        </p:txBody>
      </p:sp>
      <p:sp>
        <p:nvSpPr>
          <p:cNvPr id="29" name="Text 26"/>
          <p:cNvSpPr txBox="1"/>
          <p:nvPr/>
        </p:nvSpPr>
        <p:spPr>
          <a:xfrm>
            <a:off x="6876288" y="5733288"/>
            <a:ext cx="2084832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supplier catalog &amp; ordering</a:t>
            </a:r>
            <a:endParaRPr lang="en-US" sz="92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5733288"/>
            <a:ext cx="195681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consumer ordering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SUPPORT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that explains the operation before it automates it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services calculate; the assistant reads and explains within the user’s permissions and plan.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" y="1527048"/>
            <a:ext cx="5504688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810512"/>
            <a:ext cx="151790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1828800"/>
            <a:ext cx="142646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TODAY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960120" y="241401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2395728"/>
            <a:ext cx="188366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assistant</a:t>
            </a:r>
            <a:endParaRPr lang="en-US" sz="106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from live, tenant-scoped operational data.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960120" y="323697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3218688"/>
            <a:ext cx="188366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intelligence</a:t>
            </a:r>
            <a:endParaRPr lang="en-US" sz="106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3218688"/>
            <a:ext cx="235915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Demand, expiry, waste, stockout, customer, and warehouse signals.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960120" y="405993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4041648"/>
            <a:ext cx="188366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assistance</a:t>
            </a:r>
            <a:endParaRPr lang="en-US" sz="106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4041648"/>
            <a:ext cx="235915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baseline; AI explanation when entitled.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960120" y="4882896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882896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536192" y="4864608"/>
            <a:ext cx="188366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</a:t>
            </a:r>
            <a:endParaRPr lang="en-US" sz="106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4864608"/>
            <a:ext cx="235915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 remain reviewable before action.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446520" y="1527048"/>
            <a:ext cx="5065776" cy="450799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7416" y="1810512"/>
            <a:ext cx="1042416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1828800"/>
            <a:ext cx="9509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304288"/>
            <a:ext cx="411480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does not…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784848" y="2852928"/>
            <a:ext cx="219456" cy="21945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84848" y="2852928"/>
            <a:ext cx="2194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150608" y="2816352"/>
            <a:ext cx="36118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or approve an order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3364992"/>
            <a:ext cx="219456" cy="21945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84848" y="3364992"/>
            <a:ext cx="2194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50608" y="3328416"/>
            <a:ext cx="36118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stock or pricing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84848" y="3877056"/>
            <a:ext cx="219456" cy="21945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84848" y="3877056"/>
            <a:ext cx="2194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150608" y="3840480"/>
            <a:ext cx="36118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a driver or route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84848" y="4389120"/>
            <a:ext cx="219456" cy="21945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84848" y="4389120"/>
            <a:ext cx="2194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150608" y="4352544"/>
            <a:ext cx="36118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 tenant permissions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84848" y="4901184"/>
            <a:ext cx="219456" cy="219456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84848" y="4901184"/>
            <a:ext cx="2194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150608" y="4864608"/>
            <a:ext cx="361188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heuristic fallback as AI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" y="5998464"/>
            <a:ext cx="10716768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is gated by tenant type, plan, feature flags, permissions, provider configuration, and quota.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FABRIC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become coordinated action—not more noise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event can fan out by actor, preference, feature entitlement, and channel configuration.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76656" y="1572768"/>
            <a:ext cx="1197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" y="1591056"/>
            <a:ext cx="1106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591056"/>
            <a:ext cx="1234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Acknowledged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154680" y="1728216"/>
            <a:ext cx="658368" cy="91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" y="2377440"/>
            <a:ext cx="1197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" y="2395728"/>
            <a:ext cx="1106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</a:t>
            </a:r>
            <a:endParaRPr lang="en-US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395728"/>
            <a:ext cx="1234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/ delayed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154680" y="2532888"/>
            <a:ext cx="658368" cy="91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" y="3182112"/>
            <a:ext cx="1197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3200400"/>
            <a:ext cx="1106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200400"/>
            <a:ext cx="1234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Arriving / proof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3154680" y="3337560"/>
            <a:ext cx="658368" cy="91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" y="3986784"/>
            <a:ext cx="1197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" y="4005072"/>
            <a:ext cx="1106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endParaRPr lang="en-US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005072"/>
            <a:ext cx="1234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/ disputed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3154680" y="4142232"/>
            <a:ext cx="658368" cy="91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" y="4791456"/>
            <a:ext cx="119786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" y="4809744"/>
            <a:ext cx="1106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82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809744"/>
            <a:ext cx="1234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/ overdue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3154680" y="4946904"/>
            <a:ext cx="658368" cy="91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05072" y="1993392"/>
            <a:ext cx="2907792" cy="322783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pic>
        <p:nvPicPr>
          <p:cNvPr id="28" name="Image 0" descr="C:\myProjects\supplify_erp\apps\web\static\brand\supplif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13432"/>
            <a:ext cx="859536" cy="85953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4398264" y="3346704"/>
            <a:ext cx="21214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50" b="1" spc="9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ROUTER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4315968" y="3913632"/>
            <a:ext cx="1060704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61688" y="3931920"/>
            <a:ext cx="96926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513832" y="3913632"/>
            <a:ext cx="1060704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559552" y="3931920"/>
            <a:ext cx="96926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PREFERENCE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4315968" y="4361688"/>
            <a:ext cx="1060704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61688" y="4379976"/>
            <a:ext cx="96926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5513832" y="4361688"/>
            <a:ext cx="1060704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59552" y="4379976"/>
            <a:ext cx="96926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6967728" y="3639312"/>
            <a:ext cx="393192" cy="914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461504" y="1554480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35240" y="1773936"/>
            <a:ext cx="283464" cy="28346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19288" y="1719072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7635240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record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9500616" y="1554480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674352" y="1773936"/>
            <a:ext cx="283464" cy="2834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58400" y="1719072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674352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updates</a:t>
            </a:r>
            <a:endParaRPr lang="en-US" sz="780" dirty="0"/>
          </a:p>
        </p:txBody>
      </p:sp>
      <p:sp>
        <p:nvSpPr>
          <p:cNvPr id="47" name="Shape 44"/>
          <p:cNvSpPr/>
          <p:nvPr/>
        </p:nvSpPr>
        <p:spPr>
          <a:xfrm>
            <a:off x="7461504" y="2962656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35240" y="3182112"/>
            <a:ext cx="283464" cy="2834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019288" y="3127248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7635240" y="3584448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configured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9500616" y="2962656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674352" y="3182112"/>
            <a:ext cx="283464" cy="2834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058400" y="3127248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9674352" y="3584448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configured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7461504" y="4370832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35240" y="4590288"/>
            <a:ext cx="283464" cy="283464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019288" y="4535424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7635240" y="4992624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native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9500616" y="4370832"/>
            <a:ext cx="1764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674352" y="4590288"/>
            <a:ext cx="283464" cy="2834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058400" y="4535424"/>
            <a:ext cx="102412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9674352" y="4992624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event</a:t>
            </a:r>
            <a:endParaRPr lang="en-US" sz="780" dirty="0"/>
          </a:p>
        </p:txBody>
      </p:sp>
      <p:sp>
        <p:nvSpPr>
          <p:cNvPr id="63" name="Text 60"/>
          <p:cNvSpPr txBox="1"/>
          <p:nvPr/>
        </p:nvSpPr>
        <p:spPr>
          <a:xfrm>
            <a:off x="7479792" y="5788152"/>
            <a:ext cx="377647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delivery milestones intentionally remain in-app only.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GOVERNANCE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is designed into the operating layer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protect tenant boundaries, privileged actions, documents, identities, and the historical record.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8196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179222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isolation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24942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data is scoped to the organization and server-resolved context.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162763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54296" y="18196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57216" y="179222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224942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RBAC, feature entitlements, and plan limits shape every experience.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66176" y="162763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67344" y="18196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7344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70264" y="179222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13064" y="224942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Keycloak-backed sessions and guarded role-aware routes.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39227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389534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files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" y="435254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access, validation, quarantine, and malware scanning when configured.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53128" y="373075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4296" y="392277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5429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57216" y="389534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700016" y="435254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Commercial, admin, security, and status actions retain history.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66176" y="3730752"/>
            <a:ext cx="3401568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67344" y="392277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67344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70264" y="3895344"/>
            <a:ext cx="2468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safeguards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513064" y="4352544"/>
            <a:ext cx="2926080" cy="9235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Time-limited impersonation blocks sensitive mutations.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01952" y="5879592"/>
            <a:ext cx="8366760" cy="283464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075688" y="5925312"/>
            <a:ext cx="80192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controls, platform configuration, and deployment operations work together.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multiple role-aware surfaces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Channel-specific experiences sit on shared domain services, controls, and infrastructure.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76656" y="1508760"/>
            <a:ext cx="3401568" cy="914400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709928"/>
            <a:ext cx="30358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ERP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048256"/>
            <a:ext cx="3035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• supplier • admin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377440" y="2423160"/>
            <a:ext cx="914" cy="438912"/>
          </a:xfrm>
          <a:prstGeom prst="line">
            <a:avLst/>
          </a:prstGeom>
          <a:noFill/>
          <a:ln w="17780">
            <a:solidFill>
              <a:srgbClr val="DE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508760"/>
            <a:ext cx="3401568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1709928"/>
            <a:ext cx="30358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048256"/>
            <a:ext cx="3035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• supplier • driver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199632" y="2423160"/>
            <a:ext cx="914" cy="438912"/>
          </a:xfrm>
          <a:prstGeom prst="line">
            <a:avLst/>
          </a:prstGeom>
          <a:noFill/>
          <a:ln w="17780">
            <a:solidFill>
              <a:srgbClr val="DE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508760"/>
            <a:ext cx="3401568" cy="9144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1709928"/>
            <a:ext cx="30358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048256"/>
            <a:ext cx="3035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catalog • consumer ordering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0021824" y="2423160"/>
            <a:ext cx="914" cy="438912"/>
          </a:xfrm>
          <a:prstGeom prst="line">
            <a:avLst/>
          </a:prstGeom>
          <a:noFill/>
          <a:ln w="17780">
            <a:solidFill>
              <a:srgbClr val="DE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2871216"/>
            <a:ext cx="10844784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3136392"/>
            <a:ext cx="103144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PLATFORM DOMAINS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9264" y="3593592"/>
            <a:ext cx="2340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361188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TENANCY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566160" y="3593592"/>
            <a:ext cx="2340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361188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&amp; PRICING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163056" y="3593592"/>
            <a:ext cx="2340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8776" y="361188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&amp; QUOTES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759952" y="3593592"/>
            <a:ext cx="2340864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05672" y="361188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RECEIVING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69264" y="4187952"/>
            <a:ext cx="234086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984" y="420624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&amp; DELIVERY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566160" y="4187952"/>
            <a:ext cx="234086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0624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&amp; DISPUTES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163056" y="4187952"/>
            <a:ext cx="234086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08776" y="420624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AUDIT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759952" y="4187952"/>
            <a:ext cx="2340864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05672" y="4206240"/>
            <a:ext cx="22494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&amp; REPORTING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508760" y="5367528"/>
            <a:ext cx="9144000" cy="594360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55648" y="5522976"/>
            <a:ext cx="865022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 •  Redis  •  object storage  •  Keycloak  •  realtime &amp; integrations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SUPPLIFY WINS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others stop at “order placed,” Supplify keeps going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marketplace helps two parties meet. An operating platform helps them execute, reconcile, and improve together.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76656" y="1517904"/>
            <a:ext cx="386791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810512"/>
            <a:ext cx="1682496" cy="310896"/>
          </a:xfrm>
          <a:prstGeom prst="roundRect">
            <a:avLst/>
          </a:prstGeom>
          <a:solidFill>
            <a:srgbClr val="EEEFF5"/>
          </a:solidFill>
          <a:ln w="12700">
            <a:solidFill>
              <a:srgbClr val="EEEF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1828800"/>
            <a:ext cx="159105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MARKETPLACE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987552" y="2514600"/>
            <a:ext cx="411480" cy="411480"/>
          </a:xfrm>
          <a:prstGeom prst="ellipse">
            <a:avLst/>
          </a:prstGeom>
          <a:solidFill>
            <a:srgbClr val="9A95A6"/>
          </a:solidFill>
          <a:ln w="12700">
            <a:solidFill>
              <a:srgbClr val="9A95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496312"/>
            <a:ext cx="1042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2496312"/>
            <a:ext cx="13898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 supplier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1197864" y="2926080"/>
            <a:ext cx="914" cy="557784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474720"/>
            <a:ext cx="411480" cy="411480"/>
          </a:xfrm>
          <a:prstGeom prst="ellipse">
            <a:avLst/>
          </a:prstGeom>
          <a:solidFill>
            <a:srgbClr val="9A95A6"/>
          </a:solidFill>
          <a:ln w="12700">
            <a:solidFill>
              <a:srgbClr val="9A95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3456432"/>
            <a:ext cx="1042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2615184" y="3456432"/>
            <a:ext cx="13898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a catalog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1197864" y="3886200"/>
            <a:ext cx="914" cy="557784"/>
          </a:xfrm>
          <a:prstGeom prst="line">
            <a:avLst/>
          </a:prstGeom>
          <a:noFill/>
          <a:ln w="15240">
            <a:solidFill>
              <a:srgbClr val="DE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434840"/>
            <a:ext cx="411480" cy="411480"/>
          </a:xfrm>
          <a:prstGeom prst="ellipse">
            <a:avLst/>
          </a:prstGeom>
          <a:solidFill>
            <a:srgbClr val="9A95A6"/>
          </a:solidFill>
          <a:ln w="12700">
            <a:solidFill>
              <a:srgbClr val="9A95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416552"/>
            <a:ext cx="1042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2615184" y="4416552"/>
            <a:ext cx="138988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demand</a:t>
            </a:r>
            <a:endParaRPr lang="en-US" sz="89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5440680"/>
            <a:ext cx="331927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spc="8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STOPS AT THE HANDOFF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818888" y="1517904"/>
            <a:ext cx="6693408" cy="4553712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75504" y="1810512"/>
            <a:ext cx="950976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21224" y="1828800"/>
            <a:ext cx="85953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541264" y="259689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41264" y="2596896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202936" y="3246120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108192" y="2862072"/>
            <a:ext cx="2743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013448" y="259689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13448" y="2596896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246120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580376" y="2862072"/>
            <a:ext cx="2743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85632" y="259689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85632" y="2596896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147304" y="3246120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052560" y="2862072"/>
            <a:ext cx="274320" cy="914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57816" y="2596896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57816" y="2596896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19488" y="3246120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541264" y="385876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41264" y="3858768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202936" y="4507992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108192" y="4123944"/>
            <a:ext cx="274320" cy="914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013448" y="3858768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13448" y="3858768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0" y="4507992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7580376" y="4123944"/>
            <a:ext cx="274320" cy="914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485632" y="3858768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485632" y="3858768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8147304" y="4507992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9052560" y="4123944"/>
            <a:ext cx="274320" cy="914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957816" y="3858768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957816" y="3858768"/>
            <a:ext cx="5303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619488" y="4507992"/>
            <a:ext cx="120700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880" dirty="0"/>
          </a:p>
        </p:txBody>
      </p:sp>
      <p:sp>
        <p:nvSpPr>
          <p:cNvPr id="58" name="Text 56"/>
          <p:cNvSpPr txBox="1"/>
          <p:nvPr/>
        </p:nvSpPr>
        <p:spPr>
          <a:xfrm>
            <a:off x="5175504" y="5358384"/>
            <a:ext cx="5961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COMPOUNDS AFTER THE ORDER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MODEL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Subscriptions scale with operating complexity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30-day trial leads into tenant-specific plans. Prices shown are the current configured public catalog.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472184"/>
            <a:ext cx="1170432" cy="31089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490472"/>
            <a:ext cx="107899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1975104" cy="3136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103120"/>
            <a:ext cx="164592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96896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18104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month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3630168"/>
            <a:ext cx="157276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active branch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178808"/>
            <a:ext cx="1554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purchasing &amp; operations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889504" y="1847088"/>
            <a:ext cx="1975104" cy="3136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054096" y="2103120"/>
            <a:ext cx="164592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54096" y="2596896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54096" y="3118104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month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090672" y="3630168"/>
            <a:ext cx="157276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active branches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3099816" y="4178808"/>
            <a:ext cx="1554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intelligence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120640" y="1847088"/>
            <a:ext cx="1975104" cy="3136392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21808" y="1975104"/>
            <a:ext cx="1572768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67528" y="1993392"/>
            <a:ext cx="148132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FIT FOR GROWTH</a:t>
            </a:r>
            <a:endParaRPr lang="en-US" sz="82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2304288"/>
            <a:ext cx="164592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2715768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$349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3218688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month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3630168"/>
            <a:ext cx="157276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Multi-branch</a:t>
            </a:r>
            <a:endParaRPr lang="en-US" sz="82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4178808"/>
            <a:ext cx="15544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controls + assistant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434072" y="1472184"/>
            <a:ext cx="1078992" cy="310896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79792" y="1490472"/>
            <a:ext cx="98755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434072" y="1847088"/>
            <a:ext cx="1874520" cy="3136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598664" y="2103120"/>
            <a:ext cx="15453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598664" y="2596896"/>
            <a:ext cx="154533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598664" y="3118104"/>
            <a:ext cx="15453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month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3630168"/>
            <a:ext cx="147218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active customer locations / month</a:t>
            </a:r>
            <a:endParaRPr lang="en-US" sz="820" dirty="0"/>
          </a:p>
        </p:txBody>
      </p:sp>
      <p:sp>
        <p:nvSpPr>
          <p:cNvPr id="36" name="Text 34"/>
          <p:cNvSpPr txBox="1"/>
          <p:nvPr/>
        </p:nvSpPr>
        <p:spPr>
          <a:xfrm>
            <a:off x="7644384" y="4178808"/>
            <a:ext cx="145389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sales &amp; operations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546336" y="1847088"/>
            <a:ext cx="1874520" cy="3136392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47504" y="1975104"/>
            <a:ext cx="1572768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93224" y="1993392"/>
            <a:ext cx="148132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FIT FOR GROWTH</a:t>
            </a:r>
            <a:endParaRPr lang="en-US" sz="820" dirty="0"/>
          </a:p>
        </p:txBody>
      </p:sp>
      <p:sp>
        <p:nvSpPr>
          <p:cNvPr id="40" name="Text 38"/>
          <p:cNvSpPr txBox="1"/>
          <p:nvPr/>
        </p:nvSpPr>
        <p:spPr>
          <a:xfrm>
            <a:off x="9710928" y="2304288"/>
            <a:ext cx="15453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710928" y="2715768"/>
            <a:ext cx="154533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$349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9710928" y="3218688"/>
            <a:ext cx="15453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month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9747504" y="3630168"/>
            <a:ext cx="147218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active customer locations / month</a:t>
            </a:r>
            <a:endParaRPr lang="en-US" sz="820" dirty="0"/>
          </a:p>
        </p:txBody>
      </p:sp>
      <p:sp>
        <p:nvSpPr>
          <p:cNvPr id="44" name="Text 42"/>
          <p:cNvSpPr txBox="1"/>
          <p:nvPr/>
        </p:nvSpPr>
        <p:spPr>
          <a:xfrm>
            <a:off x="9756648" y="4178808"/>
            <a:ext cx="145389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Multi-warehouse + intelligence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58368" y="5340096"/>
            <a:ext cx="10716768" cy="640080"/>
          </a:xfrm>
          <a:prstGeom prst="roundRect">
            <a:avLst/>
          </a:prstGeom>
          <a:solidFill>
            <a:srgbClr val="1E0B3A"/>
          </a:solidFill>
          <a:ln w="12700">
            <a:solidFill>
              <a:srgbClr val="1E0B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6112" y="5504688"/>
            <a:ext cx="658368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1581912" y="5486400"/>
            <a:ext cx="144475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10× monthly price</a:t>
            </a:r>
            <a:endParaRPr lang="en-US" sz="920" dirty="0"/>
          </a:p>
        </p:txBody>
      </p:sp>
      <p:sp>
        <p:nvSpPr>
          <p:cNvPr id="48" name="Text 46"/>
          <p:cNvSpPr txBox="1"/>
          <p:nvPr/>
        </p:nvSpPr>
        <p:spPr>
          <a:xfrm>
            <a:off x="3328416" y="5504688"/>
            <a:ext cx="98755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ADD-ONS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361688" y="5486400"/>
            <a:ext cx="276148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location, branch &amp; warehouse capacity</a:t>
            </a:r>
            <a:endParaRPr lang="en-US" sz="880" dirty="0"/>
          </a:p>
        </p:txBody>
      </p:sp>
      <p:sp>
        <p:nvSpPr>
          <p:cNvPr id="50" name="Text 48"/>
          <p:cNvSpPr txBox="1"/>
          <p:nvPr/>
        </p:nvSpPr>
        <p:spPr>
          <a:xfrm>
            <a:off x="7388352" y="5504688"/>
            <a:ext cx="5943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8046720" y="5449824"/>
            <a:ext cx="290779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Manual/stub capable; live recurring PSP integration remains external work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20" b="1" spc="18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 &amp; ROADMAP</a:t>
            </a:r>
            <a:endParaRPr lang="en-US" sz="82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475488"/>
            <a:ext cx="11045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26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enough to win—honest about what comes next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042416"/>
            <a:ext cx="10899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end-to-end workflow exists today. Next work hardens production connections and closes the highest-value loops.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9A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  •  STAKEHOLDER OVERVIEW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11631168" y="6483096"/>
            <a:ext cx="25603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090672" cy="4562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36192"/>
            <a:ext cx="3090672" cy="868680"/>
          </a:xfrm>
          <a:prstGeom prst="roundRect">
            <a:avLst/>
          </a:prstGeom>
          <a:solidFill>
            <a:srgbClr val="DFF7ED"/>
          </a:solidFill>
          <a:ln w="12700">
            <a:solidFill>
              <a:srgbClr val="DFF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783080"/>
            <a:ext cx="658368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" y="1801368"/>
            <a:ext cx="56692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&amp; demo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72491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52728" y="267004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ordering, pricing &amp; quotes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914400" y="323697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52728" y="3182112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Fulfillment, routes, drivers &amp; POD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2728" y="3694176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Receiving, disputes &amp; finance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914400" y="42611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52728" y="4206240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Multi-branch / warehouse foundations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914400" y="477316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52728" y="4718304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web + mobile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914400" y="528523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52728" y="523036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operational intelligence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4096512" y="1536192"/>
            <a:ext cx="3090672" cy="4562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96512" y="1536192"/>
            <a:ext cx="3090672" cy="868680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1783080"/>
            <a:ext cx="658368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61688" y="1801368"/>
            <a:ext cx="56692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82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&amp; connect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370832" y="27249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267004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deployment configuration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4370832" y="323697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182112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provider credentials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4370832" y="3749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3694176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recurring billing integration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4370832" y="426110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09160" y="4206240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reconciliation workflows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4370832" y="477316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09160" y="4718304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timeline polish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4370832" y="52852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09160" y="523036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Cross-module operating loops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7552944" y="1536192"/>
            <a:ext cx="3090672" cy="4562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FF5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52944" y="1536192"/>
            <a:ext cx="3090672" cy="868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0" y="1783080"/>
            <a:ext cx="658368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18120" y="1801368"/>
            <a:ext cx="56692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2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8531352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the moat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827264" y="272491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65592" y="267004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replenishment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7827264" y="3236976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65592" y="3182112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Human-approved action-taking AI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7827264" y="374904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65592" y="3694176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central purchasing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7827264" y="4261104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65592" y="4206240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PSP &amp; accounting reconciliation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7827264" y="477316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65592" y="4718304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/ capacity optimization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7827264" y="52852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65592" y="5230368"/>
            <a:ext cx="221284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3D2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ecosystem integrations</a:t>
            </a:r>
            <a:endParaRPr lang="en-US" sz="89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0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600200"/>
            <a:ext cx="4572000" cy="45720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600200"/>
            <a:ext cx="4572000" cy="4572000"/>
          </a:xfrm>
          <a:prstGeom prst="ellipse">
            <a:avLst/>
          </a:prstGeom>
          <a:solidFill>
            <a:srgbClr val="1E0B3A">
              <a:alpha val="35000"/>
            </a:srgbClr>
          </a:solidFill>
          <a:ln w="12700">
            <a:solidFill>
              <a:srgbClr val="1E0B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4023360"/>
            <a:ext cx="4251960" cy="4251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023360"/>
            <a:ext cx="4251960" cy="4251960"/>
          </a:xfrm>
          <a:prstGeom prst="ellipse">
            <a:avLst/>
          </a:prstGeom>
          <a:solidFill>
            <a:srgbClr val="1E0B3A">
              <a:alpha val="30000"/>
            </a:srgbClr>
          </a:solidFill>
          <a:ln w="12700">
            <a:solidFill>
              <a:srgbClr val="1E0B3A">
                <a:alpha val="0"/>
              </a:srgbClr>
            </a:solidFill>
            <a:prstDash val="solid"/>
          </a:ln>
        </p:spPr>
      </p:sp>
      <p:pic>
        <p:nvPicPr>
          <p:cNvPr id="6" name="Image 0" descr="C:\myProjects\supplify_erp\apps\web\static\brand\supplif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475488"/>
            <a:ext cx="1069848" cy="10698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Let’s put one connected operating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under your F&amp;B supply.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179576" y="3108960"/>
            <a:ext cx="2075688" cy="960120"/>
          </a:xfrm>
          <a:prstGeom prst="roundRect">
            <a:avLst/>
          </a:prstGeom>
          <a:solidFill>
            <a:srgbClr val="34204F"/>
          </a:solidFill>
          <a:ln w="12700">
            <a:solidFill>
              <a:srgbClr val="4B3267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98448" y="3273552"/>
            <a:ext cx="18379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3611880"/>
            <a:ext cx="18379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75888" y="3108960"/>
            <a:ext cx="2075688" cy="960120"/>
          </a:xfrm>
          <a:prstGeom prst="roundRect">
            <a:avLst/>
          </a:prstGeom>
          <a:solidFill>
            <a:srgbClr val="34204F"/>
          </a:solidFill>
          <a:ln w="12700">
            <a:solidFill>
              <a:srgbClr val="4B3267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794760" y="3273552"/>
            <a:ext cx="18379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3794760" y="3611880"/>
            <a:ext cx="18379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3108960"/>
            <a:ext cx="2075688" cy="960120"/>
          </a:xfrm>
          <a:prstGeom prst="roundRect">
            <a:avLst/>
          </a:prstGeom>
          <a:solidFill>
            <a:srgbClr val="34204F"/>
          </a:solidFill>
          <a:ln w="12700">
            <a:solidFill>
              <a:srgbClr val="4B3267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91072" y="3273552"/>
            <a:ext cx="18379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WAREHOUSES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6291072" y="3611880"/>
            <a:ext cx="18379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68512" y="3108960"/>
            <a:ext cx="2075688" cy="960120"/>
          </a:xfrm>
          <a:prstGeom prst="roundRect">
            <a:avLst/>
          </a:prstGeom>
          <a:solidFill>
            <a:srgbClr val="34204F"/>
          </a:solidFill>
          <a:ln w="12700">
            <a:solidFill>
              <a:srgbClr val="4B3267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787384" y="3273552"/>
            <a:ext cx="18379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</a:t>
            </a:r>
            <a:endParaRPr lang="en-US" sz="860" dirty="0"/>
          </a:p>
        </p:txBody>
      </p:sp>
      <p:sp>
        <p:nvSpPr>
          <p:cNvPr id="19" name="Text 16"/>
          <p:cNvSpPr txBox="1"/>
          <p:nvPr/>
        </p:nvSpPr>
        <p:spPr>
          <a:xfrm>
            <a:off x="8787384" y="3611880"/>
            <a:ext cx="18379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984248" y="4343400"/>
            <a:ext cx="822045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SOURCE.  ORDER.  FULFILL.  DELIVER.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246120" y="4892040"/>
            <a:ext cx="5669280" cy="65836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16200000">
              <a:srgbClr val="1E0B3A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383280" y="5047488"/>
            <a:ext cx="53949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0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 walk a live pilot journey together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138928" y="6172200"/>
            <a:ext cx="19202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spc="24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Supplify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Supplify — The connected operating platform for F&amp;B procurement &amp; supply</dc:title>
  <dc:subject>Stakeholder product and platform overview</dc:subject>
  <dc:creator>Supplify</dc:creator>
  <cp:lastModifiedBy>Supplify</cp:lastModifiedBy>
  <cp:revision>1</cp:revision>
  <dcterms:created xsi:type="dcterms:W3CDTF">2026-09-30T11:39:39Z</dcterms:created>
  <dcterms:modified xsi:type="dcterms:W3CDTF">2026-09-30T11:39:39Z</dcterms:modified>
</cp:coreProperties>
</file>