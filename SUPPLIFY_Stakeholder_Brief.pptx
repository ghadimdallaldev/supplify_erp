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pain, then the category. Supplify is not a catalog with an inbox. It is the shared operating record for an F&amp;B order.
Do not claim customers, revenue, or ROI. The product is ready to walk. A pilot is the proof.
If they ask “marketplace or ERP?”: both, in sequence. Discovery is the front door. Pricing, fulfillment, delivery, receiving, and finance are why the door is worth opening.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Stay on workflow, not market size. The cost is not “they lack software.” The cost is that one commercial event becomes several unofficial records.
Discovery, terms, execution, and close are the four places a stakeholder will recognize their own week. Do not invent hours saved or error rates.
Transition: Supplify does not add a fifth tool. It keeps those four stages on one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category contrast, not a named competitor. Do not cite other vendors.
The line to land: a marketplace is paid for the introduction. Supplify is valuable because the order still has an owner after checkout—price, warehouse, driver, receiver, invoice.
LEARN means the accepted order feeds inventory, payables, and reporting. It does not mean autonomous replenishment. That is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one order, not two products. Point at the restaurant dashboard as the buyer’s control layer, then the supplier command center as the same order turned into today’s work.
Say out loud that the screens are seeded demo data. Numbers on screen are illustrative.
Nuance if asked: a new basket resolves to one compatible supplier tenant and warehouse. Full central purchasing across every branch is not complete. Public menus and public catalogs exist; they are channels around this B2B core, not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trust slide. Land the inequality slowly: delivered, received, invoiced, and paid are different events. Invoices follow accepted quantities.
Pricing: catalog, then relationship price, then a committed quote. The server rechecks at checkout. After that, the line is history.
If they ask about AI: current intelligence calculates and explains inside the user’s permissions. Action-taking AI is roadmap. Do not demo it as an agent that buys.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Prices are the current configured public catalog, after a 30-day trial.
Restaurants: Growth $49 / 1 branch, Intelligence $149 / 3 branches, Scale $349 / multi-branch.
Suppliers: Growth $149 / 50 active ordering customer locations a month, Scale $349 / 200. Scale can add location, branch, and warehouse capacity.
Annual base price is monthly times ten. Say the billing truth in the same breath as the price: the product can record a subscription; live recurring payment-provider charging is external production work, not something to promise in a pilot.
Do not pick a “best plan” for them on this slide. Ask how many branches or active customer locations they run, then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a choice, not a feature recap. Ask which room they want to walk first: restaurant control, supplier execution, the commercial model, or a pilot on one real order.
The ask is a live journey—one order from price to proof to invoice—not a second presentation.
Hold the line on evidence. Implemented means it is in the product and can be shown. It is not a claim of live customers, production billing, or an AI that acts.
Leave them with four verbs: source, order, fulfill, deliver.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0B3A"/>
        </a:solidFill>
      </p:bgPr>
    </p:bg>
    <p:spTree>
      <p:nvGrpSpPr>
        <p:cNvPr id="1" name=""/>
        <p:cNvGrpSpPr/>
        <p:nvPr/>
      </p:nvGrpSpPr>
      <p:grpSpPr>
        <a:xfrm>
          <a:off x="0" y="0"/>
          <a:ext cx="0" cy="0"/>
          <a:chOff x="0" y="0"/>
          <a:chExt cx="0" cy="0"/>
        </a:xfrm>
      </p:grpSpPr>
      <p:sp>
        <p:nvSpPr>
          <p:cNvPr id="2" name="Shape 0"/>
          <p:cNvSpPr/>
          <p:nvPr/>
        </p:nvSpPr>
        <p:spPr>
          <a:xfrm>
            <a:off x="8549640" y="-2148840"/>
            <a:ext cx="5943600" cy="5943600"/>
          </a:xfrm>
          <a:prstGeom prst="ellipse">
            <a:avLst/>
          </a:prstGeom>
          <a:solidFill>
            <a:srgbClr val="7C3AED"/>
          </a:solidFill>
          <a:ln w="12700">
            <a:solidFill>
              <a:srgbClr val="7C3AED"/>
            </a:solidFill>
            <a:prstDash val="solid"/>
          </a:ln>
        </p:spPr>
      </p:sp>
      <p:sp>
        <p:nvSpPr>
          <p:cNvPr id="3" name="Shape 1"/>
          <p:cNvSpPr/>
          <p:nvPr/>
        </p:nvSpPr>
        <p:spPr>
          <a:xfrm>
            <a:off x="10195560" y="4892040"/>
            <a:ext cx="2880360" cy="2880360"/>
          </a:xfrm>
          <a:prstGeom prst="ellipse">
            <a:avLst/>
          </a:prstGeom>
          <a:solidFill>
            <a:srgbClr val="0F766E"/>
          </a:solidFill>
          <a:ln w="12700">
            <a:solidFill>
              <a:srgbClr val="0F766E"/>
            </a:solidFill>
            <a:prstDash val="solid"/>
          </a:ln>
        </p:spPr>
      </p:sp>
      <p:sp>
        <p:nvSpPr>
          <p:cNvPr id="4" name="Shape 2"/>
          <p:cNvSpPr/>
          <p:nvPr/>
        </p:nvSpPr>
        <p:spPr>
          <a:xfrm>
            <a:off x="530352" y="365760"/>
            <a:ext cx="475488" cy="475488"/>
          </a:xfrm>
          <a:prstGeom prst="roundRect">
            <a:avLst>
              <a:gd name="adj" fmla="val 23077"/>
            </a:avLst>
          </a:prstGeom>
          <a:solidFill>
            <a:srgbClr val="FFFFFF"/>
          </a:solidFill>
          <a:ln w="12700">
            <a:solidFill>
              <a:srgbClr val="FFFFFF"/>
            </a:solidFill>
            <a:prstDash val="solid"/>
          </a:ln>
        </p:spPr>
      </p:sp>
      <p:pic>
        <p:nvPicPr>
          <p:cNvPr id="5" name="Image 0" descr="C:\myProjects\supplify_erp\apps\web\static\brand\supplify-logo.png">    </p:cNvPr>
          <p:cNvPicPr>
            <a:picLocks noChangeAspect="1"/>
          </p:cNvPicPr>
          <p:nvPr/>
        </p:nvPicPr>
        <p:blipFill>
          <a:blip r:embed="rId1"/>
          <a:stretch>
            <a:fillRect/>
          </a:stretch>
        </p:blipFill>
        <p:spPr>
          <a:xfrm>
            <a:off x="585216" y="420624"/>
            <a:ext cx="365760" cy="365760"/>
          </a:xfrm>
          <a:prstGeom prst="rect">
            <a:avLst/>
          </a:prstGeom>
        </p:spPr>
      </p:pic>
      <p:sp>
        <p:nvSpPr>
          <p:cNvPr id="6" name="Text 3"/>
          <p:cNvSpPr txBox="1"/>
          <p:nvPr/>
        </p:nvSpPr>
        <p:spPr>
          <a:xfrm>
            <a:off x="1133856" y="438912"/>
            <a:ext cx="2377440" cy="347472"/>
          </a:xfrm>
          <a:prstGeom prst="rect">
            <a:avLst/>
          </a:prstGeom>
          <a:noFill/>
          <a:ln/>
        </p:spPr>
        <p:txBody>
          <a:bodyPr wrap="square" lIns="0" tIns="0" rIns="0" bIns="0" rtlCol="0" anchor="ctr"/>
          <a:lstStyle/>
          <a:p>
            <a:pPr indent="0" marL="0">
              <a:buNone/>
            </a:pPr>
            <a:r>
              <a:rPr lang="en-US" sz="1600" b="1" spc="180" kern="0" dirty="0">
                <a:solidFill>
                  <a:srgbClr val="FFFFFF"/>
                </a:solidFill>
                <a:latin typeface="Calibri" pitchFamily="34" charset="0"/>
                <a:ea typeface="Calibri" pitchFamily="34" charset="-122"/>
                <a:cs typeface="Calibri" pitchFamily="34" charset="-120"/>
              </a:rPr>
              <a:t>SUPPLIFY</a:t>
            </a:r>
            <a:endParaRPr lang="en-US" sz="1600" dirty="0"/>
          </a:p>
        </p:txBody>
      </p:sp>
      <p:sp>
        <p:nvSpPr>
          <p:cNvPr id="7" name="Shape 4"/>
          <p:cNvSpPr/>
          <p:nvPr/>
        </p:nvSpPr>
        <p:spPr>
          <a:xfrm>
            <a:off x="9528048" y="420624"/>
            <a:ext cx="2084832" cy="347472"/>
          </a:xfrm>
          <a:prstGeom prst="roundRect">
            <a:avLst>
              <a:gd name="adj" fmla="val 31579"/>
            </a:avLst>
          </a:prstGeom>
          <a:solidFill>
            <a:srgbClr val="3B2463"/>
          </a:solidFill>
          <a:ln w="12700">
            <a:solidFill>
              <a:srgbClr val="3B2463"/>
            </a:solidFill>
            <a:prstDash val="solid"/>
          </a:ln>
        </p:spPr>
      </p:sp>
      <p:sp>
        <p:nvSpPr>
          <p:cNvPr id="8" name="Text 5"/>
          <p:cNvSpPr txBox="1"/>
          <p:nvPr/>
        </p:nvSpPr>
        <p:spPr>
          <a:xfrm>
            <a:off x="9528048" y="420624"/>
            <a:ext cx="2084832" cy="347472"/>
          </a:xfrm>
          <a:prstGeom prst="rect">
            <a:avLst/>
          </a:prstGeom>
          <a:noFill/>
          <a:ln/>
        </p:spPr>
        <p:txBody>
          <a:bodyPr wrap="square" lIns="0" tIns="0" rIns="0" bIns="0" rtlCol="0" anchor="ctr"/>
          <a:lstStyle/>
          <a:p>
            <a:pPr algn="ctr" indent="0" marL="0">
              <a:buNone/>
            </a:pPr>
            <a:r>
              <a:rPr lang="en-US" sz="1100" b="1" spc="110" kern="0" dirty="0">
                <a:solidFill>
                  <a:srgbClr val="C4B5FD"/>
                </a:solidFill>
                <a:latin typeface="Calibri" pitchFamily="34" charset="0"/>
                <a:ea typeface="Calibri" pitchFamily="34" charset="-122"/>
                <a:cs typeface="Calibri" pitchFamily="34" charset="-120"/>
              </a:rPr>
              <a:t>STAKEHOLDER BRIEF</a:t>
            </a:r>
            <a:endParaRPr lang="en-US" sz="1100" dirty="0"/>
          </a:p>
        </p:txBody>
      </p:sp>
      <p:sp>
        <p:nvSpPr>
          <p:cNvPr id="9" name="Text 6"/>
          <p:cNvSpPr txBox="1"/>
          <p:nvPr/>
        </p:nvSpPr>
        <p:spPr>
          <a:xfrm>
            <a:off x="530352" y="1572768"/>
            <a:ext cx="7955280" cy="155448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Stop running F&amp;B supply</a:t>
            </a:r>
            <a:endParaRPr lang="en-US" sz="3400" dirty="0"/>
          </a:p>
          <a:p>
            <a:pPr indent="0" marL="0">
              <a:buNone/>
            </a:pPr>
            <a:r>
              <a:rPr lang="en-US" sz="3400" b="1" dirty="0">
                <a:solidFill>
                  <a:srgbClr val="FFFFFF"/>
                </a:solidFill>
                <a:latin typeface="Calibri" pitchFamily="34" charset="0"/>
                <a:ea typeface="Calibri" pitchFamily="34" charset="-122"/>
                <a:cs typeface="Calibri" pitchFamily="34" charset="-120"/>
              </a:rPr>
              <a:t>across chats, sheets, and guesswork.</a:t>
            </a:r>
            <a:endParaRPr lang="en-US" sz="3400" dirty="0"/>
          </a:p>
        </p:txBody>
      </p:sp>
      <p:sp>
        <p:nvSpPr>
          <p:cNvPr id="10" name="Text 7"/>
          <p:cNvSpPr txBox="1"/>
          <p:nvPr/>
        </p:nvSpPr>
        <p:spPr>
          <a:xfrm>
            <a:off x="530352" y="3310128"/>
            <a:ext cx="7452360" cy="713232"/>
          </a:xfrm>
          <a:prstGeom prst="rect">
            <a:avLst/>
          </a:prstGeom>
          <a:noFill/>
          <a:ln/>
        </p:spPr>
        <p:txBody>
          <a:bodyPr wrap="square" lIns="0" tIns="0" rIns="0" bIns="0" rtlCol="0" anchor="t"/>
          <a:lstStyle/>
          <a:p>
            <a:pPr indent="0" marL="0">
              <a:buNone/>
            </a:pPr>
            <a:r>
              <a:rPr lang="en-US" sz="1600" dirty="0">
                <a:solidFill>
                  <a:srgbClr val="DDD6FE"/>
                </a:solidFill>
                <a:latin typeface="Calibri" pitchFamily="34" charset="0"/>
                <a:ea typeface="Calibri" pitchFamily="34" charset="-122"/>
                <a:cs typeface="Calibri" pitchFamily="34" charset="-120"/>
              </a:rPr>
              <a:t>Supplify is the operating platform for procurement and supply. One order, from the price you agree to the invoice you pay.</a:t>
            </a:r>
            <a:endParaRPr lang="en-US" sz="1600" dirty="0"/>
          </a:p>
        </p:txBody>
      </p:sp>
      <p:sp>
        <p:nvSpPr>
          <p:cNvPr id="11" name="Shape 8"/>
          <p:cNvSpPr/>
          <p:nvPr/>
        </p:nvSpPr>
        <p:spPr>
          <a:xfrm>
            <a:off x="530352" y="4224528"/>
            <a:ext cx="1060704" cy="365760"/>
          </a:xfrm>
          <a:prstGeom prst="roundRect">
            <a:avLst>
              <a:gd name="adj" fmla="val 30000"/>
            </a:avLst>
          </a:prstGeom>
          <a:solidFill>
            <a:srgbClr val="3B2463"/>
          </a:solidFill>
          <a:ln w="12700">
            <a:solidFill>
              <a:srgbClr val="3B2463"/>
            </a:solidFill>
            <a:prstDash val="solid"/>
          </a:ln>
        </p:spPr>
      </p:sp>
      <p:sp>
        <p:nvSpPr>
          <p:cNvPr id="12" name="Text 9"/>
          <p:cNvSpPr txBox="1"/>
          <p:nvPr/>
        </p:nvSpPr>
        <p:spPr>
          <a:xfrm>
            <a:off x="530352" y="4224528"/>
            <a:ext cx="1060704" cy="365760"/>
          </a:xfrm>
          <a:prstGeom prst="rect">
            <a:avLst/>
          </a:prstGeom>
          <a:noFill/>
          <a:ln/>
        </p:spPr>
        <p:txBody>
          <a:bodyPr wrap="square" lIns="0" tIns="0" rIns="0" bIns="0" rtlCol="0" anchor="ctr"/>
          <a:lstStyle/>
          <a:p>
            <a:pPr algn="ctr" indent="0" marL="0">
              <a:buNone/>
            </a:pPr>
            <a:r>
              <a:rPr lang="en-US" sz="1200" b="1" spc="60" kern="0" dirty="0">
                <a:solidFill>
                  <a:srgbClr val="FFFFFF"/>
                </a:solidFill>
                <a:latin typeface="Calibri" pitchFamily="34" charset="0"/>
                <a:ea typeface="Calibri" pitchFamily="34" charset="-122"/>
                <a:cs typeface="Calibri" pitchFamily="34" charset="-120"/>
              </a:rPr>
              <a:t>SOURCE</a:t>
            </a:r>
            <a:endParaRPr lang="en-US" sz="1200" dirty="0"/>
          </a:p>
        </p:txBody>
      </p:sp>
      <p:sp>
        <p:nvSpPr>
          <p:cNvPr id="13" name="Text 10"/>
          <p:cNvSpPr txBox="1"/>
          <p:nvPr/>
        </p:nvSpPr>
        <p:spPr>
          <a:xfrm>
            <a:off x="1591056" y="4224528"/>
            <a:ext cx="256032" cy="365760"/>
          </a:xfrm>
          <a:prstGeom prst="rect">
            <a:avLst/>
          </a:prstGeom>
          <a:noFill/>
          <a:ln/>
        </p:spPr>
        <p:txBody>
          <a:bodyPr wrap="square" lIns="0" tIns="0" rIns="0" bIns="0" rtlCol="0" anchor="ctr"/>
          <a:lstStyle/>
          <a:p>
            <a:pPr algn="ctr" indent="0" marL="0">
              <a:buNone/>
            </a:pPr>
            <a:r>
              <a:rPr lang="en-US" sz="1400" dirty="0">
                <a:solidFill>
                  <a:srgbClr val="A78BFA"/>
                </a:solidFill>
                <a:latin typeface="Calibri" pitchFamily="34" charset="0"/>
                <a:ea typeface="Calibri" pitchFamily="34" charset="-122"/>
                <a:cs typeface="Calibri" pitchFamily="34" charset="-120"/>
              </a:rPr>
              <a:t>→</a:t>
            </a:r>
            <a:endParaRPr lang="en-US" sz="1400" dirty="0"/>
          </a:p>
        </p:txBody>
      </p:sp>
      <p:sp>
        <p:nvSpPr>
          <p:cNvPr id="14" name="Shape 11"/>
          <p:cNvSpPr/>
          <p:nvPr/>
        </p:nvSpPr>
        <p:spPr>
          <a:xfrm>
            <a:off x="1847088" y="4224528"/>
            <a:ext cx="1060704" cy="365760"/>
          </a:xfrm>
          <a:prstGeom prst="roundRect">
            <a:avLst>
              <a:gd name="adj" fmla="val 30000"/>
            </a:avLst>
          </a:prstGeom>
          <a:solidFill>
            <a:srgbClr val="3B2463"/>
          </a:solidFill>
          <a:ln w="12700">
            <a:solidFill>
              <a:srgbClr val="3B2463"/>
            </a:solidFill>
            <a:prstDash val="solid"/>
          </a:ln>
        </p:spPr>
      </p:sp>
      <p:sp>
        <p:nvSpPr>
          <p:cNvPr id="15" name="Text 12"/>
          <p:cNvSpPr txBox="1"/>
          <p:nvPr/>
        </p:nvSpPr>
        <p:spPr>
          <a:xfrm>
            <a:off x="1847088" y="4224528"/>
            <a:ext cx="1060704" cy="365760"/>
          </a:xfrm>
          <a:prstGeom prst="rect">
            <a:avLst/>
          </a:prstGeom>
          <a:noFill/>
          <a:ln/>
        </p:spPr>
        <p:txBody>
          <a:bodyPr wrap="square" lIns="0" tIns="0" rIns="0" bIns="0" rtlCol="0" anchor="ctr"/>
          <a:lstStyle/>
          <a:p>
            <a:pPr algn="ctr" indent="0" marL="0">
              <a:buNone/>
            </a:pPr>
            <a:r>
              <a:rPr lang="en-US" sz="1200" b="1" spc="60" kern="0" dirty="0">
                <a:solidFill>
                  <a:srgbClr val="FFFFFF"/>
                </a:solidFill>
                <a:latin typeface="Calibri" pitchFamily="34" charset="0"/>
                <a:ea typeface="Calibri" pitchFamily="34" charset="-122"/>
                <a:cs typeface="Calibri" pitchFamily="34" charset="-120"/>
              </a:rPr>
              <a:t>ORDER</a:t>
            </a:r>
            <a:endParaRPr lang="en-US" sz="1200" dirty="0"/>
          </a:p>
        </p:txBody>
      </p:sp>
      <p:sp>
        <p:nvSpPr>
          <p:cNvPr id="16" name="Text 13"/>
          <p:cNvSpPr txBox="1"/>
          <p:nvPr/>
        </p:nvSpPr>
        <p:spPr>
          <a:xfrm>
            <a:off x="2907792" y="4224528"/>
            <a:ext cx="256032" cy="365760"/>
          </a:xfrm>
          <a:prstGeom prst="rect">
            <a:avLst/>
          </a:prstGeom>
          <a:noFill/>
          <a:ln/>
        </p:spPr>
        <p:txBody>
          <a:bodyPr wrap="square" lIns="0" tIns="0" rIns="0" bIns="0" rtlCol="0" anchor="ctr"/>
          <a:lstStyle/>
          <a:p>
            <a:pPr algn="ctr" indent="0" marL="0">
              <a:buNone/>
            </a:pPr>
            <a:r>
              <a:rPr lang="en-US" sz="1400" dirty="0">
                <a:solidFill>
                  <a:srgbClr val="A78BFA"/>
                </a:solidFill>
                <a:latin typeface="Calibri" pitchFamily="34" charset="0"/>
                <a:ea typeface="Calibri" pitchFamily="34" charset="-122"/>
                <a:cs typeface="Calibri" pitchFamily="34" charset="-120"/>
              </a:rPr>
              <a:t>→</a:t>
            </a:r>
            <a:endParaRPr lang="en-US" sz="1400" dirty="0"/>
          </a:p>
        </p:txBody>
      </p:sp>
      <p:sp>
        <p:nvSpPr>
          <p:cNvPr id="17" name="Shape 14"/>
          <p:cNvSpPr/>
          <p:nvPr/>
        </p:nvSpPr>
        <p:spPr>
          <a:xfrm>
            <a:off x="3163824" y="4224528"/>
            <a:ext cx="1060704" cy="365760"/>
          </a:xfrm>
          <a:prstGeom prst="roundRect">
            <a:avLst>
              <a:gd name="adj" fmla="val 30000"/>
            </a:avLst>
          </a:prstGeom>
          <a:solidFill>
            <a:srgbClr val="3B2463"/>
          </a:solidFill>
          <a:ln w="12700">
            <a:solidFill>
              <a:srgbClr val="3B2463"/>
            </a:solidFill>
            <a:prstDash val="solid"/>
          </a:ln>
        </p:spPr>
      </p:sp>
      <p:sp>
        <p:nvSpPr>
          <p:cNvPr id="18" name="Text 15"/>
          <p:cNvSpPr txBox="1"/>
          <p:nvPr/>
        </p:nvSpPr>
        <p:spPr>
          <a:xfrm>
            <a:off x="3163824" y="4224528"/>
            <a:ext cx="1060704" cy="365760"/>
          </a:xfrm>
          <a:prstGeom prst="rect">
            <a:avLst/>
          </a:prstGeom>
          <a:noFill/>
          <a:ln/>
        </p:spPr>
        <p:txBody>
          <a:bodyPr wrap="square" lIns="0" tIns="0" rIns="0" bIns="0" rtlCol="0" anchor="ctr"/>
          <a:lstStyle/>
          <a:p>
            <a:pPr algn="ctr" indent="0" marL="0">
              <a:buNone/>
            </a:pPr>
            <a:r>
              <a:rPr lang="en-US" sz="1200" b="1" spc="60" kern="0" dirty="0">
                <a:solidFill>
                  <a:srgbClr val="FFFFFF"/>
                </a:solidFill>
                <a:latin typeface="Calibri" pitchFamily="34" charset="0"/>
                <a:ea typeface="Calibri" pitchFamily="34" charset="-122"/>
                <a:cs typeface="Calibri" pitchFamily="34" charset="-120"/>
              </a:rPr>
              <a:t>FULFILL</a:t>
            </a:r>
            <a:endParaRPr lang="en-US" sz="1200" dirty="0"/>
          </a:p>
        </p:txBody>
      </p:sp>
      <p:sp>
        <p:nvSpPr>
          <p:cNvPr id="19" name="Text 16"/>
          <p:cNvSpPr txBox="1"/>
          <p:nvPr/>
        </p:nvSpPr>
        <p:spPr>
          <a:xfrm>
            <a:off x="4224528" y="4224528"/>
            <a:ext cx="256032" cy="365760"/>
          </a:xfrm>
          <a:prstGeom prst="rect">
            <a:avLst/>
          </a:prstGeom>
          <a:noFill/>
          <a:ln/>
        </p:spPr>
        <p:txBody>
          <a:bodyPr wrap="square" lIns="0" tIns="0" rIns="0" bIns="0" rtlCol="0" anchor="ctr"/>
          <a:lstStyle/>
          <a:p>
            <a:pPr algn="ctr" indent="0" marL="0">
              <a:buNone/>
            </a:pPr>
            <a:r>
              <a:rPr lang="en-US" sz="1400" dirty="0">
                <a:solidFill>
                  <a:srgbClr val="A78BFA"/>
                </a:solidFill>
                <a:latin typeface="Calibri" pitchFamily="34" charset="0"/>
                <a:ea typeface="Calibri" pitchFamily="34" charset="-122"/>
                <a:cs typeface="Calibri" pitchFamily="34" charset="-120"/>
              </a:rPr>
              <a:t>→</a:t>
            </a:r>
            <a:endParaRPr lang="en-US" sz="1400" dirty="0"/>
          </a:p>
        </p:txBody>
      </p:sp>
      <p:sp>
        <p:nvSpPr>
          <p:cNvPr id="20" name="Shape 17"/>
          <p:cNvSpPr/>
          <p:nvPr/>
        </p:nvSpPr>
        <p:spPr>
          <a:xfrm>
            <a:off x="4480560" y="4224528"/>
            <a:ext cx="1060704" cy="365760"/>
          </a:xfrm>
          <a:prstGeom prst="roundRect">
            <a:avLst>
              <a:gd name="adj" fmla="val 30000"/>
            </a:avLst>
          </a:prstGeom>
          <a:solidFill>
            <a:srgbClr val="3B2463"/>
          </a:solidFill>
          <a:ln w="12700">
            <a:solidFill>
              <a:srgbClr val="3B2463"/>
            </a:solidFill>
            <a:prstDash val="solid"/>
          </a:ln>
        </p:spPr>
      </p:sp>
      <p:sp>
        <p:nvSpPr>
          <p:cNvPr id="21" name="Text 18"/>
          <p:cNvSpPr txBox="1"/>
          <p:nvPr/>
        </p:nvSpPr>
        <p:spPr>
          <a:xfrm>
            <a:off x="4480560" y="4224528"/>
            <a:ext cx="1060704" cy="365760"/>
          </a:xfrm>
          <a:prstGeom prst="rect">
            <a:avLst/>
          </a:prstGeom>
          <a:noFill/>
          <a:ln/>
        </p:spPr>
        <p:txBody>
          <a:bodyPr wrap="square" lIns="0" tIns="0" rIns="0" bIns="0" rtlCol="0" anchor="ctr"/>
          <a:lstStyle/>
          <a:p>
            <a:pPr algn="ctr" indent="0" marL="0">
              <a:buNone/>
            </a:pPr>
            <a:r>
              <a:rPr lang="en-US" sz="1200" b="1" spc="60" kern="0" dirty="0">
                <a:solidFill>
                  <a:srgbClr val="FFFFFF"/>
                </a:solidFill>
                <a:latin typeface="Calibri" pitchFamily="34" charset="0"/>
                <a:ea typeface="Calibri" pitchFamily="34" charset="-122"/>
                <a:cs typeface="Calibri" pitchFamily="34" charset="-120"/>
              </a:rPr>
              <a:t>DELIVER</a:t>
            </a:r>
            <a:endParaRPr lang="en-US" sz="1200" dirty="0"/>
          </a:p>
        </p:txBody>
      </p:sp>
      <p:sp>
        <p:nvSpPr>
          <p:cNvPr id="22" name="Text 19"/>
          <p:cNvSpPr txBox="1"/>
          <p:nvPr/>
        </p:nvSpPr>
        <p:spPr>
          <a:xfrm>
            <a:off x="5541264" y="4224528"/>
            <a:ext cx="256032" cy="365760"/>
          </a:xfrm>
          <a:prstGeom prst="rect">
            <a:avLst/>
          </a:prstGeom>
          <a:noFill/>
          <a:ln/>
        </p:spPr>
        <p:txBody>
          <a:bodyPr wrap="square" lIns="0" tIns="0" rIns="0" bIns="0" rtlCol="0" anchor="ctr"/>
          <a:lstStyle/>
          <a:p>
            <a:pPr algn="ctr" indent="0" marL="0">
              <a:buNone/>
            </a:pPr>
            <a:r>
              <a:rPr lang="en-US" sz="1400" dirty="0">
                <a:solidFill>
                  <a:srgbClr val="A78BFA"/>
                </a:solidFill>
                <a:latin typeface="Calibri" pitchFamily="34" charset="0"/>
                <a:ea typeface="Calibri" pitchFamily="34" charset="-122"/>
                <a:cs typeface="Calibri" pitchFamily="34" charset="-120"/>
              </a:rPr>
              <a:t>→</a:t>
            </a:r>
            <a:endParaRPr lang="en-US" sz="1400" dirty="0"/>
          </a:p>
        </p:txBody>
      </p:sp>
      <p:sp>
        <p:nvSpPr>
          <p:cNvPr id="23" name="Shape 20"/>
          <p:cNvSpPr/>
          <p:nvPr/>
        </p:nvSpPr>
        <p:spPr>
          <a:xfrm>
            <a:off x="5797296" y="4224528"/>
            <a:ext cx="1060704" cy="365760"/>
          </a:xfrm>
          <a:prstGeom prst="roundRect">
            <a:avLst>
              <a:gd name="adj" fmla="val 30000"/>
            </a:avLst>
          </a:prstGeom>
          <a:solidFill>
            <a:srgbClr val="3B2463"/>
          </a:solidFill>
          <a:ln w="12700">
            <a:solidFill>
              <a:srgbClr val="3B2463"/>
            </a:solidFill>
            <a:prstDash val="solid"/>
          </a:ln>
        </p:spPr>
      </p:sp>
      <p:sp>
        <p:nvSpPr>
          <p:cNvPr id="24" name="Text 21"/>
          <p:cNvSpPr txBox="1"/>
          <p:nvPr/>
        </p:nvSpPr>
        <p:spPr>
          <a:xfrm>
            <a:off x="5797296" y="4224528"/>
            <a:ext cx="1060704" cy="365760"/>
          </a:xfrm>
          <a:prstGeom prst="rect">
            <a:avLst/>
          </a:prstGeom>
          <a:noFill/>
          <a:ln/>
        </p:spPr>
        <p:txBody>
          <a:bodyPr wrap="square" lIns="0" tIns="0" rIns="0" bIns="0" rtlCol="0" anchor="ctr"/>
          <a:lstStyle/>
          <a:p>
            <a:pPr algn="ctr" indent="0" marL="0">
              <a:buNone/>
            </a:pPr>
            <a:r>
              <a:rPr lang="en-US" sz="1200" b="1" spc="60" kern="0" dirty="0">
                <a:solidFill>
                  <a:srgbClr val="FFFFFF"/>
                </a:solidFill>
                <a:latin typeface="Calibri" pitchFamily="34" charset="0"/>
                <a:ea typeface="Calibri" pitchFamily="34" charset="-122"/>
                <a:cs typeface="Calibri" pitchFamily="34" charset="-120"/>
              </a:rPr>
              <a:t>RECEIVE</a:t>
            </a:r>
            <a:endParaRPr lang="en-US" sz="1200" dirty="0"/>
          </a:p>
        </p:txBody>
      </p:sp>
      <p:sp>
        <p:nvSpPr>
          <p:cNvPr id="25" name="Text 22"/>
          <p:cNvSpPr txBox="1"/>
          <p:nvPr/>
        </p:nvSpPr>
        <p:spPr>
          <a:xfrm>
            <a:off x="6858000" y="4224528"/>
            <a:ext cx="256032" cy="365760"/>
          </a:xfrm>
          <a:prstGeom prst="rect">
            <a:avLst/>
          </a:prstGeom>
          <a:noFill/>
          <a:ln/>
        </p:spPr>
        <p:txBody>
          <a:bodyPr wrap="square" lIns="0" tIns="0" rIns="0" bIns="0" rtlCol="0" anchor="ctr"/>
          <a:lstStyle/>
          <a:p>
            <a:pPr algn="ctr" indent="0" marL="0">
              <a:buNone/>
            </a:pPr>
            <a:r>
              <a:rPr lang="en-US" sz="1400" dirty="0">
                <a:solidFill>
                  <a:srgbClr val="A78BFA"/>
                </a:solidFill>
                <a:latin typeface="Calibri" pitchFamily="34" charset="0"/>
                <a:ea typeface="Calibri" pitchFamily="34" charset="-122"/>
                <a:cs typeface="Calibri" pitchFamily="34" charset="-120"/>
              </a:rPr>
              <a:t>→</a:t>
            </a:r>
            <a:endParaRPr lang="en-US" sz="1400" dirty="0"/>
          </a:p>
        </p:txBody>
      </p:sp>
      <p:sp>
        <p:nvSpPr>
          <p:cNvPr id="26" name="Shape 23"/>
          <p:cNvSpPr/>
          <p:nvPr/>
        </p:nvSpPr>
        <p:spPr>
          <a:xfrm>
            <a:off x="7114032" y="4224528"/>
            <a:ext cx="1060704" cy="365760"/>
          </a:xfrm>
          <a:prstGeom prst="roundRect">
            <a:avLst>
              <a:gd name="adj" fmla="val 30000"/>
            </a:avLst>
          </a:prstGeom>
          <a:solidFill>
            <a:srgbClr val="10B981"/>
          </a:solidFill>
          <a:ln w="12700">
            <a:solidFill>
              <a:srgbClr val="10B981"/>
            </a:solidFill>
            <a:prstDash val="solid"/>
          </a:ln>
        </p:spPr>
      </p:sp>
      <p:sp>
        <p:nvSpPr>
          <p:cNvPr id="27" name="Text 24"/>
          <p:cNvSpPr txBox="1"/>
          <p:nvPr/>
        </p:nvSpPr>
        <p:spPr>
          <a:xfrm>
            <a:off x="7114032" y="4224528"/>
            <a:ext cx="1060704" cy="365760"/>
          </a:xfrm>
          <a:prstGeom prst="rect">
            <a:avLst/>
          </a:prstGeom>
          <a:noFill/>
          <a:ln/>
        </p:spPr>
        <p:txBody>
          <a:bodyPr wrap="square" lIns="0" tIns="0" rIns="0" bIns="0" rtlCol="0" anchor="ctr"/>
          <a:lstStyle/>
          <a:p>
            <a:pPr algn="ctr" indent="0" marL="0">
              <a:buNone/>
            </a:pPr>
            <a:r>
              <a:rPr lang="en-US" sz="1200" b="1" spc="60" kern="0" dirty="0">
                <a:solidFill>
                  <a:srgbClr val="FFFFFF"/>
                </a:solidFill>
                <a:latin typeface="Calibri" pitchFamily="34" charset="0"/>
                <a:ea typeface="Calibri" pitchFamily="34" charset="-122"/>
                <a:cs typeface="Calibri" pitchFamily="34" charset="-120"/>
              </a:rPr>
              <a:t>CONTROL</a:t>
            </a:r>
            <a:endParaRPr lang="en-US" sz="1200" dirty="0"/>
          </a:p>
        </p:txBody>
      </p:sp>
      <p:sp>
        <p:nvSpPr>
          <p:cNvPr id="28" name="Shape 25"/>
          <p:cNvSpPr/>
          <p:nvPr/>
        </p:nvSpPr>
        <p:spPr>
          <a:xfrm>
            <a:off x="530352" y="4828032"/>
            <a:ext cx="7635240" cy="713232"/>
          </a:xfrm>
          <a:prstGeom prst="roundRect">
            <a:avLst>
              <a:gd name="adj" fmla="val 15385"/>
            </a:avLst>
          </a:prstGeom>
          <a:solidFill>
            <a:srgbClr val="2A1848"/>
          </a:solidFill>
          <a:ln w="12700">
            <a:solidFill>
              <a:srgbClr val="2A1848"/>
            </a:solidFill>
            <a:prstDash val="solid"/>
          </a:ln>
        </p:spPr>
      </p:sp>
      <p:sp>
        <p:nvSpPr>
          <p:cNvPr id="29" name="Text 26"/>
          <p:cNvSpPr txBox="1"/>
          <p:nvPr/>
        </p:nvSpPr>
        <p:spPr>
          <a:xfrm>
            <a:off x="749808" y="4828032"/>
            <a:ext cx="7223760" cy="713232"/>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Built for restaurant teams and suppliers who need the work after checkout—not another catalog inbox.</a:t>
            </a:r>
            <a:endParaRPr lang="en-US" sz="1500" dirty="0"/>
          </a:p>
        </p:txBody>
      </p:sp>
      <p:sp>
        <p:nvSpPr>
          <p:cNvPr id="30" name="Text 27"/>
          <p:cNvSpPr txBox="1"/>
          <p:nvPr/>
        </p:nvSpPr>
        <p:spPr>
          <a:xfrm>
            <a:off x="530352" y="6309360"/>
            <a:ext cx="2194560" cy="219456"/>
          </a:xfrm>
          <a:prstGeom prst="rect">
            <a:avLst/>
          </a:prstGeom>
          <a:noFill/>
          <a:ln/>
        </p:spPr>
        <p:txBody>
          <a:bodyPr wrap="square" lIns="0" tIns="0" rIns="0" bIns="0" rtlCol="0" anchor="t"/>
          <a:lstStyle/>
          <a:p>
            <a:pPr indent="0" marL="0">
              <a:buNone/>
            </a:pPr>
            <a:r>
              <a:rPr lang="en-US" sz="1200" dirty="0">
                <a:solidFill>
                  <a:srgbClr val="A78BFA"/>
                </a:solidFill>
                <a:latin typeface="Calibri" pitchFamily="34" charset="0"/>
                <a:ea typeface="Calibri" pitchFamily="34" charset="-122"/>
                <a:cs typeface="Calibri" pitchFamily="34" charset="-120"/>
              </a:rPr>
              <a:t>October 2026</a:t>
            </a:r>
            <a:endParaRPr lang="en-US" sz="1200" dirty="0"/>
          </a:p>
        </p:txBody>
      </p:sp>
      <p:sp>
        <p:nvSpPr>
          <p:cNvPr id="31" name="Text 28"/>
          <p:cNvSpPr txBox="1"/>
          <p:nvPr/>
        </p:nvSpPr>
        <p:spPr>
          <a:xfrm>
            <a:off x="5760720" y="6309360"/>
            <a:ext cx="5852160" cy="219456"/>
          </a:xfrm>
          <a:prstGeom prst="rect">
            <a:avLst/>
          </a:prstGeom>
          <a:noFill/>
          <a:ln/>
        </p:spPr>
        <p:txBody>
          <a:bodyPr wrap="square" lIns="0" tIns="0" rIns="0" bIns="0" rtlCol="0" anchor="t"/>
          <a:lstStyle/>
          <a:p>
            <a:pPr algn="r" indent="0" marL="0">
              <a:buNone/>
            </a:pPr>
            <a:r>
              <a:rPr lang="en-US" sz="1200" dirty="0">
                <a:solidFill>
                  <a:srgbClr val="6EE7B7"/>
                </a:solidFill>
                <a:latin typeface="Calibri" pitchFamily="34" charset="0"/>
                <a:ea typeface="Calibri" pitchFamily="34" charset="-122"/>
                <a:cs typeface="Calibri" pitchFamily="34" charset="-120"/>
              </a:rPr>
              <a:t>Product-ready platform   ·   Pilot-ready conversation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C"/>
        </a:solidFill>
      </p:bgPr>
    </p:bg>
    <p:spTree>
      <p:nvGrpSpPr>
        <p:cNvPr id="1" name=""/>
        <p:cNvGrpSpPr/>
        <p:nvPr/>
      </p:nvGrpSpPr>
      <p:grpSpPr>
        <a:xfrm>
          <a:off x="0" y="0"/>
          <a:ext cx="0" cy="0"/>
          <a:chOff x="0" y="0"/>
          <a:chExt cx="0" cy="0"/>
        </a:xfrm>
      </p:grpSpPr>
      <p:sp>
        <p:nvSpPr>
          <p:cNvPr id="2" name="Text 0"/>
          <p:cNvSpPr txBox="1"/>
          <p:nvPr/>
        </p:nvSpPr>
        <p:spPr>
          <a:xfrm>
            <a:off x="530352" y="292608"/>
            <a:ext cx="7315200" cy="219456"/>
          </a:xfrm>
          <a:prstGeom prst="rect">
            <a:avLst/>
          </a:prstGeom>
          <a:noFill/>
          <a:ln/>
        </p:spPr>
        <p:txBody>
          <a:bodyPr wrap="square" lIns="0" tIns="0" rIns="0" bIns="0" rtlCol="0" anchor="t"/>
          <a:lstStyle/>
          <a:p>
            <a:pPr indent="0" marL="0">
              <a:buNone/>
            </a:pPr>
            <a:r>
              <a:rPr lang="en-US" sz="1200" b="1" spc="160" kern="0" dirty="0">
                <a:solidFill>
                  <a:srgbClr val="7C3AED"/>
                </a:solidFill>
                <a:latin typeface="Calibri" pitchFamily="34" charset="0"/>
                <a:ea typeface="Calibri" pitchFamily="34" charset="-122"/>
                <a:cs typeface="Calibri" pitchFamily="34" charset="-120"/>
              </a:rPr>
              <a:t>THE OPERATING PROBLEM</a:t>
            </a:r>
            <a:endParaRPr lang="en-US" sz="1200" dirty="0"/>
          </a:p>
        </p:txBody>
      </p:sp>
      <p:sp>
        <p:nvSpPr>
          <p:cNvPr id="3" name="Text 1"/>
          <p:cNvSpPr txBox="1"/>
          <p:nvPr/>
        </p:nvSpPr>
        <p:spPr>
          <a:xfrm>
            <a:off x="512064" y="530352"/>
            <a:ext cx="11155680" cy="457200"/>
          </a:xfrm>
          <a:prstGeom prst="rect">
            <a:avLst/>
          </a:prstGeom>
          <a:noFill/>
          <a:ln/>
        </p:spPr>
        <p:txBody>
          <a:bodyPr wrap="square" lIns="0" tIns="0" rIns="0" bIns="0" rtlCol="0" anchor="t"/>
          <a:lstStyle/>
          <a:p>
            <a:pPr indent="0" marL="0">
              <a:buNone/>
            </a:pPr>
            <a:r>
              <a:rPr lang="en-US" sz="3000" b="1" dirty="0">
                <a:solidFill>
                  <a:srgbClr val="1E0B3A"/>
                </a:solidFill>
                <a:latin typeface="Calibri" pitchFamily="34" charset="0"/>
                <a:ea typeface="Calibri" pitchFamily="34" charset="-122"/>
                <a:cs typeface="Calibri" pitchFamily="34" charset="-120"/>
              </a:rPr>
              <a:t>Every order still dies in a group chat.</a:t>
            </a:r>
            <a:endParaRPr lang="en-US" sz="3000" dirty="0"/>
          </a:p>
        </p:txBody>
      </p:sp>
      <p:sp>
        <p:nvSpPr>
          <p:cNvPr id="4" name="Text 2"/>
          <p:cNvSpPr txBox="1"/>
          <p:nvPr/>
        </p:nvSpPr>
        <p:spPr>
          <a:xfrm>
            <a:off x="530352" y="1060704"/>
            <a:ext cx="10515600" cy="292608"/>
          </a:xfrm>
          <a:prstGeom prst="rect">
            <a:avLst/>
          </a:prstGeom>
          <a:noFill/>
          <a:ln/>
        </p:spPr>
        <p:txBody>
          <a:bodyPr wrap="square" lIns="0" tIns="0" rIns="0" bIns="0" rtlCol="0" anchor="t"/>
          <a:lstStyle/>
          <a:p>
            <a:pPr indent="0" marL="0">
              <a:buNone/>
            </a:pPr>
            <a:r>
              <a:rPr lang="en-US" sz="1600" dirty="0">
                <a:solidFill>
                  <a:srgbClr val="5C5670"/>
                </a:solidFill>
                <a:latin typeface="Calibri" pitchFamily="34" charset="0"/>
                <a:ea typeface="Calibri" pitchFamily="34" charset="-122"/>
                <a:cs typeface="Calibri" pitchFamily="34" charset="-120"/>
              </a:rPr>
              <a:t>Buying can start in a catalog. The truth scatters the moment the work begins.</a:t>
            </a:r>
            <a:endParaRPr lang="en-US" sz="1600" dirty="0"/>
          </a:p>
        </p:txBody>
      </p:sp>
      <p:sp>
        <p:nvSpPr>
          <p:cNvPr id="5" name="Shape 3"/>
          <p:cNvSpPr/>
          <p:nvPr/>
        </p:nvSpPr>
        <p:spPr>
          <a:xfrm>
            <a:off x="768096" y="1874520"/>
            <a:ext cx="32004" cy="3246120"/>
          </a:xfrm>
          <a:prstGeom prst="rect">
            <a:avLst/>
          </a:prstGeom>
          <a:solidFill>
            <a:srgbClr val="E4E0F0"/>
          </a:solidFill>
          <a:ln w="12700">
            <a:solidFill>
              <a:srgbClr val="E4E0F0"/>
            </a:solidFill>
            <a:prstDash val="solid"/>
          </a:ln>
        </p:spPr>
      </p:sp>
      <p:sp>
        <p:nvSpPr>
          <p:cNvPr id="6" name="Shape 4"/>
          <p:cNvSpPr/>
          <p:nvPr/>
        </p:nvSpPr>
        <p:spPr>
          <a:xfrm>
            <a:off x="566928" y="1627632"/>
            <a:ext cx="438912" cy="438912"/>
          </a:xfrm>
          <a:prstGeom prst="ellipse">
            <a:avLst/>
          </a:prstGeom>
          <a:solidFill>
            <a:srgbClr val="7C3AED"/>
          </a:solidFill>
          <a:ln w="12700">
            <a:solidFill>
              <a:srgbClr val="7C3AED"/>
            </a:solidFill>
            <a:prstDash val="solid"/>
          </a:ln>
        </p:spPr>
      </p:sp>
      <p:sp>
        <p:nvSpPr>
          <p:cNvPr id="7" name="Text 5"/>
          <p:cNvSpPr txBox="1"/>
          <p:nvPr/>
        </p:nvSpPr>
        <p:spPr>
          <a:xfrm>
            <a:off x="566928" y="1627632"/>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8" name="Text 6"/>
          <p:cNvSpPr txBox="1"/>
          <p:nvPr/>
        </p:nvSpPr>
        <p:spPr>
          <a:xfrm>
            <a:off x="1207008" y="1645920"/>
            <a:ext cx="1965960" cy="402336"/>
          </a:xfrm>
          <a:prstGeom prst="rect">
            <a:avLst/>
          </a:prstGeom>
          <a:noFill/>
          <a:ln/>
        </p:spPr>
        <p:txBody>
          <a:bodyPr wrap="square" lIns="0" tIns="0" rIns="0" bIns="0" rtlCol="0" anchor="ctr"/>
          <a:lstStyle/>
          <a:p>
            <a:pPr indent="0" marL="0">
              <a:buNone/>
            </a:pPr>
            <a:r>
              <a:rPr lang="en-US" sz="1800" b="1" dirty="0">
                <a:solidFill>
                  <a:srgbClr val="1E0B3A"/>
                </a:solidFill>
                <a:latin typeface="Calibri" pitchFamily="34" charset="0"/>
                <a:ea typeface="Calibri" pitchFamily="34" charset="-122"/>
                <a:cs typeface="Calibri" pitchFamily="34" charset="-120"/>
              </a:rPr>
              <a:t>Discovery</a:t>
            </a:r>
            <a:endParaRPr lang="en-US" sz="1800" dirty="0"/>
          </a:p>
        </p:txBody>
      </p:sp>
      <p:sp>
        <p:nvSpPr>
          <p:cNvPr id="9" name="Text 7"/>
          <p:cNvSpPr txBox="1"/>
          <p:nvPr/>
        </p:nvSpPr>
        <p:spPr>
          <a:xfrm>
            <a:off x="3200400" y="1627632"/>
            <a:ext cx="3794760" cy="640080"/>
          </a:xfrm>
          <a:prstGeom prst="rect">
            <a:avLst/>
          </a:prstGeom>
          <a:noFill/>
          <a:ln/>
        </p:spPr>
        <p:txBody>
          <a:bodyPr wrap="square" lIns="0" tIns="0" rIns="0" bIns="0" rtlCol="0" anchor="ctr"/>
          <a:lstStyle/>
          <a:p>
            <a:pPr indent="0" marL="0">
              <a:buNone/>
            </a:pPr>
            <a:r>
              <a:rPr lang="en-US" sz="1500" dirty="0">
                <a:solidFill>
                  <a:srgbClr val="5C5670"/>
                </a:solidFill>
                <a:latin typeface="Calibri" pitchFamily="34" charset="0"/>
                <a:ea typeface="Calibri" pitchFamily="34" charset="-122"/>
                <a:cs typeface="Calibri" pitchFamily="34" charset="-120"/>
              </a:rPr>
              <a:t>Who sells it, what it costs, and whether it is there live in different places.</a:t>
            </a:r>
            <a:endParaRPr lang="en-US" sz="1500" dirty="0"/>
          </a:p>
        </p:txBody>
      </p:sp>
      <p:sp>
        <p:nvSpPr>
          <p:cNvPr id="10" name="Shape 8"/>
          <p:cNvSpPr/>
          <p:nvPr/>
        </p:nvSpPr>
        <p:spPr>
          <a:xfrm>
            <a:off x="566928" y="2706624"/>
            <a:ext cx="438912" cy="438912"/>
          </a:xfrm>
          <a:prstGeom prst="ellipse">
            <a:avLst/>
          </a:prstGeom>
          <a:solidFill>
            <a:srgbClr val="5B21B6"/>
          </a:solidFill>
          <a:ln w="12700">
            <a:solidFill>
              <a:srgbClr val="5B21B6"/>
            </a:solidFill>
            <a:prstDash val="solid"/>
          </a:ln>
        </p:spPr>
      </p:sp>
      <p:sp>
        <p:nvSpPr>
          <p:cNvPr id="11" name="Text 9"/>
          <p:cNvSpPr txBox="1"/>
          <p:nvPr/>
        </p:nvSpPr>
        <p:spPr>
          <a:xfrm>
            <a:off x="566928" y="2706624"/>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2" name="Text 10"/>
          <p:cNvSpPr txBox="1"/>
          <p:nvPr/>
        </p:nvSpPr>
        <p:spPr>
          <a:xfrm>
            <a:off x="1207008" y="2724912"/>
            <a:ext cx="1965960" cy="402336"/>
          </a:xfrm>
          <a:prstGeom prst="rect">
            <a:avLst/>
          </a:prstGeom>
          <a:noFill/>
          <a:ln/>
        </p:spPr>
        <p:txBody>
          <a:bodyPr wrap="square" lIns="0" tIns="0" rIns="0" bIns="0" rtlCol="0" anchor="ctr"/>
          <a:lstStyle/>
          <a:p>
            <a:pPr indent="0" marL="0">
              <a:buNone/>
            </a:pPr>
            <a:r>
              <a:rPr lang="en-US" sz="1800" b="1" dirty="0">
                <a:solidFill>
                  <a:srgbClr val="1E0B3A"/>
                </a:solidFill>
                <a:latin typeface="Calibri" pitchFamily="34" charset="0"/>
                <a:ea typeface="Calibri" pitchFamily="34" charset="-122"/>
                <a:cs typeface="Calibri" pitchFamily="34" charset="-120"/>
              </a:rPr>
              <a:t>Terms</a:t>
            </a:r>
            <a:endParaRPr lang="en-US" sz="1800" dirty="0"/>
          </a:p>
        </p:txBody>
      </p:sp>
      <p:sp>
        <p:nvSpPr>
          <p:cNvPr id="13" name="Text 11"/>
          <p:cNvSpPr txBox="1"/>
          <p:nvPr/>
        </p:nvSpPr>
        <p:spPr>
          <a:xfrm>
            <a:off x="3200400" y="2706624"/>
            <a:ext cx="3794760" cy="640080"/>
          </a:xfrm>
          <a:prstGeom prst="rect">
            <a:avLst/>
          </a:prstGeom>
          <a:noFill/>
          <a:ln/>
        </p:spPr>
        <p:txBody>
          <a:bodyPr wrap="square" lIns="0" tIns="0" rIns="0" bIns="0" rtlCol="0" anchor="ctr"/>
          <a:lstStyle/>
          <a:p>
            <a:pPr indent="0" marL="0">
              <a:buNone/>
            </a:pPr>
            <a:r>
              <a:rPr lang="en-US" sz="1500" dirty="0">
                <a:solidFill>
                  <a:srgbClr val="5C5670"/>
                </a:solidFill>
                <a:latin typeface="Calibri" pitchFamily="34" charset="0"/>
                <a:ea typeface="Calibri" pitchFamily="34" charset="-122"/>
                <a:cs typeface="Calibri" pitchFamily="34" charset="-120"/>
              </a:rPr>
              <a:t>Contract price, quote, promotion, and minimum get reconciled by hand.</a:t>
            </a:r>
            <a:endParaRPr lang="en-US" sz="1500" dirty="0"/>
          </a:p>
        </p:txBody>
      </p:sp>
      <p:sp>
        <p:nvSpPr>
          <p:cNvPr id="14" name="Shape 12"/>
          <p:cNvSpPr/>
          <p:nvPr/>
        </p:nvSpPr>
        <p:spPr>
          <a:xfrm>
            <a:off x="566928" y="3785616"/>
            <a:ext cx="438912" cy="438912"/>
          </a:xfrm>
          <a:prstGeom prst="ellipse">
            <a:avLst/>
          </a:prstGeom>
          <a:solidFill>
            <a:srgbClr val="F59E0B"/>
          </a:solidFill>
          <a:ln w="12700">
            <a:solidFill>
              <a:srgbClr val="F59E0B"/>
            </a:solidFill>
            <a:prstDash val="solid"/>
          </a:ln>
        </p:spPr>
      </p:sp>
      <p:sp>
        <p:nvSpPr>
          <p:cNvPr id="15" name="Text 13"/>
          <p:cNvSpPr txBox="1"/>
          <p:nvPr/>
        </p:nvSpPr>
        <p:spPr>
          <a:xfrm>
            <a:off x="566928" y="3785616"/>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6" name="Text 14"/>
          <p:cNvSpPr txBox="1"/>
          <p:nvPr/>
        </p:nvSpPr>
        <p:spPr>
          <a:xfrm>
            <a:off x="1207008" y="3803904"/>
            <a:ext cx="1965960" cy="402336"/>
          </a:xfrm>
          <a:prstGeom prst="rect">
            <a:avLst/>
          </a:prstGeom>
          <a:noFill/>
          <a:ln/>
        </p:spPr>
        <p:txBody>
          <a:bodyPr wrap="square" lIns="0" tIns="0" rIns="0" bIns="0" rtlCol="0" anchor="ctr"/>
          <a:lstStyle/>
          <a:p>
            <a:pPr indent="0" marL="0">
              <a:buNone/>
            </a:pPr>
            <a:r>
              <a:rPr lang="en-US" sz="1800" b="1" dirty="0">
                <a:solidFill>
                  <a:srgbClr val="1E0B3A"/>
                </a:solidFill>
                <a:latin typeface="Calibri" pitchFamily="34" charset="0"/>
                <a:ea typeface="Calibri" pitchFamily="34" charset="-122"/>
                <a:cs typeface="Calibri" pitchFamily="34" charset="-120"/>
              </a:rPr>
              <a:t>Execution</a:t>
            </a:r>
            <a:endParaRPr lang="en-US" sz="1800" dirty="0"/>
          </a:p>
        </p:txBody>
      </p:sp>
      <p:sp>
        <p:nvSpPr>
          <p:cNvPr id="17" name="Text 15"/>
          <p:cNvSpPr txBox="1"/>
          <p:nvPr/>
        </p:nvSpPr>
        <p:spPr>
          <a:xfrm>
            <a:off x="3200400" y="3785616"/>
            <a:ext cx="3794760" cy="640080"/>
          </a:xfrm>
          <a:prstGeom prst="rect">
            <a:avLst/>
          </a:prstGeom>
          <a:noFill/>
          <a:ln/>
        </p:spPr>
        <p:txBody>
          <a:bodyPr wrap="square" lIns="0" tIns="0" rIns="0" bIns="0" rtlCol="0" anchor="ctr"/>
          <a:lstStyle/>
          <a:p>
            <a:pPr indent="0" marL="0">
              <a:buNone/>
            </a:pPr>
            <a:r>
              <a:rPr lang="en-US" sz="1500" dirty="0">
                <a:solidFill>
                  <a:srgbClr val="5C5670"/>
                </a:solidFill>
                <a:latin typeface="Calibri" pitchFamily="34" charset="0"/>
                <a:ea typeface="Calibri" pitchFamily="34" charset="-122"/>
                <a:cs typeface="Calibri" pitchFamily="34" charset="-120"/>
              </a:rPr>
              <a:t>A thread, a call, and a spreadsheet become the operating system.</a:t>
            </a:r>
            <a:endParaRPr lang="en-US" sz="1500" dirty="0"/>
          </a:p>
        </p:txBody>
      </p:sp>
      <p:sp>
        <p:nvSpPr>
          <p:cNvPr id="18" name="Shape 16"/>
          <p:cNvSpPr/>
          <p:nvPr/>
        </p:nvSpPr>
        <p:spPr>
          <a:xfrm>
            <a:off x="566928" y="4864608"/>
            <a:ext cx="438912" cy="438912"/>
          </a:xfrm>
          <a:prstGeom prst="ellipse">
            <a:avLst/>
          </a:prstGeom>
          <a:solidFill>
            <a:srgbClr val="E11D48"/>
          </a:solidFill>
          <a:ln w="12700">
            <a:solidFill>
              <a:srgbClr val="E11D48"/>
            </a:solidFill>
            <a:prstDash val="solid"/>
          </a:ln>
        </p:spPr>
      </p:sp>
      <p:sp>
        <p:nvSpPr>
          <p:cNvPr id="19" name="Text 17"/>
          <p:cNvSpPr txBox="1"/>
          <p:nvPr/>
        </p:nvSpPr>
        <p:spPr>
          <a:xfrm>
            <a:off x="566928" y="4864608"/>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0" name="Text 18"/>
          <p:cNvSpPr txBox="1"/>
          <p:nvPr/>
        </p:nvSpPr>
        <p:spPr>
          <a:xfrm>
            <a:off x="1207008" y="4882896"/>
            <a:ext cx="1965960" cy="402336"/>
          </a:xfrm>
          <a:prstGeom prst="rect">
            <a:avLst/>
          </a:prstGeom>
          <a:noFill/>
          <a:ln/>
        </p:spPr>
        <p:txBody>
          <a:bodyPr wrap="square" lIns="0" tIns="0" rIns="0" bIns="0" rtlCol="0" anchor="ctr"/>
          <a:lstStyle/>
          <a:p>
            <a:pPr indent="0" marL="0">
              <a:buNone/>
            </a:pPr>
            <a:r>
              <a:rPr lang="en-US" sz="1800" b="1" dirty="0">
                <a:solidFill>
                  <a:srgbClr val="1E0B3A"/>
                </a:solidFill>
                <a:latin typeface="Calibri" pitchFamily="34" charset="0"/>
                <a:ea typeface="Calibri" pitchFamily="34" charset="-122"/>
                <a:cs typeface="Calibri" pitchFamily="34" charset="-120"/>
              </a:rPr>
              <a:t>Close</a:t>
            </a:r>
            <a:endParaRPr lang="en-US" sz="1800" dirty="0"/>
          </a:p>
        </p:txBody>
      </p:sp>
      <p:sp>
        <p:nvSpPr>
          <p:cNvPr id="21" name="Text 19"/>
          <p:cNvSpPr txBox="1"/>
          <p:nvPr/>
        </p:nvSpPr>
        <p:spPr>
          <a:xfrm>
            <a:off x="3200400" y="4864608"/>
            <a:ext cx="3794760" cy="640080"/>
          </a:xfrm>
          <a:prstGeom prst="rect">
            <a:avLst/>
          </a:prstGeom>
          <a:noFill/>
          <a:ln/>
        </p:spPr>
        <p:txBody>
          <a:bodyPr wrap="square" lIns="0" tIns="0" rIns="0" bIns="0" rtlCol="0" anchor="ctr"/>
          <a:lstStyle/>
          <a:p>
            <a:pPr indent="0" marL="0">
              <a:buNone/>
            </a:pPr>
            <a:r>
              <a:rPr lang="en-US" sz="1500" dirty="0">
                <a:solidFill>
                  <a:srgbClr val="5C5670"/>
                </a:solidFill>
                <a:latin typeface="Calibri" pitchFamily="34" charset="0"/>
                <a:ea typeface="Calibri" pitchFamily="34" charset="-122"/>
                <a:cs typeface="Calibri" pitchFamily="34" charset="-120"/>
              </a:rPr>
              <a:t>What shipped, what arrived, what was accepted, and what was invoiced become four stories.</a:t>
            </a:r>
            <a:endParaRPr lang="en-US" sz="1500" dirty="0"/>
          </a:p>
        </p:txBody>
      </p:sp>
      <p:sp>
        <p:nvSpPr>
          <p:cNvPr id="22" name="Shape 20"/>
          <p:cNvSpPr/>
          <p:nvPr/>
        </p:nvSpPr>
        <p:spPr>
          <a:xfrm>
            <a:off x="7360920" y="1572768"/>
            <a:ext cx="4297680" cy="4526280"/>
          </a:xfrm>
          <a:prstGeom prst="roundRect">
            <a:avLst>
              <a:gd name="adj" fmla="val 2553"/>
            </a:avLst>
          </a:prstGeom>
          <a:solidFill>
            <a:srgbClr val="1E0B3A"/>
          </a:solidFill>
          <a:ln w="12700">
            <a:solidFill>
              <a:srgbClr val="1E0B3A"/>
            </a:solidFill>
            <a:prstDash val="solid"/>
          </a:ln>
          <a:effectLst>
            <a:outerShdw sx="100000" sy="100000" kx="0" ky="0" algn="bl" rotWithShape="0" blurRad="203200" dist="50800" dir="16200000">
              <a:srgbClr val="1E0B3A">
                <a:alpha val="10000"/>
              </a:srgbClr>
            </a:outerShdw>
          </a:effectLst>
        </p:spPr>
      </p:sp>
      <p:sp>
        <p:nvSpPr>
          <p:cNvPr id="23" name="Text 21"/>
          <p:cNvSpPr txBox="1"/>
          <p:nvPr/>
        </p:nvSpPr>
        <p:spPr>
          <a:xfrm>
            <a:off x="7680960" y="1874520"/>
            <a:ext cx="3657600" cy="256032"/>
          </a:xfrm>
          <a:prstGeom prst="rect">
            <a:avLst/>
          </a:prstGeom>
          <a:noFill/>
          <a:ln/>
        </p:spPr>
        <p:txBody>
          <a:bodyPr wrap="square" lIns="0" tIns="0" rIns="0" bIns="0" rtlCol="0" anchor="t"/>
          <a:lstStyle/>
          <a:p>
            <a:pPr indent="0" marL="0">
              <a:buNone/>
            </a:pPr>
            <a:r>
              <a:rPr lang="en-US" sz="1200" b="1" spc="140" kern="0" dirty="0">
                <a:solidFill>
                  <a:srgbClr val="A78BFA"/>
                </a:solidFill>
                <a:latin typeface="Calibri" pitchFamily="34" charset="0"/>
                <a:ea typeface="Calibri" pitchFamily="34" charset="-122"/>
                <a:cs typeface="Calibri" pitchFamily="34" charset="-120"/>
              </a:rPr>
              <a:t>THE REAL COST</a:t>
            </a:r>
            <a:endParaRPr lang="en-US" sz="1200" dirty="0"/>
          </a:p>
        </p:txBody>
      </p:sp>
      <p:sp>
        <p:nvSpPr>
          <p:cNvPr id="24" name="Text 22"/>
          <p:cNvSpPr txBox="1"/>
          <p:nvPr/>
        </p:nvSpPr>
        <p:spPr>
          <a:xfrm>
            <a:off x="7680960" y="2331720"/>
            <a:ext cx="3657600" cy="155448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Your team reconstructs yesterday instead of controlling tomorrow.</a:t>
            </a:r>
            <a:endParaRPr lang="en-US" sz="2600" dirty="0"/>
          </a:p>
        </p:txBody>
      </p:sp>
      <p:sp>
        <p:nvSpPr>
          <p:cNvPr id="25" name="Shape 23"/>
          <p:cNvSpPr/>
          <p:nvPr/>
        </p:nvSpPr>
        <p:spPr>
          <a:xfrm>
            <a:off x="7680960" y="5349240"/>
            <a:ext cx="3657600" cy="420624"/>
          </a:xfrm>
          <a:prstGeom prst="roundRect">
            <a:avLst>
              <a:gd name="adj" fmla="val 26087"/>
            </a:avLst>
          </a:prstGeom>
          <a:solidFill>
            <a:srgbClr val="7C3AED"/>
          </a:solidFill>
          <a:ln w="12700">
            <a:solidFill>
              <a:srgbClr val="7C3AED"/>
            </a:solidFill>
            <a:prstDash val="solid"/>
          </a:ln>
        </p:spPr>
      </p:sp>
      <p:sp>
        <p:nvSpPr>
          <p:cNvPr id="26" name="Text 24"/>
          <p:cNvSpPr txBox="1"/>
          <p:nvPr/>
        </p:nvSpPr>
        <p:spPr>
          <a:xfrm>
            <a:off x="7680960" y="5349240"/>
            <a:ext cx="3657600" cy="420624"/>
          </a:xfrm>
          <a:prstGeom prst="rect">
            <a:avLst/>
          </a:prstGeom>
          <a:noFill/>
          <a:ln/>
        </p:spPr>
        <p:txBody>
          <a:bodyPr wrap="square" lIns="0" tIns="0" rIns="0" bIns="0" rtlCol="0" anchor="ct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ONE ORDER  ·  MANY VERSIONS OF TRUTH</a:t>
            </a:r>
            <a:endParaRPr lang="en-US" sz="1100" dirty="0"/>
          </a:p>
        </p:txBody>
      </p:sp>
      <p:sp>
        <p:nvSpPr>
          <p:cNvPr id="27" name="Text 25"/>
          <p:cNvSpPr txBox="1"/>
          <p:nvPr/>
        </p:nvSpPr>
        <p:spPr>
          <a:xfrm>
            <a:off x="530352" y="6528816"/>
            <a:ext cx="5486400" cy="201168"/>
          </a:xfrm>
          <a:prstGeom prst="rect">
            <a:avLst/>
          </a:prstGeom>
          <a:noFill/>
          <a:ln/>
        </p:spPr>
        <p:txBody>
          <a:bodyPr wrap="square" lIns="0" tIns="0" rIns="0" bIns="0" rtlCol="0" anchor="t"/>
          <a:lstStyle/>
          <a:p>
            <a:pPr indent="0" marL="0">
              <a:buNone/>
            </a:pPr>
            <a:r>
              <a:rPr lang="en-US" sz="1100" spc="110" kern="0" dirty="0">
                <a:solidFill>
                  <a:srgbClr val="9A94A8"/>
                </a:solidFill>
                <a:latin typeface="Calibri" pitchFamily="34" charset="0"/>
                <a:ea typeface="Calibri" pitchFamily="34" charset="-122"/>
                <a:cs typeface="Calibri" pitchFamily="34" charset="-120"/>
              </a:rPr>
              <a:t>SUPPLIFY   ·   STAKEHOLDER BRIEF</a:t>
            </a:r>
            <a:endParaRPr lang="en-US" sz="1100" dirty="0"/>
          </a:p>
        </p:txBody>
      </p:sp>
      <p:sp>
        <p:nvSpPr>
          <p:cNvPr id="28" name="Text 26"/>
          <p:cNvSpPr txBox="1"/>
          <p:nvPr/>
        </p:nvSpPr>
        <p:spPr>
          <a:xfrm>
            <a:off x="10881360" y="6528816"/>
            <a:ext cx="777240" cy="201168"/>
          </a:xfrm>
          <a:prstGeom prst="rect">
            <a:avLst/>
          </a:prstGeom>
          <a:noFill/>
          <a:ln/>
        </p:spPr>
        <p:txBody>
          <a:bodyPr wrap="square" lIns="0" tIns="0" rIns="0" bIns="0" rtlCol="0" anchor="t"/>
          <a:lstStyle/>
          <a:p>
            <a:pPr algn="r" indent="0" marL="0">
              <a:buNone/>
            </a:pPr>
            <a:r>
              <a:rPr lang="en-US" sz="1200" b="1" dirty="0">
                <a:solidFill>
                  <a:srgbClr val="7C3AED"/>
                </a:solidFill>
                <a:latin typeface="Calibri" pitchFamily="34" charset="0"/>
                <a:ea typeface="Calibri" pitchFamily="34" charset="-122"/>
                <a:cs typeface="Calibri"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C"/>
        </a:solidFill>
      </p:bgPr>
    </p:bg>
    <p:spTree>
      <p:nvGrpSpPr>
        <p:cNvPr id="1" name=""/>
        <p:cNvGrpSpPr/>
        <p:nvPr/>
      </p:nvGrpSpPr>
      <p:grpSpPr>
        <a:xfrm>
          <a:off x="0" y="0"/>
          <a:ext cx="0" cy="0"/>
          <a:chOff x="0" y="0"/>
          <a:chExt cx="0" cy="0"/>
        </a:xfrm>
      </p:grpSpPr>
      <p:sp>
        <p:nvSpPr>
          <p:cNvPr id="2" name="Text 0"/>
          <p:cNvSpPr txBox="1"/>
          <p:nvPr/>
        </p:nvSpPr>
        <p:spPr>
          <a:xfrm>
            <a:off x="530352" y="292608"/>
            <a:ext cx="7315200" cy="219456"/>
          </a:xfrm>
          <a:prstGeom prst="rect">
            <a:avLst/>
          </a:prstGeom>
          <a:noFill/>
          <a:ln/>
        </p:spPr>
        <p:txBody>
          <a:bodyPr wrap="square" lIns="0" tIns="0" rIns="0" bIns="0" rtlCol="0" anchor="t"/>
          <a:lstStyle/>
          <a:p>
            <a:pPr indent="0" marL="0">
              <a:buNone/>
            </a:pPr>
            <a:r>
              <a:rPr lang="en-US" sz="1200" b="1" spc="160" kern="0" dirty="0">
                <a:solidFill>
                  <a:srgbClr val="7C3AED"/>
                </a:solidFill>
                <a:latin typeface="Calibri" pitchFamily="34" charset="0"/>
                <a:ea typeface="Calibri" pitchFamily="34" charset="-122"/>
                <a:cs typeface="Calibri" pitchFamily="34" charset="-120"/>
              </a:rPr>
              <a:t>WHY THIS WINS</a:t>
            </a:r>
            <a:endParaRPr lang="en-US" sz="1200" dirty="0"/>
          </a:p>
        </p:txBody>
      </p:sp>
      <p:sp>
        <p:nvSpPr>
          <p:cNvPr id="3" name="Text 1"/>
          <p:cNvSpPr txBox="1"/>
          <p:nvPr/>
        </p:nvSpPr>
        <p:spPr>
          <a:xfrm>
            <a:off x="512064" y="530352"/>
            <a:ext cx="11155680" cy="475488"/>
          </a:xfrm>
          <a:prstGeom prst="rect">
            <a:avLst/>
          </a:prstGeom>
          <a:noFill/>
          <a:ln/>
        </p:spPr>
        <p:txBody>
          <a:bodyPr wrap="square" lIns="0" tIns="0" rIns="0" bIns="0" rtlCol="0" anchor="t"/>
          <a:lstStyle/>
          <a:p>
            <a:pPr indent="0" marL="0">
              <a:buNone/>
            </a:pPr>
            <a:r>
              <a:rPr lang="en-US" sz="2800" b="1" dirty="0">
                <a:solidFill>
                  <a:srgbClr val="1E0B3A"/>
                </a:solidFill>
                <a:latin typeface="Calibri" pitchFamily="34" charset="0"/>
                <a:ea typeface="Calibri" pitchFamily="34" charset="-122"/>
                <a:cs typeface="Calibri" pitchFamily="34" charset="-120"/>
              </a:rPr>
              <a:t>Where others stop at “order placed,” Supplify keeps going.</a:t>
            </a:r>
            <a:endParaRPr lang="en-US" sz="2800" dirty="0"/>
          </a:p>
        </p:txBody>
      </p:sp>
      <p:sp>
        <p:nvSpPr>
          <p:cNvPr id="4" name="Text 2"/>
          <p:cNvSpPr txBox="1"/>
          <p:nvPr/>
        </p:nvSpPr>
        <p:spPr>
          <a:xfrm>
            <a:off x="530352" y="1078992"/>
            <a:ext cx="10972800" cy="292608"/>
          </a:xfrm>
          <a:prstGeom prst="rect">
            <a:avLst/>
          </a:prstGeom>
          <a:noFill/>
          <a:ln/>
        </p:spPr>
        <p:txBody>
          <a:bodyPr wrap="square" lIns="0" tIns="0" rIns="0" bIns="0" rtlCol="0" anchor="t"/>
          <a:lstStyle/>
          <a:p>
            <a:pPr indent="0" marL="0">
              <a:buNone/>
            </a:pPr>
            <a:r>
              <a:rPr lang="en-US" sz="1600" dirty="0">
                <a:solidFill>
                  <a:srgbClr val="5C5670"/>
                </a:solidFill>
                <a:latin typeface="Calibri" pitchFamily="34" charset="0"/>
                <a:ea typeface="Calibri" pitchFamily="34" charset="-122"/>
                <a:cs typeface="Calibri" pitchFamily="34" charset="-120"/>
              </a:rPr>
              <a:t>A marketplace introduces two parties. An operating platform keeps the order true after the handshake.</a:t>
            </a:r>
            <a:endParaRPr lang="en-US" sz="1600" dirty="0"/>
          </a:p>
        </p:txBody>
      </p:sp>
      <p:sp>
        <p:nvSpPr>
          <p:cNvPr id="5" name="Shape 3"/>
          <p:cNvSpPr/>
          <p:nvPr/>
        </p:nvSpPr>
        <p:spPr>
          <a:xfrm>
            <a:off x="502920" y="1572768"/>
            <a:ext cx="3794760" cy="4617720"/>
          </a:xfrm>
          <a:prstGeom prst="roundRect">
            <a:avLst>
              <a:gd name="adj" fmla="val 2892"/>
            </a:avLst>
          </a:prstGeom>
          <a:solidFill>
            <a:srgbClr val="FFFFFF"/>
          </a:solidFill>
          <a:ln w="12700">
            <a:solidFill>
              <a:srgbClr val="FFFFFF"/>
            </a:solidFill>
            <a:prstDash val="solid"/>
          </a:ln>
          <a:effectLst>
            <a:outerShdw sx="100000" sy="100000" kx="0" ky="0" algn="bl" rotWithShape="0" blurRad="203200" dist="50800" dir="16200000">
              <a:srgbClr val="1E0B3A">
                <a:alpha val="10000"/>
              </a:srgbClr>
            </a:outerShdw>
          </a:effectLst>
        </p:spPr>
      </p:sp>
      <p:sp>
        <p:nvSpPr>
          <p:cNvPr id="6" name="Shape 4"/>
          <p:cNvSpPr/>
          <p:nvPr/>
        </p:nvSpPr>
        <p:spPr>
          <a:xfrm>
            <a:off x="1051560" y="1810512"/>
            <a:ext cx="2697480" cy="329184"/>
          </a:xfrm>
          <a:prstGeom prst="roundRect">
            <a:avLst>
              <a:gd name="adj" fmla="val 33333"/>
            </a:avLst>
          </a:prstGeom>
          <a:solidFill>
            <a:srgbClr val="E7E5F0"/>
          </a:solidFill>
          <a:ln w="12700">
            <a:solidFill>
              <a:srgbClr val="E7E5F0"/>
            </a:solidFill>
            <a:prstDash val="solid"/>
          </a:ln>
        </p:spPr>
      </p:sp>
      <p:sp>
        <p:nvSpPr>
          <p:cNvPr id="7" name="Text 5"/>
          <p:cNvSpPr txBox="1"/>
          <p:nvPr/>
        </p:nvSpPr>
        <p:spPr>
          <a:xfrm>
            <a:off x="1051560" y="1810512"/>
            <a:ext cx="2697480" cy="329184"/>
          </a:xfrm>
          <a:prstGeom prst="rect">
            <a:avLst/>
          </a:prstGeom>
          <a:noFill/>
          <a:ln/>
        </p:spPr>
        <p:txBody>
          <a:bodyPr wrap="square" lIns="0" tIns="0" rIns="0" bIns="0" rtlCol="0" anchor="ctr"/>
          <a:lstStyle/>
          <a:p>
            <a:pPr algn="ctr" indent="0" marL="0">
              <a:buNone/>
            </a:pPr>
            <a:r>
              <a:rPr lang="en-US" sz="1100" b="1" spc="80" kern="0" dirty="0">
                <a:solidFill>
                  <a:srgbClr val="5C5670"/>
                </a:solidFill>
                <a:latin typeface="Calibri" pitchFamily="34" charset="0"/>
                <a:ea typeface="Calibri" pitchFamily="34" charset="-122"/>
                <a:cs typeface="Calibri" pitchFamily="34" charset="-120"/>
              </a:rPr>
              <a:t>TYPICAL MARKETPLACE</a:t>
            </a:r>
            <a:endParaRPr lang="en-US" sz="1100" dirty="0"/>
          </a:p>
        </p:txBody>
      </p:sp>
      <p:sp>
        <p:nvSpPr>
          <p:cNvPr id="8" name="Shape 6"/>
          <p:cNvSpPr/>
          <p:nvPr/>
        </p:nvSpPr>
        <p:spPr>
          <a:xfrm>
            <a:off x="822960" y="2395728"/>
            <a:ext cx="420624" cy="420624"/>
          </a:xfrm>
          <a:prstGeom prst="ellipse">
            <a:avLst/>
          </a:prstGeom>
          <a:solidFill>
            <a:srgbClr val="D9D6E3"/>
          </a:solidFill>
          <a:ln w="12700">
            <a:solidFill>
              <a:srgbClr val="D9D6E3"/>
            </a:solidFill>
            <a:prstDash val="solid"/>
          </a:ln>
        </p:spPr>
      </p:sp>
      <p:sp>
        <p:nvSpPr>
          <p:cNvPr id="9" name="Text 7"/>
          <p:cNvSpPr txBox="1"/>
          <p:nvPr/>
        </p:nvSpPr>
        <p:spPr>
          <a:xfrm>
            <a:off x="822960" y="2395728"/>
            <a:ext cx="420624" cy="420624"/>
          </a:xfrm>
          <a:prstGeom prst="rect">
            <a:avLst/>
          </a:prstGeom>
          <a:noFill/>
          <a:ln/>
        </p:spPr>
        <p:txBody>
          <a:bodyPr wrap="square" lIns="0" tIns="0" rIns="0" bIns="0" rtlCol="0" anchor="ctr"/>
          <a:lstStyle/>
          <a:p>
            <a:pPr algn="ctr" indent="0" marL="0">
              <a:buNone/>
            </a:pPr>
            <a:r>
              <a:rPr lang="en-US" sz="1400" b="1" dirty="0">
                <a:solidFill>
                  <a:srgbClr val="6B6578"/>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1417320" y="2395728"/>
            <a:ext cx="2468880" cy="237744"/>
          </a:xfrm>
          <a:prstGeom prst="rect">
            <a:avLst/>
          </a:prstGeom>
          <a:noFill/>
          <a:ln/>
        </p:spPr>
        <p:txBody>
          <a:bodyPr wrap="square" lIns="0" tIns="0" rIns="0" bIns="0" rtlCol="0" anchor="t"/>
          <a:lstStyle/>
          <a:p>
            <a:pPr indent="0" marL="0">
              <a:buNone/>
            </a:pPr>
            <a:r>
              <a:rPr lang="en-US" sz="1600" b="1" dirty="0">
                <a:solidFill>
                  <a:srgbClr val="1E0B3A"/>
                </a:solidFill>
                <a:latin typeface="Calibri" pitchFamily="34" charset="0"/>
                <a:ea typeface="Calibri" pitchFamily="34" charset="-122"/>
                <a:cs typeface="Calibri" pitchFamily="34" charset="-120"/>
              </a:rPr>
              <a:t>Discover</a:t>
            </a:r>
            <a:endParaRPr lang="en-US" sz="1600" dirty="0"/>
          </a:p>
        </p:txBody>
      </p:sp>
      <p:sp>
        <p:nvSpPr>
          <p:cNvPr id="11" name="Text 9"/>
          <p:cNvSpPr txBox="1"/>
          <p:nvPr/>
        </p:nvSpPr>
        <p:spPr>
          <a:xfrm>
            <a:off x="1417320" y="2633472"/>
            <a:ext cx="2468880" cy="219456"/>
          </a:xfrm>
          <a:prstGeom prst="rect">
            <a:avLst/>
          </a:prstGeom>
          <a:noFill/>
          <a:ln/>
        </p:spPr>
        <p:txBody>
          <a:bodyPr wrap="square" lIns="0" tIns="0" rIns="0" bIns="0" rtlCol="0" anchor="t"/>
          <a:lstStyle/>
          <a:p>
            <a:pPr indent="0" marL="0">
              <a:buNone/>
            </a:pPr>
            <a:r>
              <a:rPr lang="en-US" sz="1300" dirty="0">
                <a:solidFill>
                  <a:srgbClr val="5C5670"/>
                </a:solidFill>
                <a:latin typeface="Calibri" pitchFamily="34" charset="0"/>
                <a:ea typeface="Calibri" pitchFamily="34" charset="-122"/>
                <a:cs typeface="Calibri" pitchFamily="34" charset="-120"/>
              </a:rPr>
              <a:t>Find a supplier</a:t>
            </a:r>
            <a:endParaRPr lang="en-US" sz="1300" dirty="0"/>
          </a:p>
        </p:txBody>
      </p:sp>
      <p:sp>
        <p:nvSpPr>
          <p:cNvPr id="12" name="Shape 10"/>
          <p:cNvSpPr/>
          <p:nvPr/>
        </p:nvSpPr>
        <p:spPr>
          <a:xfrm>
            <a:off x="822960" y="3264408"/>
            <a:ext cx="420624" cy="420624"/>
          </a:xfrm>
          <a:prstGeom prst="ellipse">
            <a:avLst/>
          </a:prstGeom>
          <a:solidFill>
            <a:srgbClr val="D9D6E3"/>
          </a:solidFill>
          <a:ln w="12700">
            <a:solidFill>
              <a:srgbClr val="D9D6E3"/>
            </a:solidFill>
            <a:prstDash val="solid"/>
          </a:ln>
        </p:spPr>
      </p:sp>
      <p:sp>
        <p:nvSpPr>
          <p:cNvPr id="13" name="Text 11"/>
          <p:cNvSpPr txBox="1"/>
          <p:nvPr/>
        </p:nvSpPr>
        <p:spPr>
          <a:xfrm>
            <a:off x="822960" y="3264408"/>
            <a:ext cx="420624" cy="420624"/>
          </a:xfrm>
          <a:prstGeom prst="rect">
            <a:avLst/>
          </a:prstGeom>
          <a:noFill/>
          <a:ln/>
        </p:spPr>
        <p:txBody>
          <a:bodyPr wrap="square" lIns="0" tIns="0" rIns="0" bIns="0" rtlCol="0" anchor="ctr"/>
          <a:lstStyle/>
          <a:p>
            <a:pPr algn="ctr" indent="0" marL="0">
              <a:buNone/>
            </a:pPr>
            <a:r>
              <a:rPr lang="en-US" sz="1400" b="1" dirty="0">
                <a:solidFill>
                  <a:srgbClr val="6B6578"/>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1417320" y="3264408"/>
            <a:ext cx="2468880" cy="237744"/>
          </a:xfrm>
          <a:prstGeom prst="rect">
            <a:avLst/>
          </a:prstGeom>
          <a:noFill/>
          <a:ln/>
        </p:spPr>
        <p:txBody>
          <a:bodyPr wrap="square" lIns="0" tIns="0" rIns="0" bIns="0" rtlCol="0" anchor="t"/>
          <a:lstStyle/>
          <a:p>
            <a:pPr indent="0" marL="0">
              <a:buNone/>
            </a:pPr>
            <a:r>
              <a:rPr lang="en-US" sz="1600" b="1" dirty="0">
                <a:solidFill>
                  <a:srgbClr val="1E0B3A"/>
                </a:solidFill>
                <a:latin typeface="Calibri" pitchFamily="34" charset="0"/>
                <a:ea typeface="Calibri" pitchFamily="34" charset="-122"/>
                <a:cs typeface="Calibri" pitchFamily="34" charset="-120"/>
              </a:rPr>
              <a:t>Browse</a:t>
            </a:r>
            <a:endParaRPr lang="en-US" sz="1600" dirty="0"/>
          </a:p>
        </p:txBody>
      </p:sp>
      <p:sp>
        <p:nvSpPr>
          <p:cNvPr id="15" name="Text 13"/>
          <p:cNvSpPr txBox="1"/>
          <p:nvPr/>
        </p:nvSpPr>
        <p:spPr>
          <a:xfrm>
            <a:off x="1417320" y="3502152"/>
            <a:ext cx="2468880" cy="219456"/>
          </a:xfrm>
          <a:prstGeom prst="rect">
            <a:avLst/>
          </a:prstGeom>
          <a:noFill/>
          <a:ln/>
        </p:spPr>
        <p:txBody>
          <a:bodyPr wrap="square" lIns="0" tIns="0" rIns="0" bIns="0" rtlCol="0" anchor="t"/>
          <a:lstStyle/>
          <a:p>
            <a:pPr indent="0" marL="0">
              <a:buNone/>
            </a:pPr>
            <a:r>
              <a:rPr lang="en-US" sz="1300" dirty="0">
                <a:solidFill>
                  <a:srgbClr val="5C5670"/>
                </a:solidFill>
                <a:latin typeface="Calibri" pitchFamily="34" charset="0"/>
                <a:ea typeface="Calibri" pitchFamily="34" charset="-122"/>
                <a:cs typeface="Calibri" pitchFamily="34" charset="-120"/>
              </a:rPr>
              <a:t>See a catalog</a:t>
            </a:r>
            <a:endParaRPr lang="en-US" sz="1300" dirty="0"/>
          </a:p>
        </p:txBody>
      </p:sp>
      <p:sp>
        <p:nvSpPr>
          <p:cNvPr id="16" name="Shape 14"/>
          <p:cNvSpPr/>
          <p:nvPr/>
        </p:nvSpPr>
        <p:spPr>
          <a:xfrm>
            <a:off x="822960" y="4133088"/>
            <a:ext cx="420624" cy="420624"/>
          </a:xfrm>
          <a:prstGeom prst="ellipse">
            <a:avLst/>
          </a:prstGeom>
          <a:solidFill>
            <a:srgbClr val="D9D6E3"/>
          </a:solidFill>
          <a:ln w="12700">
            <a:solidFill>
              <a:srgbClr val="D9D6E3"/>
            </a:solidFill>
            <a:prstDash val="solid"/>
          </a:ln>
        </p:spPr>
      </p:sp>
      <p:sp>
        <p:nvSpPr>
          <p:cNvPr id="17" name="Text 15"/>
          <p:cNvSpPr txBox="1"/>
          <p:nvPr/>
        </p:nvSpPr>
        <p:spPr>
          <a:xfrm>
            <a:off x="822960" y="4133088"/>
            <a:ext cx="420624" cy="420624"/>
          </a:xfrm>
          <a:prstGeom prst="rect">
            <a:avLst/>
          </a:prstGeom>
          <a:noFill/>
          <a:ln/>
        </p:spPr>
        <p:txBody>
          <a:bodyPr wrap="square" lIns="0" tIns="0" rIns="0" bIns="0" rtlCol="0" anchor="ctr"/>
          <a:lstStyle/>
          <a:p>
            <a:pPr algn="ctr" indent="0" marL="0">
              <a:buNone/>
            </a:pPr>
            <a:r>
              <a:rPr lang="en-US" sz="1400" b="1" dirty="0">
                <a:solidFill>
                  <a:srgbClr val="6B6578"/>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1417320" y="4133088"/>
            <a:ext cx="2468880" cy="237744"/>
          </a:xfrm>
          <a:prstGeom prst="rect">
            <a:avLst/>
          </a:prstGeom>
          <a:noFill/>
          <a:ln/>
        </p:spPr>
        <p:txBody>
          <a:bodyPr wrap="square" lIns="0" tIns="0" rIns="0" bIns="0" rtlCol="0" anchor="t"/>
          <a:lstStyle/>
          <a:p>
            <a:pPr indent="0" marL="0">
              <a:buNone/>
            </a:pPr>
            <a:r>
              <a:rPr lang="en-US" sz="1600" b="1" dirty="0">
                <a:solidFill>
                  <a:srgbClr val="1E0B3A"/>
                </a:solidFill>
                <a:latin typeface="Calibri" pitchFamily="34" charset="0"/>
                <a:ea typeface="Calibri" pitchFamily="34" charset="-122"/>
                <a:cs typeface="Calibri" pitchFamily="34" charset="-120"/>
              </a:rPr>
              <a:t>Order</a:t>
            </a:r>
            <a:endParaRPr lang="en-US" sz="1600" dirty="0"/>
          </a:p>
        </p:txBody>
      </p:sp>
      <p:sp>
        <p:nvSpPr>
          <p:cNvPr id="19" name="Text 17"/>
          <p:cNvSpPr txBox="1"/>
          <p:nvPr/>
        </p:nvSpPr>
        <p:spPr>
          <a:xfrm>
            <a:off x="1417320" y="4370832"/>
            <a:ext cx="2468880" cy="219456"/>
          </a:xfrm>
          <a:prstGeom prst="rect">
            <a:avLst/>
          </a:prstGeom>
          <a:noFill/>
          <a:ln/>
        </p:spPr>
        <p:txBody>
          <a:bodyPr wrap="square" lIns="0" tIns="0" rIns="0" bIns="0" rtlCol="0" anchor="t"/>
          <a:lstStyle/>
          <a:p>
            <a:pPr indent="0" marL="0">
              <a:buNone/>
            </a:pPr>
            <a:r>
              <a:rPr lang="en-US" sz="1300" dirty="0">
                <a:solidFill>
                  <a:srgbClr val="5C5670"/>
                </a:solidFill>
                <a:latin typeface="Calibri" pitchFamily="34" charset="0"/>
                <a:ea typeface="Calibri" pitchFamily="34" charset="-122"/>
                <a:cs typeface="Calibri" pitchFamily="34" charset="-120"/>
              </a:rPr>
              <a:t>Submit demand</a:t>
            </a:r>
            <a:endParaRPr lang="en-US" sz="1300" dirty="0"/>
          </a:p>
        </p:txBody>
      </p:sp>
      <p:sp>
        <p:nvSpPr>
          <p:cNvPr id="20" name="Text 18"/>
          <p:cNvSpPr txBox="1"/>
          <p:nvPr/>
        </p:nvSpPr>
        <p:spPr>
          <a:xfrm>
            <a:off x="731520" y="5623560"/>
            <a:ext cx="3337560" cy="256032"/>
          </a:xfrm>
          <a:prstGeom prst="rect">
            <a:avLst/>
          </a:prstGeom>
          <a:noFill/>
          <a:ln/>
        </p:spPr>
        <p:txBody>
          <a:bodyPr wrap="square" lIns="0" tIns="0" rIns="0" bIns="0" rtlCol="0" anchor="t"/>
          <a:lstStyle/>
          <a:p>
            <a:pPr algn="ctr" indent="0" marL="0">
              <a:buNone/>
            </a:pPr>
            <a:r>
              <a:rPr lang="en-US" sz="1200" b="1" spc="60" kern="0" dirty="0">
                <a:solidFill>
                  <a:srgbClr val="9A94A8"/>
                </a:solidFill>
                <a:latin typeface="Calibri" pitchFamily="34" charset="0"/>
                <a:ea typeface="Calibri" pitchFamily="34" charset="-122"/>
                <a:cs typeface="Calibri" pitchFamily="34" charset="-120"/>
              </a:rPr>
              <a:t>VALUE STOPS AT THE HANDOFF</a:t>
            </a:r>
            <a:endParaRPr lang="en-US" sz="1200" dirty="0"/>
          </a:p>
        </p:txBody>
      </p:sp>
      <p:sp>
        <p:nvSpPr>
          <p:cNvPr id="21" name="Shape 19"/>
          <p:cNvSpPr/>
          <p:nvPr/>
        </p:nvSpPr>
        <p:spPr>
          <a:xfrm>
            <a:off x="4526280" y="1572768"/>
            <a:ext cx="7132320" cy="4617720"/>
          </a:xfrm>
          <a:prstGeom prst="roundRect">
            <a:avLst>
              <a:gd name="adj" fmla="val 2376"/>
            </a:avLst>
          </a:prstGeom>
          <a:solidFill>
            <a:srgbClr val="1E0B3A"/>
          </a:solidFill>
          <a:ln w="12700">
            <a:solidFill>
              <a:srgbClr val="1E0B3A"/>
            </a:solidFill>
            <a:prstDash val="solid"/>
          </a:ln>
          <a:effectLst>
            <a:outerShdw sx="100000" sy="100000" kx="0" ky="0" algn="bl" rotWithShape="0" blurRad="203200" dist="50800" dir="16200000">
              <a:srgbClr val="1E0B3A">
                <a:alpha val="10000"/>
              </a:srgbClr>
            </a:outerShdw>
          </a:effectLst>
        </p:spPr>
      </p:sp>
      <p:sp>
        <p:nvSpPr>
          <p:cNvPr id="22" name="Shape 20"/>
          <p:cNvSpPr/>
          <p:nvPr/>
        </p:nvSpPr>
        <p:spPr>
          <a:xfrm>
            <a:off x="4800600" y="1810512"/>
            <a:ext cx="1554480" cy="329184"/>
          </a:xfrm>
          <a:prstGeom prst="roundRect">
            <a:avLst>
              <a:gd name="adj" fmla="val 33333"/>
            </a:avLst>
          </a:prstGeom>
          <a:solidFill>
            <a:srgbClr val="7C3AED"/>
          </a:solidFill>
          <a:ln w="12700">
            <a:solidFill>
              <a:srgbClr val="7C3AED"/>
            </a:solidFill>
            <a:prstDash val="solid"/>
          </a:ln>
        </p:spPr>
      </p:sp>
      <p:sp>
        <p:nvSpPr>
          <p:cNvPr id="23" name="Text 21"/>
          <p:cNvSpPr txBox="1"/>
          <p:nvPr/>
        </p:nvSpPr>
        <p:spPr>
          <a:xfrm>
            <a:off x="4800600" y="1810512"/>
            <a:ext cx="1554480" cy="329184"/>
          </a:xfrm>
          <a:prstGeom prst="rect">
            <a:avLst/>
          </a:prstGeom>
          <a:noFill/>
          <a:ln/>
        </p:spPr>
        <p:txBody>
          <a:bodyPr wrap="square" lIns="0" tIns="0" rIns="0" bIns="0" rtlCol="0" anchor="ctr"/>
          <a:lstStyle/>
          <a:p>
            <a:pPr algn="ctr" indent="0" marL="0">
              <a:buNone/>
            </a:pPr>
            <a:r>
              <a:rPr lang="en-US" sz="1200" b="1" spc="80" kern="0" dirty="0">
                <a:solidFill>
                  <a:srgbClr val="FFFFFF"/>
                </a:solidFill>
                <a:latin typeface="Calibri" pitchFamily="34" charset="0"/>
                <a:ea typeface="Calibri" pitchFamily="34" charset="-122"/>
                <a:cs typeface="Calibri" pitchFamily="34" charset="-120"/>
              </a:rPr>
              <a:t>SUPPLIFY</a:t>
            </a:r>
            <a:endParaRPr lang="en-US" sz="1200" dirty="0"/>
          </a:p>
        </p:txBody>
      </p:sp>
      <p:sp>
        <p:nvSpPr>
          <p:cNvPr id="24" name="Shape 22"/>
          <p:cNvSpPr/>
          <p:nvPr/>
        </p:nvSpPr>
        <p:spPr>
          <a:xfrm>
            <a:off x="4983480" y="2468880"/>
            <a:ext cx="530352" cy="530352"/>
          </a:xfrm>
          <a:prstGeom prst="ellipse">
            <a:avLst/>
          </a:prstGeom>
          <a:solidFill>
            <a:srgbClr val="7C3AED"/>
          </a:solidFill>
          <a:ln w="12700">
            <a:solidFill>
              <a:srgbClr val="7C3AED"/>
            </a:solidFill>
            <a:prstDash val="solid"/>
          </a:ln>
        </p:spPr>
      </p:sp>
      <p:sp>
        <p:nvSpPr>
          <p:cNvPr id="25" name="Text 23"/>
          <p:cNvSpPr txBox="1"/>
          <p:nvPr/>
        </p:nvSpPr>
        <p:spPr>
          <a:xfrm>
            <a:off x="4983480" y="246888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6" name="Text 24"/>
          <p:cNvSpPr txBox="1"/>
          <p:nvPr/>
        </p:nvSpPr>
        <p:spPr>
          <a:xfrm>
            <a:off x="4754880" y="3072384"/>
            <a:ext cx="1005840" cy="256032"/>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p>
        </p:txBody>
      </p:sp>
      <p:sp>
        <p:nvSpPr>
          <p:cNvPr id="27" name="Text 25"/>
          <p:cNvSpPr txBox="1"/>
          <p:nvPr/>
        </p:nvSpPr>
        <p:spPr>
          <a:xfrm>
            <a:off x="5550408" y="2542032"/>
            <a:ext cx="365760" cy="365760"/>
          </a:xfrm>
          <a:prstGeom prst="rect">
            <a:avLst/>
          </a:prstGeom>
          <a:noFill/>
          <a:ln/>
        </p:spPr>
        <p:txBody>
          <a:bodyPr wrap="square" lIns="0" tIns="0" rIns="0" bIns="0" rtlCol="0" anchor="t"/>
          <a:lstStyle/>
          <a:p>
            <a:pPr algn="ctr" indent="0" marL="0">
              <a:buNone/>
            </a:pPr>
            <a:r>
              <a:rPr lang="en-US" sz="1400" dirty="0">
                <a:solidFill>
                  <a:srgbClr val="A78BFA"/>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6629400" y="2468880"/>
            <a:ext cx="530352" cy="530352"/>
          </a:xfrm>
          <a:prstGeom prst="ellipse">
            <a:avLst/>
          </a:prstGeom>
          <a:solidFill>
            <a:srgbClr val="7C3AED"/>
          </a:solidFill>
          <a:ln w="12700">
            <a:solidFill>
              <a:srgbClr val="7C3AED"/>
            </a:solidFill>
            <a:prstDash val="solid"/>
          </a:ln>
        </p:spPr>
      </p:sp>
      <p:sp>
        <p:nvSpPr>
          <p:cNvPr id="29" name="Text 27"/>
          <p:cNvSpPr txBox="1"/>
          <p:nvPr/>
        </p:nvSpPr>
        <p:spPr>
          <a:xfrm>
            <a:off x="6629400" y="246888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30" name="Text 28"/>
          <p:cNvSpPr txBox="1"/>
          <p:nvPr/>
        </p:nvSpPr>
        <p:spPr>
          <a:xfrm>
            <a:off x="6400800" y="3072384"/>
            <a:ext cx="1005840" cy="256032"/>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PRICE</a:t>
            </a:r>
            <a:endParaRPr lang="en-US" sz="1200" dirty="0"/>
          </a:p>
        </p:txBody>
      </p:sp>
      <p:sp>
        <p:nvSpPr>
          <p:cNvPr id="31" name="Text 29"/>
          <p:cNvSpPr txBox="1"/>
          <p:nvPr/>
        </p:nvSpPr>
        <p:spPr>
          <a:xfrm>
            <a:off x="7196328" y="2542032"/>
            <a:ext cx="365760" cy="365760"/>
          </a:xfrm>
          <a:prstGeom prst="rect">
            <a:avLst/>
          </a:prstGeom>
          <a:noFill/>
          <a:ln/>
        </p:spPr>
        <p:txBody>
          <a:bodyPr wrap="square" lIns="0" tIns="0" rIns="0" bIns="0" rtlCol="0" anchor="t"/>
          <a:lstStyle/>
          <a:p>
            <a:pPr algn="ctr" indent="0" marL="0">
              <a:buNone/>
            </a:pPr>
            <a:r>
              <a:rPr lang="en-US" sz="1400" dirty="0">
                <a:solidFill>
                  <a:srgbClr val="A78BFA"/>
                </a:solidFill>
                <a:latin typeface="Calibri" pitchFamily="34" charset="0"/>
                <a:ea typeface="Calibri" pitchFamily="34" charset="-122"/>
                <a:cs typeface="Calibri" pitchFamily="34" charset="-120"/>
              </a:rPr>
              <a:t>→</a:t>
            </a:r>
            <a:endParaRPr lang="en-US" sz="1400" dirty="0"/>
          </a:p>
        </p:txBody>
      </p:sp>
      <p:sp>
        <p:nvSpPr>
          <p:cNvPr id="32" name="Shape 30"/>
          <p:cNvSpPr/>
          <p:nvPr/>
        </p:nvSpPr>
        <p:spPr>
          <a:xfrm>
            <a:off x="8275320" y="2468880"/>
            <a:ext cx="530352" cy="530352"/>
          </a:xfrm>
          <a:prstGeom prst="ellipse">
            <a:avLst/>
          </a:prstGeom>
          <a:solidFill>
            <a:srgbClr val="5B21B6"/>
          </a:solidFill>
          <a:ln w="12700">
            <a:solidFill>
              <a:srgbClr val="5B21B6"/>
            </a:solidFill>
            <a:prstDash val="solid"/>
          </a:ln>
        </p:spPr>
      </p:sp>
      <p:sp>
        <p:nvSpPr>
          <p:cNvPr id="33" name="Text 31"/>
          <p:cNvSpPr txBox="1"/>
          <p:nvPr/>
        </p:nvSpPr>
        <p:spPr>
          <a:xfrm>
            <a:off x="8275320" y="246888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4" name="Text 32"/>
          <p:cNvSpPr txBox="1"/>
          <p:nvPr/>
        </p:nvSpPr>
        <p:spPr>
          <a:xfrm>
            <a:off x="8046720" y="3072384"/>
            <a:ext cx="1005840" cy="256032"/>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ORDER</a:t>
            </a:r>
            <a:endParaRPr lang="en-US" sz="1200" dirty="0"/>
          </a:p>
        </p:txBody>
      </p:sp>
      <p:sp>
        <p:nvSpPr>
          <p:cNvPr id="35" name="Text 33"/>
          <p:cNvSpPr txBox="1"/>
          <p:nvPr/>
        </p:nvSpPr>
        <p:spPr>
          <a:xfrm>
            <a:off x="8842248" y="2542032"/>
            <a:ext cx="365760" cy="365760"/>
          </a:xfrm>
          <a:prstGeom prst="rect">
            <a:avLst/>
          </a:prstGeom>
          <a:noFill/>
          <a:ln/>
        </p:spPr>
        <p:txBody>
          <a:bodyPr wrap="square" lIns="0" tIns="0" rIns="0" bIns="0" rtlCol="0" anchor="t"/>
          <a:lstStyle/>
          <a:p>
            <a:pPr algn="ctr" indent="0" marL="0">
              <a:buNone/>
            </a:pPr>
            <a:r>
              <a:rPr lang="en-US" sz="1400" dirty="0">
                <a:solidFill>
                  <a:srgbClr val="A78BFA"/>
                </a:solidFill>
                <a:latin typeface="Calibri" pitchFamily="34" charset="0"/>
                <a:ea typeface="Calibri" pitchFamily="34" charset="-122"/>
                <a:cs typeface="Calibri" pitchFamily="34" charset="-120"/>
              </a:rPr>
              <a:t>→</a:t>
            </a:r>
            <a:endParaRPr lang="en-US" sz="1400" dirty="0"/>
          </a:p>
        </p:txBody>
      </p:sp>
      <p:sp>
        <p:nvSpPr>
          <p:cNvPr id="36" name="Shape 34"/>
          <p:cNvSpPr/>
          <p:nvPr/>
        </p:nvSpPr>
        <p:spPr>
          <a:xfrm>
            <a:off x="9921240" y="2468880"/>
            <a:ext cx="530352" cy="530352"/>
          </a:xfrm>
          <a:prstGeom prst="ellipse">
            <a:avLst/>
          </a:prstGeom>
          <a:solidFill>
            <a:srgbClr val="F59E0B"/>
          </a:solidFill>
          <a:ln w="12700">
            <a:solidFill>
              <a:srgbClr val="F59E0B"/>
            </a:solidFill>
            <a:prstDash val="solid"/>
          </a:ln>
        </p:spPr>
      </p:sp>
      <p:sp>
        <p:nvSpPr>
          <p:cNvPr id="37" name="Text 35"/>
          <p:cNvSpPr txBox="1"/>
          <p:nvPr/>
        </p:nvSpPr>
        <p:spPr>
          <a:xfrm>
            <a:off x="9921240" y="246888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8" name="Text 36"/>
          <p:cNvSpPr txBox="1"/>
          <p:nvPr/>
        </p:nvSpPr>
        <p:spPr>
          <a:xfrm>
            <a:off x="9692640" y="3072384"/>
            <a:ext cx="1005840" cy="256032"/>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FULFILL</a:t>
            </a:r>
            <a:endParaRPr lang="en-US" sz="1200" dirty="0"/>
          </a:p>
        </p:txBody>
      </p:sp>
      <p:sp>
        <p:nvSpPr>
          <p:cNvPr id="39" name="Shape 37"/>
          <p:cNvSpPr/>
          <p:nvPr/>
        </p:nvSpPr>
        <p:spPr>
          <a:xfrm>
            <a:off x="4983480" y="3886200"/>
            <a:ext cx="530352" cy="530352"/>
          </a:xfrm>
          <a:prstGeom prst="ellipse">
            <a:avLst/>
          </a:prstGeom>
          <a:solidFill>
            <a:srgbClr val="F97316"/>
          </a:solidFill>
          <a:ln w="12700">
            <a:solidFill>
              <a:srgbClr val="F97316"/>
            </a:solidFill>
            <a:prstDash val="solid"/>
          </a:ln>
        </p:spPr>
      </p:sp>
      <p:sp>
        <p:nvSpPr>
          <p:cNvPr id="40" name="Text 38"/>
          <p:cNvSpPr txBox="1"/>
          <p:nvPr/>
        </p:nvSpPr>
        <p:spPr>
          <a:xfrm>
            <a:off x="4983480" y="388620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1" name="Text 39"/>
          <p:cNvSpPr txBox="1"/>
          <p:nvPr/>
        </p:nvSpPr>
        <p:spPr>
          <a:xfrm>
            <a:off x="4754880" y="4489704"/>
            <a:ext cx="1005840" cy="256032"/>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DELIVER</a:t>
            </a:r>
            <a:endParaRPr lang="en-US" sz="1200" dirty="0"/>
          </a:p>
        </p:txBody>
      </p:sp>
      <p:sp>
        <p:nvSpPr>
          <p:cNvPr id="42" name="Text 40"/>
          <p:cNvSpPr txBox="1"/>
          <p:nvPr/>
        </p:nvSpPr>
        <p:spPr>
          <a:xfrm>
            <a:off x="5550408" y="3959352"/>
            <a:ext cx="365760" cy="365760"/>
          </a:xfrm>
          <a:prstGeom prst="rect">
            <a:avLst/>
          </a:prstGeom>
          <a:noFill/>
          <a:ln/>
        </p:spPr>
        <p:txBody>
          <a:bodyPr wrap="square" lIns="0" tIns="0" rIns="0" bIns="0" rtlCol="0" anchor="t"/>
          <a:lstStyle/>
          <a:p>
            <a:pPr algn="ctr" indent="0" marL="0">
              <a:buNone/>
            </a:pPr>
            <a:r>
              <a:rPr lang="en-US" sz="1400" dirty="0">
                <a:solidFill>
                  <a:srgbClr val="6EE7B7"/>
                </a:solidFill>
                <a:latin typeface="Calibri" pitchFamily="34" charset="0"/>
                <a:ea typeface="Calibri" pitchFamily="34" charset="-122"/>
                <a:cs typeface="Calibri" pitchFamily="34" charset="-120"/>
              </a:rPr>
              <a:t>→</a:t>
            </a:r>
            <a:endParaRPr lang="en-US" sz="1400" dirty="0"/>
          </a:p>
        </p:txBody>
      </p:sp>
      <p:sp>
        <p:nvSpPr>
          <p:cNvPr id="43" name="Shape 41"/>
          <p:cNvSpPr/>
          <p:nvPr/>
        </p:nvSpPr>
        <p:spPr>
          <a:xfrm>
            <a:off x="6629400" y="3886200"/>
            <a:ext cx="530352" cy="530352"/>
          </a:xfrm>
          <a:prstGeom prst="ellipse">
            <a:avLst/>
          </a:prstGeom>
          <a:solidFill>
            <a:srgbClr val="10B981"/>
          </a:solidFill>
          <a:ln w="12700">
            <a:solidFill>
              <a:srgbClr val="10B981"/>
            </a:solidFill>
            <a:prstDash val="solid"/>
          </a:ln>
        </p:spPr>
      </p:sp>
      <p:sp>
        <p:nvSpPr>
          <p:cNvPr id="44" name="Text 42"/>
          <p:cNvSpPr txBox="1"/>
          <p:nvPr/>
        </p:nvSpPr>
        <p:spPr>
          <a:xfrm>
            <a:off x="6629400" y="388620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5" name="Text 43"/>
          <p:cNvSpPr txBox="1"/>
          <p:nvPr/>
        </p:nvSpPr>
        <p:spPr>
          <a:xfrm>
            <a:off x="6400800" y="4489704"/>
            <a:ext cx="1005840" cy="256032"/>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RECEIVE</a:t>
            </a:r>
            <a:endParaRPr lang="en-US" sz="1200" dirty="0"/>
          </a:p>
        </p:txBody>
      </p:sp>
      <p:sp>
        <p:nvSpPr>
          <p:cNvPr id="46" name="Text 44"/>
          <p:cNvSpPr txBox="1"/>
          <p:nvPr/>
        </p:nvSpPr>
        <p:spPr>
          <a:xfrm>
            <a:off x="7196328" y="3959352"/>
            <a:ext cx="365760" cy="365760"/>
          </a:xfrm>
          <a:prstGeom prst="rect">
            <a:avLst/>
          </a:prstGeom>
          <a:noFill/>
          <a:ln/>
        </p:spPr>
        <p:txBody>
          <a:bodyPr wrap="square" lIns="0" tIns="0" rIns="0" bIns="0" rtlCol="0" anchor="t"/>
          <a:lstStyle/>
          <a:p>
            <a:pPr algn="ctr" indent="0" marL="0">
              <a:buNone/>
            </a:pPr>
            <a:r>
              <a:rPr lang="en-US" sz="1400" dirty="0">
                <a:solidFill>
                  <a:srgbClr val="6EE7B7"/>
                </a:solidFill>
                <a:latin typeface="Calibri" pitchFamily="34" charset="0"/>
                <a:ea typeface="Calibri" pitchFamily="34" charset="-122"/>
                <a:cs typeface="Calibri" pitchFamily="34" charset="-120"/>
              </a:rPr>
              <a:t>→</a:t>
            </a:r>
            <a:endParaRPr lang="en-US" sz="1400" dirty="0"/>
          </a:p>
        </p:txBody>
      </p:sp>
      <p:sp>
        <p:nvSpPr>
          <p:cNvPr id="47" name="Shape 45"/>
          <p:cNvSpPr/>
          <p:nvPr/>
        </p:nvSpPr>
        <p:spPr>
          <a:xfrm>
            <a:off x="8275320" y="3886200"/>
            <a:ext cx="530352" cy="530352"/>
          </a:xfrm>
          <a:prstGeom prst="ellipse">
            <a:avLst/>
          </a:prstGeom>
          <a:solidFill>
            <a:srgbClr val="059669"/>
          </a:solidFill>
          <a:ln w="12700">
            <a:solidFill>
              <a:srgbClr val="059669"/>
            </a:solidFill>
            <a:prstDash val="solid"/>
          </a:ln>
        </p:spPr>
      </p:sp>
      <p:sp>
        <p:nvSpPr>
          <p:cNvPr id="48" name="Text 46"/>
          <p:cNvSpPr txBox="1"/>
          <p:nvPr/>
        </p:nvSpPr>
        <p:spPr>
          <a:xfrm>
            <a:off x="8275320" y="388620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9" name="Text 47"/>
          <p:cNvSpPr txBox="1"/>
          <p:nvPr/>
        </p:nvSpPr>
        <p:spPr>
          <a:xfrm>
            <a:off x="8046720" y="4489704"/>
            <a:ext cx="1005840" cy="256032"/>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RECONCILE</a:t>
            </a:r>
            <a:endParaRPr lang="en-US" sz="1200" dirty="0"/>
          </a:p>
        </p:txBody>
      </p:sp>
      <p:sp>
        <p:nvSpPr>
          <p:cNvPr id="50" name="Text 48"/>
          <p:cNvSpPr txBox="1"/>
          <p:nvPr/>
        </p:nvSpPr>
        <p:spPr>
          <a:xfrm>
            <a:off x="8842248" y="3959352"/>
            <a:ext cx="365760" cy="365760"/>
          </a:xfrm>
          <a:prstGeom prst="rect">
            <a:avLst/>
          </a:prstGeom>
          <a:noFill/>
          <a:ln/>
        </p:spPr>
        <p:txBody>
          <a:bodyPr wrap="square" lIns="0" tIns="0" rIns="0" bIns="0" rtlCol="0" anchor="t"/>
          <a:lstStyle/>
          <a:p>
            <a:pPr algn="ctr" indent="0" marL="0">
              <a:buNone/>
            </a:pPr>
            <a:r>
              <a:rPr lang="en-US" sz="1400" dirty="0">
                <a:solidFill>
                  <a:srgbClr val="6EE7B7"/>
                </a:solidFill>
                <a:latin typeface="Calibri" pitchFamily="34" charset="0"/>
                <a:ea typeface="Calibri" pitchFamily="34" charset="-122"/>
                <a:cs typeface="Calibri" pitchFamily="34" charset="-120"/>
              </a:rPr>
              <a:t>→</a:t>
            </a:r>
            <a:endParaRPr lang="en-US" sz="1400" dirty="0"/>
          </a:p>
        </p:txBody>
      </p:sp>
      <p:sp>
        <p:nvSpPr>
          <p:cNvPr id="51" name="Shape 49"/>
          <p:cNvSpPr/>
          <p:nvPr/>
        </p:nvSpPr>
        <p:spPr>
          <a:xfrm>
            <a:off x="9921240" y="3886200"/>
            <a:ext cx="530352" cy="530352"/>
          </a:xfrm>
          <a:prstGeom prst="ellipse">
            <a:avLst/>
          </a:prstGeom>
          <a:solidFill>
            <a:srgbClr val="2563EB"/>
          </a:solidFill>
          <a:ln w="12700">
            <a:solidFill>
              <a:srgbClr val="2563EB"/>
            </a:solidFill>
            <a:prstDash val="solid"/>
          </a:ln>
        </p:spPr>
      </p:sp>
      <p:sp>
        <p:nvSpPr>
          <p:cNvPr id="52" name="Text 50"/>
          <p:cNvSpPr txBox="1"/>
          <p:nvPr/>
        </p:nvSpPr>
        <p:spPr>
          <a:xfrm>
            <a:off x="9921240" y="388620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53" name="Text 51"/>
          <p:cNvSpPr txBox="1"/>
          <p:nvPr/>
        </p:nvSpPr>
        <p:spPr>
          <a:xfrm>
            <a:off x="9692640" y="4489704"/>
            <a:ext cx="1005840" cy="256032"/>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LEARN</a:t>
            </a:r>
            <a:endParaRPr lang="en-US" sz="1200" dirty="0"/>
          </a:p>
        </p:txBody>
      </p:sp>
      <p:sp>
        <p:nvSpPr>
          <p:cNvPr id="54" name="Text 52"/>
          <p:cNvSpPr txBox="1"/>
          <p:nvPr/>
        </p:nvSpPr>
        <p:spPr>
          <a:xfrm>
            <a:off x="4754880" y="5623560"/>
            <a:ext cx="6675120" cy="256032"/>
          </a:xfrm>
          <a:prstGeom prst="rect">
            <a:avLst/>
          </a:prstGeom>
          <a:noFill/>
          <a:ln/>
        </p:spPr>
        <p:txBody>
          <a:bodyPr wrap="square" lIns="0" tIns="0" rIns="0" bIns="0" rtlCol="0" anchor="t"/>
          <a:lstStyle/>
          <a:p>
            <a:pPr algn="ctr" indent="0" marL="0">
              <a:buNone/>
            </a:pPr>
            <a:r>
              <a:rPr lang="en-US" sz="1300" b="1" spc="70" kern="0" dirty="0">
                <a:solidFill>
                  <a:srgbClr val="6EE7B7"/>
                </a:solidFill>
                <a:latin typeface="Calibri" pitchFamily="34" charset="0"/>
                <a:ea typeface="Calibri" pitchFamily="34" charset="-122"/>
                <a:cs typeface="Calibri" pitchFamily="34" charset="-120"/>
              </a:rPr>
              <a:t>VALUE COMPOUNDS AFTER THE ORDER</a:t>
            </a:r>
            <a:endParaRPr lang="en-US" sz="1300" dirty="0"/>
          </a:p>
        </p:txBody>
      </p:sp>
      <p:sp>
        <p:nvSpPr>
          <p:cNvPr id="55" name="Text 53"/>
          <p:cNvSpPr txBox="1"/>
          <p:nvPr/>
        </p:nvSpPr>
        <p:spPr>
          <a:xfrm>
            <a:off x="530352" y="6528816"/>
            <a:ext cx="5486400" cy="201168"/>
          </a:xfrm>
          <a:prstGeom prst="rect">
            <a:avLst/>
          </a:prstGeom>
          <a:noFill/>
          <a:ln/>
        </p:spPr>
        <p:txBody>
          <a:bodyPr wrap="square" lIns="0" tIns="0" rIns="0" bIns="0" rtlCol="0" anchor="t"/>
          <a:lstStyle/>
          <a:p>
            <a:pPr indent="0" marL="0">
              <a:buNone/>
            </a:pPr>
            <a:r>
              <a:rPr lang="en-US" sz="1100" spc="110" kern="0" dirty="0">
                <a:solidFill>
                  <a:srgbClr val="9A94A8"/>
                </a:solidFill>
                <a:latin typeface="Calibri" pitchFamily="34" charset="0"/>
                <a:ea typeface="Calibri" pitchFamily="34" charset="-122"/>
                <a:cs typeface="Calibri" pitchFamily="34" charset="-120"/>
              </a:rPr>
              <a:t>SUPPLIFY   ·   STAKEHOLDER BRIEF</a:t>
            </a:r>
            <a:endParaRPr lang="en-US" sz="1100" dirty="0"/>
          </a:p>
        </p:txBody>
      </p:sp>
      <p:sp>
        <p:nvSpPr>
          <p:cNvPr id="56" name="Text 54"/>
          <p:cNvSpPr txBox="1"/>
          <p:nvPr/>
        </p:nvSpPr>
        <p:spPr>
          <a:xfrm>
            <a:off x="10881360" y="6528816"/>
            <a:ext cx="777240" cy="201168"/>
          </a:xfrm>
          <a:prstGeom prst="rect">
            <a:avLst/>
          </a:prstGeom>
          <a:noFill/>
          <a:ln/>
        </p:spPr>
        <p:txBody>
          <a:bodyPr wrap="square" lIns="0" tIns="0" rIns="0" bIns="0" rtlCol="0" anchor="t"/>
          <a:lstStyle/>
          <a:p>
            <a:pPr algn="r" indent="0" marL="0">
              <a:buNone/>
            </a:pPr>
            <a:r>
              <a:rPr lang="en-US" sz="1200" b="1" dirty="0">
                <a:solidFill>
                  <a:srgbClr val="7C3AED"/>
                </a:solidFill>
                <a:latin typeface="Calibri" pitchFamily="34" charset="0"/>
                <a:ea typeface="Calibri" pitchFamily="34" charset="-122"/>
                <a:cs typeface="Calibri"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C"/>
        </a:solidFill>
      </p:bgPr>
    </p:bg>
    <p:spTree>
      <p:nvGrpSpPr>
        <p:cNvPr id="1" name=""/>
        <p:cNvGrpSpPr/>
        <p:nvPr/>
      </p:nvGrpSpPr>
      <p:grpSpPr>
        <a:xfrm>
          <a:off x="0" y="0"/>
          <a:ext cx="0" cy="0"/>
          <a:chOff x="0" y="0"/>
          <a:chExt cx="0" cy="0"/>
        </a:xfrm>
      </p:grpSpPr>
      <p:sp>
        <p:nvSpPr>
          <p:cNvPr id="2" name="Text 0"/>
          <p:cNvSpPr txBox="1"/>
          <p:nvPr/>
        </p:nvSpPr>
        <p:spPr>
          <a:xfrm>
            <a:off x="530352" y="292608"/>
            <a:ext cx="7315200" cy="219456"/>
          </a:xfrm>
          <a:prstGeom prst="rect">
            <a:avLst/>
          </a:prstGeom>
          <a:noFill/>
          <a:ln/>
        </p:spPr>
        <p:txBody>
          <a:bodyPr wrap="square" lIns="0" tIns="0" rIns="0" bIns="0" rtlCol="0" anchor="t"/>
          <a:lstStyle/>
          <a:p>
            <a:pPr indent="0" marL="0">
              <a:buNone/>
            </a:pPr>
            <a:r>
              <a:rPr lang="en-US" sz="1200" b="1" spc="160" kern="0" dirty="0">
                <a:solidFill>
                  <a:srgbClr val="7C3AED"/>
                </a:solidFill>
                <a:latin typeface="Calibri" pitchFamily="34" charset="0"/>
                <a:ea typeface="Calibri" pitchFamily="34" charset="-122"/>
                <a:cs typeface="Calibri" pitchFamily="34" charset="-120"/>
              </a:rPr>
              <a:t>THE SAME ORDER</a:t>
            </a:r>
            <a:endParaRPr lang="en-US" sz="1200" dirty="0"/>
          </a:p>
        </p:txBody>
      </p:sp>
      <p:sp>
        <p:nvSpPr>
          <p:cNvPr id="3" name="Text 1"/>
          <p:cNvSpPr txBox="1"/>
          <p:nvPr/>
        </p:nvSpPr>
        <p:spPr>
          <a:xfrm>
            <a:off x="512064" y="512064"/>
            <a:ext cx="11155680" cy="438912"/>
          </a:xfrm>
          <a:prstGeom prst="rect">
            <a:avLst/>
          </a:prstGeom>
          <a:noFill/>
          <a:ln/>
        </p:spPr>
        <p:txBody>
          <a:bodyPr wrap="square" lIns="0" tIns="0" rIns="0" bIns="0" rtlCol="0" anchor="t"/>
          <a:lstStyle/>
          <a:p>
            <a:pPr indent="0" marL="0">
              <a:buNone/>
            </a:pPr>
            <a:r>
              <a:rPr lang="en-US" sz="2800" b="1" dirty="0">
                <a:solidFill>
                  <a:srgbClr val="1E0B3A"/>
                </a:solidFill>
                <a:latin typeface="Calibri" pitchFamily="34" charset="0"/>
                <a:ea typeface="Calibri" pitchFamily="34" charset="-122"/>
                <a:cs typeface="Calibri" pitchFamily="34" charset="-120"/>
              </a:rPr>
              <a:t>Restaurants get control. Suppliers get a plan they can run.</a:t>
            </a:r>
            <a:endParaRPr lang="en-US" sz="2800" dirty="0"/>
          </a:p>
        </p:txBody>
      </p:sp>
      <p:sp>
        <p:nvSpPr>
          <p:cNvPr id="4" name="Text 2"/>
          <p:cNvSpPr txBox="1"/>
          <p:nvPr/>
        </p:nvSpPr>
        <p:spPr>
          <a:xfrm>
            <a:off x="530352" y="1005840"/>
            <a:ext cx="10972800" cy="274320"/>
          </a:xfrm>
          <a:prstGeom prst="rect">
            <a:avLst/>
          </a:prstGeom>
          <a:noFill/>
          <a:ln/>
        </p:spPr>
        <p:txBody>
          <a:bodyPr wrap="square" lIns="0" tIns="0" rIns="0" bIns="0" rtlCol="0" anchor="t"/>
          <a:lstStyle/>
          <a:p>
            <a:pPr indent="0" marL="0">
              <a:buNone/>
            </a:pPr>
            <a:r>
              <a:rPr lang="en-US" sz="1600" dirty="0">
                <a:solidFill>
                  <a:srgbClr val="5C5670"/>
                </a:solidFill>
                <a:latin typeface="Calibri" pitchFamily="34" charset="0"/>
                <a:ea typeface="Calibri" pitchFamily="34" charset="-122"/>
                <a:cs typeface="Calibri" pitchFamily="34" charset="-120"/>
              </a:rPr>
              <a:t>The buyer sees the relationship. The supplier sees the work. Both are looking at one transaction.</a:t>
            </a:r>
            <a:endParaRPr lang="en-US" sz="1600" dirty="0"/>
          </a:p>
        </p:txBody>
      </p:sp>
      <p:sp>
        <p:nvSpPr>
          <p:cNvPr id="5" name="Shape 3"/>
          <p:cNvSpPr/>
          <p:nvPr/>
        </p:nvSpPr>
        <p:spPr>
          <a:xfrm>
            <a:off x="502920" y="1444752"/>
            <a:ext cx="5358384" cy="4773168"/>
          </a:xfrm>
          <a:prstGeom prst="roundRect">
            <a:avLst>
              <a:gd name="adj" fmla="val 2299"/>
            </a:avLst>
          </a:prstGeom>
          <a:solidFill>
            <a:srgbClr val="FFFFFF"/>
          </a:solidFill>
          <a:ln w="12700">
            <a:solidFill>
              <a:srgbClr val="FFFFFF"/>
            </a:solidFill>
            <a:prstDash val="solid"/>
          </a:ln>
          <a:effectLst>
            <a:outerShdw sx="100000" sy="100000" kx="0" ky="0" algn="bl" rotWithShape="0" blurRad="203200" dist="50800" dir="16200000">
              <a:srgbClr val="1E0B3A">
                <a:alpha val="10000"/>
              </a:srgbClr>
            </a:outerShdw>
          </a:effectLst>
        </p:spPr>
      </p:sp>
      <p:sp>
        <p:nvSpPr>
          <p:cNvPr id="6" name="Shape 4"/>
          <p:cNvSpPr/>
          <p:nvPr/>
        </p:nvSpPr>
        <p:spPr>
          <a:xfrm>
            <a:off x="704088" y="1609344"/>
            <a:ext cx="1554480" cy="292608"/>
          </a:xfrm>
          <a:prstGeom prst="roundRect">
            <a:avLst>
              <a:gd name="adj" fmla="val 37500"/>
            </a:avLst>
          </a:prstGeom>
          <a:solidFill>
            <a:srgbClr val="EDE9FE"/>
          </a:solidFill>
          <a:ln w="12700">
            <a:solidFill>
              <a:srgbClr val="EDE9FE"/>
            </a:solidFill>
            <a:prstDash val="solid"/>
          </a:ln>
        </p:spPr>
      </p:sp>
      <p:sp>
        <p:nvSpPr>
          <p:cNvPr id="7" name="Text 5"/>
          <p:cNvSpPr txBox="1"/>
          <p:nvPr/>
        </p:nvSpPr>
        <p:spPr>
          <a:xfrm>
            <a:off x="704088" y="1609344"/>
            <a:ext cx="1554480" cy="292608"/>
          </a:xfrm>
          <a:prstGeom prst="rect">
            <a:avLst/>
          </a:prstGeom>
          <a:noFill/>
          <a:ln/>
        </p:spPr>
        <p:txBody>
          <a:bodyPr wrap="square" lIns="0" tIns="0" rIns="0" bIns="0" rtlCol="0" anchor="ctr"/>
          <a:lstStyle/>
          <a:p>
            <a:pPr algn="ctr" indent="0" marL="0">
              <a:buNone/>
            </a:pPr>
            <a:r>
              <a:rPr lang="en-US" sz="1100" b="1" spc="70" kern="0" dirty="0">
                <a:solidFill>
                  <a:srgbClr val="5B21B6"/>
                </a:solidFill>
                <a:latin typeface="Calibri" pitchFamily="34" charset="0"/>
                <a:ea typeface="Calibri" pitchFamily="34" charset="-122"/>
                <a:cs typeface="Calibri" pitchFamily="34" charset="-120"/>
              </a:rPr>
              <a:t>RESTAURANTS</a:t>
            </a:r>
            <a:endParaRPr lang="en-US" sz="1100" dirty="0"/>
          </a:p>
        </p:txBody>
      </p:sp>
      <p:sp>
        <p:nvSpPr>
          <p:cNvPr id="8" name="Text 6"/>
          <p:cNvSpPr txBox="1"/>
          <p:nvPr/>
        </p:nvSpPr>
        <p:spPr>
          <a:xfrm>
            <a:off x="2377440" y="1591056"/>
            <a:ext cx="3246120" cy="329184"/>
          </a:xfrm>
          <a:prstGeom prst="rect">
            <a:avLst/>
          </a:prstGeom>
          <a:noFill/>
          <a:ln/>
        </p:spPr>
        <p:txBody>
          <a:bodyPr wrap="square" lIns="0" tIns="0" rIns="0" bIns="0" rtlCol="0" anchor="ctr"/>
          <a:lstStyle/>
          <a:p>
            <a:pPr indent="0" marL="0">
              <a:buNone/>
            </a:pPr>
            <a:r>
              <a:rPr lang="en-US" sz="1400" b="1" dirty="0">
                <a:solidFill>
                  <a:srgbClr val="1E0B3A"/>
                </a:solidFill>
                <a:latin typeface="Calibri" pitchFamily="34" charset="0"/>
                <a:ea typeface="Calibri" pitchFamily="34" charset="-122"/>
                <a:cs typeface="Calibri" pitchFamily="34" charset="-120"/>
              </a:rPr>
              <a:t>Control—not another shopping cart.</a:t>
            </a:r>
            <a:endParaRPr lang="en-US" sz="1400" dirty="0"/>
          </a:p>
        </p:txBody>
      </p:sp>
      <p:pic>
        <p:nvPicPr>
          <p:cNvPr id="9" name="Image 0" descr="C:\myProjects\supplify_erp\presentation_source\assets\screenshots\restaurant-dashboard.png">    </p:cNvPr>
          <p:cNvPicPr>
            <a:picLocks noChangeAspect="1"/>
          </p:cNvPicPr>
          <p:nvPr/>
        </p:nvPicPr>
        <p:blipFill>
          <a:blip r:embed="rId1"/>
          <a:stretch>
            <a:fillRect/>
          </a:stretch>
        </p:blipFill>
        <p:spPr>
          <a:xfrm>
            <a:off x="704088" y="2048256"/>
            <a:ext cx="4956048" cy="3099816"/>
          </a:xfrm>
          <a:prstGeom prst="rect">
            <a:avLst/>
          </a:prstGeom>
        </p:spPr>
      </p:pic>
      <p:sp>
        <p:nvSpPr>
          <p:cNvPr id="10" name="Shape 7"/>
          <p:cNvSpPr/>
          <p:nvPr/>
        </p:nvSpPr>
        <p:spPr>
          <a:xfrm>
            <a:off x="832104" y="4764024"/>
            <a:ext cx="1965960" cy="274320"/>
          </a:xfrm>
          <a:prstGeom prst="roundRect">
            <a:avLst>
              <a:gd name="adj" fmla="val 40000"/>
            </a:avLst>
          </a:prstGeom>
          <a:solidFill>
            <a:srgbClr val="1E0B3A"/>
          </a:solidFill>
          <a:ln w="12700">
            <a:solidFill>
              <a:srgbClr val="1E0B3A"/>
            </a:solidFill>
            <a:prstDash val="solid"/>
          </a:ln>
        </p:spPr>
      </p:sp>
      <p:sp>
        <p:nvSpPr>
          <p:cNvPr id="11" name="Text 8"/>
          <p:cNvSpPr txBox="1"/>
          <p:nvPr/>
        </p:nvSpPr>
        <p:spPr>
          <a:xfrm>
            <a:off x="832104" y="4764024"/>
            <a:ext cx="1965960" cy="274320"/>
          </a:xfrm>
          <a:prstGeom prst="rect">
            <a:avLst/>
          </a:prstGeom>
          <a:noFill/>
          <a:ln/>
        </p:spPr>
        <p:txBody>
          <a:bodyPr wrap="square" lIns="0" tIns="0" rIns="0" bIns="0" rtlCol="0" anchor="ctr"/>
          <a:lstStyle/>
          <a:p>
            <a:pPr algn="ctr" indent="0" marL="0">
              <a:buNone/>
            </a:pPr>
            <a:r>
              <a:rPr lang="en-US" sz="1000" b="1" spc="50" kern="0" dirty="0">
                <a:solidFill>
                  <a:srgbClr val="FFFFFF"/>
                </a:solidFill>
                <a:latin typeface="Calibri" pitchFamily="34" charset="0"/>
                <a:ea typeface="Calibri" pitchFamily="34" charset="-122"/>
                <a:cs typeface="Calibri" pitchFamily="34" charset="-120"/>
              </a:rPr>
              <a:t>SEEDED DEMO UI</a:t>
            </a:r>
            <a:endParaRPr lang="en-US" sz="1000" dirty="0"/>
          </a:p>
        </p:txBody>
      </p:sp>
      <p:sp>
        <p:nvSpPr>
          <p:cNvPr id="12" name="Text 9"/>
          <p:cNvSpPr txBox="1"/>
          <p:nvPr/>
        </p:nvSpPr>
        <p:spPr>
          <a:xfrm>
            <a:off x="704088" y="5266944"/>
            <a:ext cx="4956048" cy="713232"/>
          </a:xfrm>
          <a:prstGeom prst="rect">
            <a:avLst/>
          </a:prstGeom>
          <a:noFill/>
          <a:ln/>
        </p:spPr>
        <p:txBody>
          <a:bodyPr wrap="square" lIns="0" tIns="0" rIns="0" bIns="0" rtlCol="0" anchor="ctr"/>
          <a:lstStyle/>
          <a:p>
            <a:pPr indent="0" marL="0">
              <a:buNone/>
            </a:pPr>
            <a:r>
              <a:rPr lang="en-US" sz="1400" dirty="0">
                <a:solidFill>
                  <a:srgbClr val="3D2A57"/>
                </a:solidFill>
                <a:latin typeface="Calibri" pitchFamily="34" charset="0"/>
                <a:ea typeface="Calibri" pitchFamily="34" charset="-122"/>
                <a:cs typeface="Calibri" pitchFamily="34" charset="-120"/>
              </a:rPr>
              <a:t>Purchasing, receiving, stock, and payables stay on one history.</a:t>
            </a:r>
            <a:endParaRPr lang="en-US" sz="1400" dirty="0"/>
          </a:p>
        </p:txBody>
      </p:sp>
      <p:sp>
        <p:nvSpPr>
          <p:cNvPr id="13" name="Shape 10"/>
          <p:cNvSpPr/>
          <p:nvPr/>
        </p:nvSpPr>
        <p:spPr>
          <a:xfrm>
            <a:off x="6327648" y="1444752"/>
            <a:ext cx="5358384" cy="4773168"/>
          </a:xfrm>
          <a:prstGeom prst="roundRect">
            <a:avLst>
              <a:gd name="adj" fmla="val 2299"/>
            </a:avLst>
          </a:prstGeom>
          <a:solidFill>
            <a:srgbClr val="FFFFFF"/>
          </a:solidFill>
          <a:ln w="12700">
            <a:solidFill>
              <a:srgbClr val="FFFFFF"/>
            </a:solidFill>
            <a:prstDash val="solid"/>
          </a:ln>
          <a:effectLst>
            <a:outerShdw sx="100000" sy="100000" kx="0" ky="0" algn="bl" rotWithShape="0" blurRad="203200" dist="50800" dir="16200000">
              <a:srgbClr val="1E0B3A">
                <a:alpha val="10000"/>
              </a:srgbClr>
            </a:outerShdw>
          </a:effectLst>
        </p:spPr>
      </p:sp>
      <p:sp>
        <p:nvSpPr>
          <p:cNvPr id="14" name="Shape 11"/>
          <p:cNvSpPr/>
          <p:nvPr/>
        </p:nvSpPr>
        <p:spPr>
          <a:xfrm>
            <a:off x="6528816" y="1609344"/>
            <a:ext cx="1554480" cy="292608"/>
          </a:xfrm>
          <a:prstGeom prst="roundRect">
            <a:avLst>
              <a:gd name="adj" fmla="val 37500"/>
            </a:avLst>
          </a:prstGeom>
          <a:solidFill>
            <a:srgbClr val="EDE9FE"/>
          </a:solidFill>
          <a:ln w="12700">
            <a:solidFill>
              <a:srgbClr val="EDE9FE"/>
            </a:solidFill>
            <a:prstDash val="solid"/>
          </a:ln>
        </p:spPr>
      </p:sp>
      <p:sp>
        <p:nvSpPr>
          <p:cNvPr id="15" name="Text 12"/>
          <p:cNvSpPr txBox="1"/>
          <p:nvPr/>
        </p:nvSpPr>
        <p:spPr>
          <a:xfrm>
            <a:off x="6528816" y="1609344"/>
            <a:ext cx="1554480" cy="292608"/>
          </a:xfrm>
          <a:prstGeom prst="rect">
            <a:avLst/>
          </a:prstGeom>
          <a:noFill/>
          <a:ln/>
        </p:spPr>
        <p:txBody>
          <a:bodyPr wrap="square" lIns="0" tIns="0" rIns="0" bIns="0" rtlCol="0" anchor="ctr"/>
          <a:lstStyle/>
          <a:p>
            <a:pPr algn="ctr" indent="0" marL="0">
              <a:buNone/>
            </a:pPr>
            <a:r>
              <a:rPr lang="en-US" sz="1100" b="1" spc="70" kern="0" dirty="0">
                <a:solidFill>
                  <a:srgbClr val="5B21B6"/>
                </a:solidFill>
                <a:latin typeface="Calibri" pitchFamily="34" charset="0"/>
                <a:ea typeface="Calibri" pitchFamily="34" charset="-122"/>
                <a:cs typeface="Calibri" pitchFamily="34" charset="-120"/>
              </a:rPr>
              <a:t>SUPPLIERS</a:t>
            </a:r>
            <a:endParaRPr lang="en-US" sz="1100" dirty="0"/>
          </a:p>
        </p:txBody>
      </p:sp>
      <p:sp>
        <p:nvSpPr>
          <p:cNvPr id="16" name="Text 13"/>
          <p:cNvSpPr txBox="1"/>
          <p:nvPr/>
        </p:nvSpPr>
        <p:spPr>
          <a:xfrm>
            <a:off x="8202168" y="1591056"/>
            <a:ext cx="3246120" cy="329184"/>
          </a:xfrm>
          <a:prstGeom prst="rect">
            <a:avLst/>
          </a:prstGeom>
          <a:noFill/>
          <a:ln/>
        </p:spPr>
        <p:txBody>
          <a:bodyPr wrap="square" lIns="0" tIns="0" rIns="0" bIns="0" rtlCol="0" anchor="ctr"/>
          <a:lstStyle/>
          <a:p>
            <a:pPr indent="0" marL="0">
              <a:buNone/>
            </a:pPr>
            <a:r>
              <a:rPr lang="en-US" sz="1400" b="1" dirty="0">
                <a:solidFill>
                  <a:srgbClr val="1E0B3A"/>
                </a:solidFill>
                <a:latin typeface="Calibri" pitchFamily="34" charset="0"/>
                <a:ea typeface="Calibri" pitchFamily="34" charset="-122"/>
                <a:cs typeface="Calibri" pitchFamily="34" charset="-120"/>
              </a:rPr>
              <a:t>A plan—not another order inbox.</a:t>
            </a:r>
            <a:endParaRPr lang="en-US" sz="1400" dirty="0"/>
          </a:p>
        </p:txBody>
      </p:sp>
      <p:pic>
        <p:nvPicPr>
          <p:cNvPr id="17" name="Image 1" descr="C:\myProjects\supplify_erp\presentation_source\assets\screenshots\supplier-command-center.png">    </p:cNvPr>
          <p:cNvPicPr>
            <a:picLocks noChangeAspect="1"/>
          </p:cNvPicPr>
          <p:nvPr/>
        </p:nvPicPr>
        <p:blipFill>
          <a:blip r:embed="rId2"/>
          <a:stretch>
            <a:fillRect/>
          </a:stretch>
        </p:blipFill>
        <p:spPr>
          <a:xfrm>
            <a:off x="6528816" y="2048256"/>
            <a:ext cx="4956048" cy="3099816"/>
          </a:xfrm>
          <a:prstGeom prst="rect">
            <a:avLst/>
          </a:prstGeom>
        </p:spPr>
      </p:pic>
      <p:sp>
        <p:nvSpPr>
          <p:cNvPr id="18" name="Shape 14"/>
          <p:cNvSpPr/>
          <p:nvPr/>
        </p:nvSpPr>
        <p:spPr>
          <a:xfrm>
            <a:off x="6656832" y="4764024"/>
            <a:ext cx="1965960" cy="274320"/>
          </a:xfrm>
          <a:prstGeom prst="roundRect">
            <a:avLst>
              <a:gd name="adj" fmla="val 40000"/>
            </a:avLst>
          </a:prstGeom>
          <a:solidFill>
            <a:srgbClr val="1E0B3A"/>
          </a:solidFill>
          <a:ln w="12700">
            <a:solidFill>
              <a:srgbClr val="1E0B3A"/>
            </a:solidFill>
            <a:prstDash val="solid"/>
          </a:ln>
        </p:spPr>
      </p:sp>
      <p:sp>
        <p:nvSpPr>
          <p:cNvPr id="19" name="Text 15"/>
          <p:cNvSpPr txBox="1"/>
          <p:nvPr/>
        </p:nvSpPr>
        <p:spPr>
          <a:xfrm>
            <a:off x="6656832" y="4764024"/>
            <a:ext cx="1965960" cy="274320"/>
          </a:xfrm>
          <a:prstGeom prst="rect">
            <a:avLst/>
          </a:prstGeom>
          <a:noFill/>
          <a:ln/>
        </p:spPr>
        <p:txBody>
          <a:bodyPr wrap="square" lIns="0" tIns="0" rIns="0" bIns="0" rtlCol="0" anchor="ctr"/>
          <a:lstStyle/>
          <a:p>
            <a:pPr algn="ctr" indent="0" marL="0">
              <a:buNone/>
            </a:pPr>
            <a:r>
              <a:rPr lang="en-US" sz="1000" b="1" spc="50" kern="0" dirty="0">
                <a:solidFill>
                  <a:srgbClr val="FFFFFF"/>
                </a:solidFill>
                <a:latin typeface="Calibri" pitchFamily="34" charset="0"/>
                <a:ea typeface="Calibri" pitchFamily="34" charset="-122"/>
                <a:cs typeface="Calibri" pitchFamily="34" charset="-120"/>
              </a:rPr>
              <a:t>SEEDED DEMO UI</a:t>
            </a:r>
            <a:endParaRPr lang="en-US" sz="1000" dirty="0"/>
          </a:p>
        </p:txBody>
      </p:sp>
      <p:sp>
        <p:nvSpPr>
          <p:cNvPr id="20" name="Text 16"/>
          <p:cNvSpPr txBox="1"/>
          <p:nvPr/>
        </p:nvSpPr>
        <p:spPr>
          <a:xfrm>
            <a:off x="6528816" y="5266944"/>
            <a:ext cx="4956048" cy="713232"/>
          </a:xfrm>
          <a:prstGeom prst="rect">
            <a:avLst/>
          </a:prstGeom>
          <a:noFill/>
          <a:ln/>
        </p:spPr>
        <p:txBody>
          <a:bodyPr wrap="square" lIns="0" tIns="0" rIns="0" bIns="0" rtlCol="0" anchor="ctr"/>
          <a:lstStyle/>
          <a:p>
            <a:pPr indent="0" marL="0">
              <a:buNone/>
            </a:pPr>
            <a:r>
              <a:rPr lang="en-US" sz="1400" dirty="0">
                <a:solidFill>
                  <a:srgbClr val="3D2A57"/>
                </a:solidFill>
                <a:latin typeface="Calibri" pitchFamily="34" charset="0"/>
                <a:ea typeface="Calibri" pitchFamily="34" charset="-122"/>
                <a:cs typeface="Calibri" pitchFamily="34" charset="-120"/>
              </a:rPr>
              <a:t>Customer terms in. Warehouse, route, proof, and receivable out.</a:t>
            </a:r>
            <a:endParaRPr lang="en-US" sz="1400" dirty="0"/>
          </a:p>
        </p:txBody>
      </p:sp>
      <p:sp>
        <p:nvSpPr>
          <p:cNvPr id="21" name="Text 17"/>
          <p:cNvSpPr txBox="1"/>
          <p:nvPr/>
        </p:nvSpPr>
        <p:spPr>
          <a:xfrm>
            <a:off x="530352" y="6528816"/>
            <a:ext cx="5486400" cy="201168"/>
          </a:xfrm>
          <a:prstGeom prst="rect">
            <a:avLst/>
          </a:prstGeom>
          <a:noFill/>
          <a:ln/>
        </p:spPr>
        <p:txBody>
          <a:bodyPr wrap="square" lIns="0" tIns="0" rIns="0" bIns="0" rtlCol="0" anchor="t"/>
          <a:lstStyle/>
          <a:p>
            <a:pPr indent="0" marL="0">
              <a:buNone/>
            </a:pPr>
            <a:r>
              <a:rPr lang="en-US" sz="1100" spc="110" kern="0" dirty="0">
                <a:solidFill>
                  <a:srgbClr val="9A94A8"/>
                </a:solidFill>
                <a:latin typeface="Calibri" pitchFamily="34" charset="0"/>
                <a:ea typeface="Calibri" pitchFamily="34" charset="-122"/>
                <a:cs typeface="Calibri" pitchFamily="34" charset="-120"/>
              </a:rPr>
              <a:t>SUPPLIFY   ·   STAKEHOLDER BRIEF</a:t>
            </a:r>
            <a:endParaRPr lang="en-US" sz="1100" dirty="0"/>
          </a:p>
        </p:txBody>
      </p:sp>
      <p:sp>
        <p:nvSpPr>
          <p:cNvPr id="22" name="Text 18"/>
          <p:cNvSpPr txBox="1"/>
          <p:nvPr/>
        </p:nvSpPr>
        <p:spPr>
          <a:xfrm>
            <a:off x="10881360" y="6528816"/>
            <a:ext cx="777240" cy="201168"/>
          </a:xfrm>
          <a:prstGeom prst="rect">
            <a:avLst/>
          </a:prstGeom>
          <a:noFill/>
          <a:ln/>
        </p:spPr>
        <p:txBody>
          <a:bodyPr wrap="square" lIns="0" tIns="0" rIns="0" bIns="0" rtlCol="0" anchor="t"/>
          <a:lstStyle/>
          <a:p>
            <a:pPr algn="r" indent="0" marL="0">
              <a:buNone/>
            </a:pPr>
            <a:r>
              <a:rPr lang="en-US" sz="1200" b="1" dirty="0">
                <a:solidFill>
                  <a:srgbClr val="7C3AED"/>
                </a:solidFill>
                <a:latin typeface="Calibri" pitchFamily="34" charset="0"/>
                <a:ea typeface="Calibri" pitchFamily="34" charset="-122"/>
                <a:cs typeface="Calibri"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C"/>
        </a:solidFill>
      </p:bgPr>
    </p:bg>
    <p:spTree>
      <p:nvGrpSpPr>
        <p:cNvPr id="1" name=""/>
        <p:cNvGrpSpPr/>
        <p:nvPr/>
      </p:nvGrpSpPr>
      <p:grpSpPr>
        <a:xfrm>
          <a:off x="0" y="0"/>
          <a:ext cx="0" cy="0"/>
          <a:chOff x="0" y="0"/>
          <a:chExt cx="0" cy="0"/>
        </a:xfrm>
      </p:grpSpPr>
      <p:sp>
        <p:nvSpPr>
          <p:cNvPr id="2" name="Text 0"/>
          <p:cNvSpPr txBox="1"/>
          <p:nvPr/>
        </p:nvSpPr>
        <p:spPr>
          <a:xfrm>
            <a:off x="530352" y="292608"/>
            <a:ext cx="7315200" cy="219456"/>
          </a:xfrm>
          <a:prstGeom prst="rect">
            <a:avLst/>
          </a:prstGeom>
          <a:noFill/>
          <a:ln/>
        </p:spPr>
        <p:txBody>
          <a:bodyPr wrap="square" lIns="0" tIns="0" rIns="0" bIns="0" rtlCol="0" anchor="t"/>
          <a:lstStyle/>
          <a:p>
            <a:pPr indent="0" marL="0">
              <a:buNone/>
            </a:pPr>
            <a:r>
              <a:rPr lang="en-US" sz="1200" b="1" spc="160" kern="0" dirty="0">
                <a:solidFill>
                  <a:srgbClr val="7C3AED"/>
                </a:solidFill>
                <a:latin typeface="Calibri" pitchFamily="34" charset="0"/>
                <a:ea typeface="Calibri" pitchFamily="34" charset="-122"/>
                <a:cs typeface="Calibri" pitchFamily="34" charset="-120"/>
              </a:rPr>
              <a:t>HOW THE RECORD STAYS TRUE</a:t>
            </a:r>
            <a:endParaRPr lang="en-US" sz="1200" dirty="0"/>
          </a:p>
        </p:txBody>
      </p:sp>
      <p:sp>
        <p:nvSpPr>
          <p:cNvPr id="3" name="Text 1"/>
          <p:cNvSpPr txBox="1"/>
          <p:nvPr/>
        </p:nvSpPr>
        <p:spPr>
          <a:xfrm>
            <a:off x="512064" y="512064"/>
            <a:ext cx="11155680" cy="438912"/>
          </a:xfrm>
          <a:prstGeom prst="rect">
            <a:avLst/>
          </a:prstGeom>
          <a:noFill/>
          <a:ln/>
        </p:spPr>
        <p:txBody>
          <a:bodyPr wrap="square" lIns="0" tIns="0" rIns="0" bIns="0" rtlCol="0" anchor="t"/>
          <a:lstStyle/>
          <a:p>
            <a:pPr indent="0" marL="0">
              <a:buNone/>
            </a:pPr>
            <a:r>
              <a:rPr lang="en-US" sz="3000" b="1" dirty="0">
                <a:solidFill>
                  <a:srgbClr val="1E0B3A"/>
                </a:solidFill>
                <a:latin typeface="Calibri" pitchFamily="34" charset="0"/>
                <a:ea typeface="Calibri" pitchFamily="34" charset="-122"/>
                <a:cs typeface="Calibri" pitchFamily="34" charset="-120"/>
              </a:rPr>
              <a:t>Delivered is not received. Invoiced is not paid.</a:t>
            </a:r>
            <a:endParaRPr lang="en-US" sz="3000" dirty="0"/>
          </a:p>
        </p:txBody>
      </p:sp>
      <p:sp>
        <p:nvSpPr>
          <p:cNvPr id="4" name="Text 2"/>
          <p:cNvSpPr txBox="1"/>
          <p:nvPr/>
        </p:nvSpPr>
        <p:spPr>
          <a:xfrm>
            <a:off x="530352" y="1024128"/>
            <a:ext cx="10972800" cy="274320"/>
          </a:xfrm>
          <a:prstGeom prst="rect">
            <a:avLst/>
          </a:prstGeom>
          <a:noFill/>
          <a:ln/>
        </p:spPr>
        <p:txBody>
          <a:bodyPr wrap="square" lIns="0" tIns="0" rIns="0" bIns="0" rtlCol="0" anchor="t"/>
          <a:lstStyle/>
          <a:p>
            <a:pPr indent="0" marL="0">
              <a:buNone/>
            </a:pPr>
            <a:r>
              <a:rPr lang="en-US" sz="1600" dirty="0">
                <a:solidFill>
                  <a:srgbClr val="5C5670"/>
                </a:solidFill>
                <a:latin typeface="Calibri" pitchFamily="34" charset="0"/>
                <a:ea typeface="Calibri" pitchFamily="34" charset="-122"/>
                <a:cs typeface="Calibri" pitchFamily="34" charset="-120"/>
              </a:rPr>
              <a:t>Same order. Separate events. Mixing them is how disputes start.</a:t>
            </a:r>
            <a:endParaRPr lang="en-US" sz="1600" dirty="0"/>
          </a:p>
        </p:txBody>
      </p:sp>
      <p:sp>
        <p:nvSpPr>
          <p:cNvPr id="5" name="Shape 3"/>
          <p:cNvSpPr/>
          <p:nvPr/>
        </p:nvSpPr>
        <p:spPr>
          <a:xfrm>
            <a:off x="502920" y="1481328"/>
            <a:ext cx="2176272" cy="2944368"/>
          </a:xfrm>
          <a:prstGeom prst="roundRect">
            <a:avLst>
              <a:gd name="adj" fmla="val 5042"/>
            </a:avLst>
          </a:prstGeom>
          <a:solidFill>
            <a:srgbClr val="FFFFFF"/>
          </a:solidFill>
          <a:ln w="12700">
            <a:solidFill>
              <a:srgbClr val="FFFFFF"/>
            </a:solidFill>
            <a:prstDash val="solid"/>
          </a:ln>
          <a:effectLst>
            <a:outerShdw sx="100000" sy="100000" kx="0" ky="0" algn="bl" rotWithShape="0" blurRad="203200" dist="50800" dir="16200000">
              <a:srgbClr val="1E0B3A">
                <a:alpha val="10000"/>
              </a:srgbClr>
            </a:outerShdw>
          </a:effectLst>
        </p:spPr>
      </p:sp>
      <p:sp>
        <p:nvSpPr>
          <p:cNvPr id="6" name="Shape 4"/>
          <p:cNvSpPr/>
          <p:nvPr/>
        </p:nvSpPr>
        <p:spPr>
          <a:xfrm>
            <a:off x="1325880" y="1664208"/>
            <a:ext cx="475488" cy="475488"/>
          </a:xfrm>
          <a:prstGeom prst="ellipse">
            <a:avLst/>
          </a:prstGeom>
          <a:solidFill>
            <a:srgbClr val="7C3AED"/>
          </a:solidFill>
          <a:ln w="12700">
            <a:solidFill>
              <a:srgbClr val="7C3AED"/>
            </a:solidFill>
            <a:prstDash val="solid"/>
          </a:ln>
        </p:spPr>
      </p:sp>
      <p:sp>
        <p:nvSpPr>
          <p:cNvPr id="7" name="Text 5"/>
          <p:cNvSpPr txBox="1"/>
          <p:nvPr/>
        </p:nvSpPr>
        <p:spPr>
          <a:xfrm>
            <a:off x="1325880" y="166420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612648" y="2267712"/>
            <a:ext cx="1956816" cy="329184"/>
          </a:xfrm>
          <a:prstGeom prst="rect">
            <a:avLst/>
          </a:prstGeom>
          <a:noFill/>
          <a:ln/>
        </p:spPr>
        <p:txBody>
          <a:bodyPr wrap="square" lIns="0" tIns="0" rIns="0" bIns="0" rtlCol="0" anchor="t"/>
          <a:lstStyle/>
          <a:p>
            <a:pPr algn="ctr" indent="0" marL="0">
              <a:buNone/>
            </a:pPr>
            <a:r>
              <a:rPr lang="en-US" sz="1500" b="1" dirty="0">
                <a:solidFill>
                  <a:srgbClr val="1E0B3A"/>
                </a:solidFill>
                <a:latin typeface="Calibri" pitchFamily="34" charset="0"/>
                <a:ea typeface="Calibri" pitchFamily="34" charset="-122"/>
                <a:cs typeface="Calibri" pitchFamily="34" charset="-120"/>
              </a:rPr>
              <a:t>SOURCE</a:t>
            </a:r>
            <a:endParaRPr lang="en-US" sz="1500" dirty="0"/>
          </a:p>
        </p:txBody>
      </p:sp>
      <p:sp>
        <p:nvSpPr>
          <p:cNvPr id="9" name="Text 7"/>
          <p:cNvSpPr txBox="1"/>
          <p:nvPr/>
        </p:nvSpPr>
        <p:spPr>
          <a:xfrm>
            <a:off x="649224" y="2670048"/>
            <a:ext cx="1883664" cy="1417320"/>
          </a:xfrm>
          <a:prstGeom prst="rect">
            <a:avLst/>
          </a:prstGeom>
          <a:noFill/>
          <a:ln/>
        </p:spPr>
        <p:txBody>
          <a:bodyPr wrap="square" lIns="0" tIns="0" rIns="0" bIns="0" rtlCol="0" anchor="t"/>
          <a:lstStyle/>
          <a:p>
            <a:pPr algn="ctr" indent="0" marL="0">
              <a:buNone/>
            </a:pPr>
            <a:r>
              <a:rPr lang="en-US" sz="1400" dirty="0">
                <a:solidFill>
                  <a:srgbClr val="5C5670"/>
                </a:solidFill>
                <a:latin typeface="Calibri" pitchFamily="34" charset="0"/>
                <a:ea typeface="Calibri" pitchFamily="34" charset="-122"/>
                <a:cs typeface="Calibri" pitchFamily="34" charset="-120"/>
              </a:rPr>
              <a:t>Catalog</a:t>
            </a:r>
            <a:endParaRPr lang="en-US" sz="1400" dirty="0"/>
          </a:p>
          <a:p>
            <a:pPr algn="ctr" indent="0" marL="0">
              <a:buNone/>
            </a:pPr>
            <a:r>
              <a:rPr lang="en-US" sz="1400" dirty="0">
                <a:solidFill>
                  <a:srgbClr val="5C5670"/>
                </a:solidFill>
                <a:latin typeface="Calibri" pitchFamily="34" charset="0"/>
                <a:ea typeface="Calibri" pitchFamily="34" charset="-122"/>
                <a:cs typeface="Calibri" pitchFamily="34" charset="-120"/>
              </a:rPr>
              <a:t>Relationship</a:t>
            </a:r>
            <a:endParaRPr lang="en-US" sz="1400" dirty="0"/>
          </a:p>
          <a:p>
            <a:pPr algn="ctr" indent="0" marL="0">
              <a:buNone/>
            </a:pPr>
            <a:r>
              <a:rPr lang="en-US" sz="1400" dirty="0">
                <a:solidFill>
                  <a:srgbClr val="5C5670"/>
                </a:solidFill>
                <a:latin typeface="Calibri" pitchFamily="34" charset="0"/>
                <a:ea typeface="Calibri" pitchFamily="34" charset="-122"/>
                <a:cs typeface="Calibri" pitchFamily="34" charset="-120"/>
              </a:rPr>
              <a:t>RFQ</a:t>
            </a:r>
            <a:endParaRPr lang="en-US" sz="1400" dirty="0"/>
          </a:p>
        </p:txBody>
      </p:sp>
      <p:sp>
        <p:nvSpPr>
          <p:cNvPr id="10" name="Text 8"/>
          <p:cNvSpPr txBox="1"/>
          <p:nvPr/>
        </p:nvSpPr>
        <p:spPr>
          <a:xfrm>
            <a:off x="2587752" y="2606040"/>
            <a:ext cx="256032" cy="292608"/>
          </a:xfrm>
          <a:prstGeom prst="rect">
            <a:avLst/>
          </a:prstGeom>
          <a:noFill/>
          <a:ln/>
        </p:spPr>
        <p:txBody>
          <a:bodyPr wrap="square" lIns="0" tIns="0" rIns="0" bIns="0" rtlCol="0" anchor="t"/>
          <a:lstStyle/>
          <a:p>
            <a:pPr algn="ctr" indent="0" marL="0">
              <a:buNone/>
            </a:pPr>
            <a:r>
              <a:rPr lang="en-US" sz="1400" dirty="0">
                <a:solidFill>
                  <a:srgbClr val="A78BFA"/>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2807208" y="1481328"/>
            <a:ext cx="2176272" cy="2944368"/>
          </a:xfrm>
          <a:prstGeom prst="roundRect">
            <a:avLst>
              <a:gd name="adj" fmla="val 5042"/>
            </a:avLst>
          </a:prstGeom>
          <a:solidFill>
            <a:srgbClr val="FFFFFF"/>
          </a:solidFill>
          <a:ln w="12700">
            <a:solidFill>
              <a:srgbClr val="FFFFFF"/>
            </a:solidFill>
            <a:prstDash val="solid"/>
          </a:ln>
          <a:effectLst>
            <a:outerShdw sx="100000" sy="100000" kx="0" ky="0" algn="bl" rotWithShape="0" blurRad="203200" dist="50800" dir="16200000">
              <a:srgbClr val="1E0B3A">
                <a:alpha val="10000"/>
              </a:srgbClr>
            </a:outerShdw>
          </a:effectLst>
        </p:spPr>
      </p:sp>
      <p:sp>
        <p:nvSpPr>
          <p:cNvPr id="12" name="Shape 10"/>
          <p:cNvSpPr/>
          <p:nvPr/>
        </p:nvSpPr>
        <p:spPr>
          <a:xfrm>
            <a:off x="3630168" y="1664208"/>
            <a:ext cx="475488" cy="475488"/>
          </a:xfrm>
          <a:prstGeom prst="ellipse">
            <a:avLst/>
          </a:prstGeom>
          <a:solidFill>
            <a:srgbClr val="5B21B6"/>
          </a:solidFill>
          <a:ln w="12700">
            <a:solidFill>
              <a:srgbClr val="5B21B6"/>
            </a:solidFill>
            <a:prstDash val="solid"/>
          </a:ln>
        </p:spPr>
      </p:sp>
      <p:sp>
        <p:nvSpPr>
          <p:cNvPr id="13" name="Text 11"/>
          <p:cNvSpPr txBox="1"/>
          <p:nvPr/>
        </p:nvSpPr>
        <p:spPr>
          <a:xfrm>
            <a:off x="3630168" y="166420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txBox="1"/>
          <p:nvPr/>
        </p:nvSpPr>
        <p:spPr>
          <a:xfrm>
            <a:off x="2916936" y="2267712"/>
            <a:ext cx="1956816" cy="329184"/>
          </a:xfrm>
          <a:prstGeom prst="rect">
            <a:avLst/>
          </a:prstGeom>
          <a:noFill/>
          <a:ln/>
        </p:spPr>
        <p:txBody>
          <a:bodyPr wrap="square" lIns="0" tIns="0" rIns="0" bIns="0" rtlCol="0" anchor="t"/>
          <a:lstStyle/>
          <a:p>
            <a:pPr algn="ctr" indent="0" marL="0">
              <a:buNone/>
            </a:pPr>
            <a:r>
              <a:rPr lang="en-US" sz="1500" b="1" dirty="0">
                <a:solidFill>
                  <a:srgbClr val="1E0B3A"/>
                </a:solidFill>
                <a:latin typeface="Calibri" pitchFamily="34" charset="0"/>
                <a:ea typeface="Calibri" pitchFamily="34" charset="-122"/>
                <a:cs typeface="Calibri" pitchFamily="34" charset="-120"/>
              </a:rPr>
              <a:t>COMMIT</a:t>
            </a:r>
            <a:endParaRPr lang="en-US" sz="1500" dirty="0"/>
          </a:p>
        </p:txBody>
      </p:sp>
      <p:sp>
        <p:nvSpPr>
          <p:cNvPr id="15" name="Text 13"/>
          <p:cNvSpPr txBox="1"/>
          <p:nvPr/>
        </p:nvSpPr>
        <p:spPr>
          <a:xfrm>
            <a:off x="2953512" y="2670048"/>
            <a:ext cx="1883664" cy="1417320"/>
          </a:xfrm>
          <a:prstGeom prst="rect">
            <a:avLst/>
          </a:prstGeom>
          <a:noFill/>
          <a:ln/>
        </p:spPr>
        <p:txBody>
          <a:bodyPr wrap="square" lIns="0" tIns="0" rIns="0" bIns="0" rtlCol="0" anchor="t"/>
          <a:lstStyle/>
          <a:p>
            <a:pPr algn="ctr" indent="0" marL="0">
              <a:buNone/>
            </a:pPr>
            <a:r>
              <a:rPr lang="en-US" sz="1400" dirty="0">
                <a:solidFill>
                  <a:srgbClr val="5C5670"/>
                </a:solidFill>
                <a:latin typeface="Calibri" pitchFamily="34" charset="0"/>
                <a:ea typeface="Calibri" pitchFamily="34" charset="-122"/>
                <a:cs typeface="Calibri" pitchFamily="34" charset="-120"/>
              </a:rPr>
              <a:t>Price resolves</a:t>
            </a:r>
            <a:endParaRPr lang="en-US" sz="1400" dirty="0"/>
          </a:p>
          <a:p>
            <a:pPr algn="ctr" indent="0" marL="0">
              <a:buNone/>
            </a:pPr>
            <a:r>
              <a:rPr lang="en-US" sz="1400" dirty="0">
                <a:solidFill>
                  <a:srgbClr val="5C5670"/>
                </a:solidFill>
                <a:latin typeface="Calibri" pitchFamily="34" charset="0"/>
                <a:ea typeface="Calibri" pitchFamily="34" charset="-122"/>
                <a:cs typeface="Calibri" pitchFamily="34" charset="-120"/>
              </a:rPr>
              <a:t>Quote locks</a:t>
            </a:r>
            <a:endParaRPr lang="en-US" sz="1400" dirty="0"/>
          </a:p>
          <a:p>
            <a:pPr algn="ctr" indent="0" marL="0">
              <a:buNone/>
            </a:pPr>
            <a:r>
              <a:rPr lang="en-US" sz="1400" dirty="0">
                <a:solidFill>
                  <a:srgbClr val="5C5670"/>
                </a:solidFill>
                <a:latin typeface="Calibri" pitchFamily="34" charset="0"/>
                <a:ea typeface="Calibri" pitchFamily="34" charset="-122"/>
                <a:cs typeface="Calibri" pitchFamily="34" charset="-120"/>
              </a:rPr>
              <a:t>Server rechecks</a:t>
            </a:r>
            <a:endParaRPr lang="en-US" sz="1400" dirty="0"/>
          </a:p>
        </p:txBody>
      </p:sp>
      <p:sp>
        <p:nvSpPr>
          <p:cNvPr id="16" name="Text 14"/>
          <p:cNvSpPr txBox="1"/>
          <p:nvPr/>
        </p:nvSpPr>
        <p:spPr>
          <a:xfrm>
            <a:off x="4892040" y="2606040"/>
            <a:ext cx="256032" cy="292608"/>
          </a:xfrm>
          <a:prstGeom prst="rect">
            <a:avLst/>
          </a:prstGeom>
          <a:noFill/>
          <a:ln/>
        </p:spPr>
        <p:txBody>
          <a:bodyPr wrap="square" lIns="0" tIns="0" rIns="0" bIns="0" rtlCol="0" anchor="t"/>
          <a:lstStyle/>
          <a:p>
            <a:pPr algn="ctr" indent="0" marL="0">
              <a:buNone/>
            </a:pPr>
            <a:r>
              <a:rPr lang="en-US" sz="1400" dirty="0">
                <a:solidFill>
                  <a:srgbClr val="A78BFA"/>
                </a:solidFill>
                <a:latin typeface="Calibri" pitchFamily="34" charset="0"/>
                <a:ea typeface="Calibri" pitchFamily="34" charset="-122"/>
                <a:cs typeface="Calibri" pitchFamily="34" charset="-120"/>
              </a:rPr>
              <a:t>→</a:t>
            </a:r>
            <a:endParaRPr lang="en-US" sz="1400" dirty="0"/>
          </a:p>
        </p:txBody>
      </p:sp>
      <p:sp>
        <p:nvSpPr>
          <p:cNvPr id="17" name="Shape 15"/>
          <p:cNvSpPr/>
          <p:nvPr/>
        </p:nvSpPr>
        <p:spPr>
          <a:xfrm>
            <a:off x="5111496" y="1481328"/>
            <a:ext cx="2176272" cy="2944368"/>
          </a:xfrm>
          <a:prstGeom prst="roundRect">
            <a:avLst>
              <a:gd name="adj" fmla="val 5042"/>
            </a:avLst>
          </a:prstGeom>
          <a:solidFill>
            <a:srgbClr val="FFFFFF"/>
          </a:solidFill>
          <a:ln w="12700">
            <a:solidFill>
              <a:srgbClr val="FFFFFF"/>
            </a:solidFill>
            <a:prstDash val="solid"/>
          </a:ln>
          <a:effectLst>
            <a:outerShdw sx="100000" sy="100000" kx="0" ky="0" algn="bl" rotWithShape="0" blurRad="203200" dist="50800" dir="16200000">
              <a:srgbClr val="1E0B3A">
                <a:alpha val="10000"/>
              </a:srgbClr>
            </a:outerShdw>
          </a:effectLst>
        </p:spPr>
      </p:sp>
      <p:sp>
        <p:nvSpPr>
          <p:cNvPr id="18" name="Shape 16"/>
          <p:cNvSpPr/>
          <p:nvPr/>
        </p:nvSpPr>
        <p:spPr>
          <a:xfrm>
            <a:off x="5934456" y="1664208"/>
            <a:ext cx="475488" cy="475488"/>
          </a:xfrm>
          <a:prstGeom prst="ellipse">
            <a:avLst/>
          </a:prstGeom>
          <a:solidFill>
            <a:srgbClr val="6D28D9"/>
          </a:solidFill>
          <a:ln w="12700">
            <a:solidFill>
              <a:srgbClr val="6D28D9"/>
            </a:solidFill>
            <a:prstDash val="solid"/>
          </a:ln>
        </p:spPr>
      </p:sp>
      <p:sp>
        <p:nvSpPr>
          <p:cNvPr id="19" name="Text 17"/>
          <p:cNvSpPr txBox="1"/>
          <p:nvPr/>
        </p:nvSpPr>
        <p:spPr>
          <a:xfrm>
            <a:off x="5934456" y="166420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txBox="1"/>
          <p:nvPr/>
        </p:nvSpPr>
        <p:spPr>
          <a:xfrm>
            <a:off x="5221224" y="2267712"/>
            <a:ext cx="1956816" cy="329184"/>
          </a:xfrm>
          <a:prstGeom prst="rect">
            <a:avLst/>
          </a:prstGeom>
          <a:noFill/>
          <a:ln/>
        </p:spPr>
        <p:txBody>
          <a:bodyPr wrap="square" lIns="0" tIns="0" rIns="0" bIns="0" rtlCol="0" anchor="t"/>
          <a:lstStyle/>
          <a:p>
            <a:pPr algn="ctr" indent="0" marL="0">
              <a:buNone/>
            </a:pPr>
            <a:r>
              <a:rPr lang="en-US" sz="1500" b="1" dirty="0">
                <a:solidFill>
                  <a:srgbClr val="1E0B3A"/>
                </a:solidFill>
                <a:latin typeface="Calibri" pitchFamily="34" charset="0"/>
                <a:ea typeface="Calibri" pitchFamily="34" charset="-122"/>
                <a:cs typeface="Calibri" pitchFamily="34" charset="-120"/>
              </a:rPr>
              <a:t>FULFILL</a:t>
            </a:r>
            <a:endParaRPr lang="en-US" sz="1500" dirty="0"/>
          </a:p>
        </p:txBody>
      </p:sp>
      <p:sp>
        <p:nvSpPr>
          <p:cNvPr id="21" name="Text 19"/>
          <p:cNvSpPr txBox="1"/>
          <p:nvPr/>
        </p:nvSpPr>
        <p:spPr>
          <a:xfrm>
            <a:off x="5257800" y="2670048"/>
            <a:ext cx="1883664" cy="1417320"/>
          </a:xfrm>
          <a:prstGeom prst="rect">
            <a:avLst/>
          </a:prstGeom>
          <a:noFill/>
          <a:ln/>
        </p:spPr>
        <p:txBody>
          <a:bodyPr wrap="square" lIns="0" tIns="0" rIns="0" bIns="0" rtlCol="0" anchor="t"/>
          <a:lstStyle/>
          <a:p>
            <a:pPr algn="ctr" indent="0" marL="0">
              <a:buNone/>
            </a:pPr>
            <a:r>
              <a:rPr lang="en-US" sz="1400" dirty="0">
                <a:solidFill>
                  <a:srgbClr val="5C5670"/>
                </a:solidFill>
                <a:latin typeface="Calibri" pitchFamily="34" charset="0"/>
                <a:ea typeface="Calibri" pitchFamily="34" charset="-122"/>
                <a:cs typeface="Calibri" pitchFamily="34" charset="-120"/>
              </a:rPr>
              <a:t>Reserve</a:t>
            </a:r>
            <a:endParaRPr lang="en-US" sz="1400" dirty="0"/>
          </a:p>
          <a:p>
            <a:pPr algn="ctr" indent="0" marL="0">
              <a:buNone/>
            </a:pPr>
            <a:r>
              <a:rPr lang="en-US" sz="1400" dirty="0">
                <a:solidFill>
                  <a:srgbClr val="5C5670"/>
                </a:solidFill>
                <a:latin typeface="Calibri" pitchFamily="34" charset="0"/>
                <a:ea typeface="Calibri" pitchFamily="34" charset="-122"/>
                <a:cs typeface="Calibri" pitchFamily="34" charset="-120"/>
              </a:rPr>
              <a:t>Pick and pack</a:t>
            </a:r>
            <a:endParaRPr lang="en-US" sz="1400" dirty="0"/>
          </a:p>
          <a:p>
            <a:pPr algn="ctr" indent="0" marL="0">
              <a:buNone/>
            </a:pPr>
            <a:r>
              <a:rPr lang="en-US" sz="1400" dirty="0">
                <a:solidFill>
                  <a:srgbClr val="5C5670"/>
                </a:solidFill>
                <a:latin typeface="Calibri" pitchFamily="34" charset="0"/>
                <a:ea typeface="Calibri" pitchFamily="34" charset="-122"/>
                <a:cs typeface="Calibri" pitchFamily="34" charset="-120"/>
              </a:rPr>
              <a:t>Assign</a:t>
            </a:r>
            <a:endParaRPr lang="en-US" sz="1400" dirty="0"/>
          </a:p>
        </p:txBody>
      </p:sp>
      <p:sp>
        <p:nvSpPr>
          <p:cNvPr id="22" name="Text 20"/>
          <p:cNvSpPr txBox="1"/>
          <p:nvPr/>
        </p:nvSpPr>
        <p:spPr>
          <a:xfrm>
            <a:off x="7196328" y="2606040"/>
            <a:ext cx="256032" cy="292608"/>
          </a:xfrm>
          <a:prstGeom prst="rect">
            <a:avLst/>
          </a:prstGeom>
          <a:noFill/>
          <a:ln/>
        </p:spPr>
        <p:txBody>
          <a:bodyPr wrap="square" lIns="0" tIns="0" rIns="0" bIns="0" rtlCol="0" anchor="t"/>
          <a:lstStyle/>
          <a:p>
            <a:pPr algn="ctr" indent="0" marL="0">
              <a:buNone/>
            </a:pPr>
            <a:r>
              <a:rPr lang="en-US" sz="1400" dirty="0">
                <a:solidFill>
                  <a:srgbClr val="A78BFA"/>
                </a:solidFill>
                <a:latin typeface="Calibri" pitchFamily="34" charset="0"/>
                <a:ea typeface="Calibri" pitchFamily="34" charset="-122"/>
                <a:cs typeface="Calibri" pitchFamily="34" charset="-120"/>
              </a:rPr>
              <a:t>→</a:t>
            </a:r>
            <a:endParaRPr lang="en-US" sz="1400" dirty="0"/>
          </a:p>
        </p:txBody>
      </p:sp>
      <p:sp>
        <p:nvSpPr>
          <p:cNvPr id="23" name="Shape 21"/>
          <p:cNvSpPr/>
          <p:nvPr/>
        </p:nvSpPr>
        <p:spPr>
          <a:xfrm>
            <a:off x="7415784" y="1481328"/>
            <a:ext cx="2176272" cy="2944368"/>
          </a:xfrm>
          <a:prstGeom prst="roundRect">
            <a:avLst>
              <a:gd name="adj" fmla="val 5042"/>
            </a:avLst>
          </a:prstGeom>
          <a:solidFill>
            <a:srgbClr val="FFFFFF"/>
          </a:solidFill>
          <a:ln w="12700">
            <a:solidFill>
              <a:srgbClr val="FFFFFF"/>
            </a:solidFill>
            <a:prstDash val="solid"/>
          </a:ln>
          <a:effectLst>
            <a:outerShdw sx="100000" sy="100000" kx="0" ky="0" algn="bl" rotWithShape="0" blurRad="203200" dist="50800" dir="16200000">
              <a:srgbClr val="1E0B3A">
                <a:alpha val="10000"/>
              </a:srgbClr>
            </a:outerShdw>
          </a:effectLst>
        </p:spPr>
      </p:sp>
      <p:sp>
        <p:nvSpPr>
          <p:cNvPr id="24" name="Shape 22"/>
          <p:cNvSpPr/>
          <p:nvPr/>
        </p:nvSpPr>
        <p:spPr>
          <a:xfrm>
            <a:off x="8238744" y="1664208"/>
            <a:ext cx="475488" cy="475488"/>
          </a:xfrm>
          <a:prstGeom prst="ellipse">
            <a:avLst/>
          </a:prstGeom>
          <a:solidFill>
            <a:srgbClr val="F59E0B"/>
          </a:solidFill>
          <a:ln w="12700">
            <a:solidFill>
              <a:srgbClr val="F59E0B"/>
            </a:solidFill>
            <a:prstDash val="solid"/>
          </a:ln>
        </p:spPr>
      </p:sp>
      <p:sp>
        <p:nvSpPr>
          <p:cNvPr id="25" name="Text 23"/>
          <p:cNvSpPr txBox="1"/>
          <p:nvPr/>
        </p:nvSpPr>
        <p:spPr>
          <a:xfrm>
            <a:off x="8238744" y="166420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Text 24"/>
          <p:cNvSpPr txBox="1"/>
          <p:nvPr/>
        </p:nvSpPr>
        <p:spPr>
          <a:xfrm>
            <a:off x="7525512" y="2267712"/>
            <a:ext cx="1956816" cy="329184"/>
          </a:xfrm>
          <a:prstGeom prst="rect">
            <a:avLst/>
          </a:prstGeom>
          <a:noFill/>
          <a:ln/>
        </p:spPr>
        <p:txBody>
          <a:bodyPr wrap="square" lIns="0" tIns="0" rIns="0" bIns="0" rtlCol="0" anchor="t"/>
          <a:lstStyle/>
          <a:p>
            <a:pPr algn="ctr" indent="0" marL="0">
              <a:buNone/>
            </a:pPr>
            <a:r>
              <a:rPr lang="en-US" sz="1500" b="1" dirty="0">
                <a:solidFill>
                  <a:srgbClr val="1E0B3A"/>
                </a:solidFill>
                <a:latin typeface="Calibri" pitchFamily="34" charset="0"/>
                <a:ea typeface="Calibri" pitchFamily="34" charset="-122"/>
                <a:cs typeface="Calibri" pitchFamily="34" charset="-120"/>
              </a:rPr>
              <a:t>DELIVER</a:t>
            </a:r>
            <a:endParaRPr lang="en-US" sz="1500" dirty="0"/>
          </a:p>
        </p:txBody>
      </p:sp>
      <p:sp>
        <p:nvSpPr>
          <p:cNvPr id="27" name="Text 25"/>
          <p:cNvSpPr txBox="1"/>
          <p:nvPr/>
        </p:nvSpPr>
        <p:spPr>
          <a:xfrm>
            <a:off x="7562088" y="2670048"/>
            <a:ext cx="1883664" cy="1417320"/>
          </a:xfrm>
          <a:prstGeom prst="rect">
            <a:avLst/>
          </a:prstGeom>
          <a:noFill/>
          <a:ln/>
        </p:spPr>
        <p:txBody>
          <a:bodyPr wrap="square" lIns="0" tIns="0" rIns="0" bIns="0" rtlCol="0" anchor="t"/>
          <a:lstStyle/>
          <a:p>
            <a:pPr algn="ctr" indent="0" marL="0">
              <a:buNone/>
            </a:pPr>
            <a:r>
              <a:rPr lang="en-US" sz="1400" dirty="0">
                <a:solidFill>
                  <a:srgbClr val="5C5670"/>
                </a:solidFill>
                <a:latin typeface="Calibri" pitchFamily="34" charset="0"/>
                <a:ea typeface="Calibri" pitchFamily="34" charset="-122"/>
                <a:cs typeface="Calibri" pitchFamily="34" charset="-120"/>
              </a:rPr>
              <a:t>Route</a:t>
            </a:r>
            <a:endParaRPr lang="en-US" sz="1400" dirty="0"/>
          </a:p>
          <a:p>
            <a:pPr algn="ctr" indent="0" marL="0">
              <a:buNone/>
            </a:pPr>
            <a:r>
              <a:rPr lang="en-US" sz="1400" dirty="0">
                <a:solidFill>
                  <a:srgbClr val="5C5670"/>
                </a:solidFill>
                <a:latin typeface="Calibri" pitchFamily="34" charset="0"/>
                <a:ea typeface="Calibri" pitchFamily="34" charset="-122"/>
                <a:cs typeface="Calibri" pitchFamily="34" charset="-120"/>
              </a:rPr>
              <a:t>Driver status</a:t>
            </a:r>
            <a:endParaRPr lang="en-US" sz="1400" dirty="0"/>
          </a:p>
          <a:p>
            <a:pPr algn="ctr" indent="0" marL="0">
              <a:buNone/>
            </a:pPr>
            <a:r>
              <a:rPr lang="en-US" sz="1400" dirty="0">
                <a:solidFill>
                  <a:srgbClr val="5C5670"/>
                </a:solidFill>
                <a:latin typeface="Calibri" pitchFamily="34" charset="0"/>
                <a:ea typeface="Calibri" pitchFamily="34" charset="-122"/>
                <a:cs typeface="Calibri" pitchFamily="34" charset="-120"/>
              </a:rPr>
              <a:t>Proof</a:t>
            </a:r>
            <a:endParaRPr lang="en-US" sz="1400" dirty="0"/>
          </a:p>
        </p:txBody>
      </p:sp>
      <p:sp>
        <p:nvSpPr>
          <p:cNvPr id="28" name="Text 26"/>
          <p:cNvSpPr txBox="1"/>
          <p:nvPr/>
        </p:nvSpPr>
        <p:spPr>
          <a:xfrm>
            <a:off x="9500616" y="2606040"/>
            <a:ext cx="256032" cy="292608"/>
          </a:xfrm>
          <a:prstGeom prst="rect">
            <a:avLst/>
          </a:prstGeom>
          <a:noFill/>
          <a:ln/>
        </p:spPr>
        <p:txBody>
          <a:bodyPr wrap="square" lIns="0" tIns="0" rIns="0" bIns="0" rtlCol="0" anchor="t"/>
          <a:lstStyle/>
          <a:p>
            <a:pPr algn="ctr" indent="0" marL="0">
              <a:buNone/>
            </a:pPr>
            <a:r>
              <a:rPr lang="en-US" sz="1400" dirty="0">
                <a:solidFill>
                  <a:srgbClr val="A78BFA"/>
                </a:solidFill>
                <a:latin typeface="Calibri" pitchFamily="34" charset="0"/>
                <a:ea typeface="Calibri" pitchFamily="34" charset="-122"/>
                <a:cs typeface="Calibri" pitchFamily="34" charset="-120"/>
              </a:rPr>
              <a:t>→</a:t>
            </a:r>
            <a:endParaRPr lang="en-US" sz="1400" dirty="0"/>
          </a:p>
        </p:txBody>
      </p:sp>
      <p:sp>
        <p:nvSpPr>
          <p:cNvPr id="29" name="Shape 27"/>
          <p:cNvSpPr/>
          <p:nvPr/>
        </p:nvSpPr>
        <p:spPr>
          <a:xfrm>
            <a:off x="9720072" y="1481328"/>
            <a:ext cx="2176272" cy="2944368"/>
          </a:xfrm>
          <a:prstGeom prst="roundRect">
            <a:avLst>
              <a:gd name="adj" fmla="val 5042"/>
            </a:avLst>
          </a:prstGeom>
          <a:solidFill>
            <a:srgbClr val="FFFFFF"/>
          </a:solidFill>
          <a:ln w="12700">
            <a:solidFill>
              <a:srgbClr val="FFFFFF"/>
            </a:solidFill>
            <a:prstDash val="solid"/>
          </a:ln>
          <a:effectLst>
            <a:outerShdw sx="100000" sy="100000" kx="0" ky="0" algn="bl" rotWithShape="0" blurRad="203200" dist="50800" dir="16200000">
              <a:srgbClr val="1E0B3A">
                <a:alpha val="10000"/>
              </a:srgbClr>
            </a:outerShdw>
          </a:effectLst>
        </p:spPr>
      </p:sp>
      <p:sp>
        <p:nvSpPr>
          <p:cNvPr id="30" name="Shape 28"/>
          <p:cNvSpPr/>
          <p:nvPr/>
        </p:nvSpPr>
        <p:spPr>
          <a:xfrm>
            <a:off x="10543032" y="1664208"/>
            <a:ext cx="475488" cy="475488"/>
          </a:xfrm>
          <a:prstGeom prst="ellipse">
            <a:avLst/>
          </a:prstGeom>
          <a:solidFill>
            <a:srgbClr val="10B981"/>
          </a:solidFill>
          <a:ln w="12700">
            <a:solidFill>
              <a:srgbClr val="10B981"/>
            </a:solidFill>
            <a:prstDash val="solid"/>
          </a:ln>
        </p:spPr>
      </p:sp>
      <p:sp>
        <p:nvSpPr>
          <p:cNvPr id="31" name="Text 29"/>
          <p:cNvSpPr txBox="1"/>
          <p:nvPr/>
        </p:nvSpPr>
        <p:spPr>
          <a:xfrm>
            <a:off x="10543032" y="166420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2" name="Text 30"/>
          <p:cNvSpPr txBox="1"/>
          <p:nvPr/>
        </p:nvSpPr>
        <p:spPr>
          <a:xfrm>
            <a:off x="9829800" y="2267712"/>
            <a:ext cx="1956816" cy="329184"/>
          </a:xfrm>
          <a:prstGeom prst="rect">
            <a:avLst/>
          </a:prstGeom>
          <a:noFill/>
          <a:ln/>
        </p:spPr>
        <p:txBody>
          <a:bodyPr wrap="square" lIns="0" tIns="0" rIns="0" bIns="0" rtlCol="0" anchor="t"/>
          <a:lstStyle/>
          <a:p>
            <a:pPr algn="ctr" indent="0" marL="0">
              <a:buNone/>
            </a:pPr>
            <a:r>
              <a:rPr lang="en-US" sz="1500" b="1" dirty="0">
                <a:solidFill>
                  <a:srgbClr val="1E0B3A"/>
                </a:solidFill>
                <a:latin typeface="Calibri" pitchFamily="34" charset="0"/>
                <a:ea typeface="Calibri" pitchFamily="34" charset="-122"/>
                <a:cs typeface="Calibri" pitchFamily="34" charset="-120"/>
              </a:rPr>
              <a:t>RECONCILE</a:t>
            </a:r>
            <a:endParaRPr lang="en-US" sz="1500" dirty="0"/>
          </a:p>
        </p:txBody>
      </p:sp>
      <p:sp>
        <p:nvSpPr>
          <p:cNvPr id="33" name="Text 31"/>
          <p:cNvSpPr txBox="1"/>
          <p:nvPr/>
        </p:nvSpPr>
        <p:spPr>
          <a:xfrm>
            <a:off x="9866376" y="2670048"/>
            <a:ext cx="1883664" cy="1417320"/>
          </a:xfrm>
          <a:prstGeom prst="rect">
            <a:avLst/>
          </a:prstGeom>
          <a:noFill/>
          <a:ln/>
        </p:spPr>
        <p:txBody>
          <a:bodyPr wrap="square" lIns="0" tIns="0" rIns="0" bIns="0" rtlCol="0" anchor="t"/>
          <a:lstStyle/>
          <a:p>
            <a:pPr algn="ctr" indent="0" marL="0">
              <a:buNone/>
            </a:pPr>
            <a:r>
              <a:rPr lang="en-US" sz="1400" dirty="0">
                <a:solidFill>
                  <a:srgbClr val="5C5670"/>
                </a:solidFill>
                <a:latin typeface="Calibri" pitchFamily="34" charset="0"/>
                <a:ea typeface="Calibri" pitchFamily="34" charset="-122"/>
                <a:cs typeface="Calibri" pitchFamily="34" charset="-120"/>
              </a:rPr>
              <a:t>Receive</a:t>
            </a:r>
            <a:endParaRPr lang="en-US" sz="1400" dirty="0"/>
          </a:p>
          <a:p>
            <a:pPr algn="ctr" indent="0" marL="0">
              <a:buNone/>
            </a:pPr>
            <a:r>
              <a:rPr lang="en-US" sz="1400" dirty="0">
                <a:solidFill>
                  <a:srgbClr val="5C5670"/>
                </a:solidFill>
                <a:latin typeface="Calibri" pitchFamily="34" charset="0"/>
                <a:ea typeface="Calibri" pitchFamily="34" charset="-122"/>
                <a:cs typeface="Calibri" pitchFamily="34" charset="-120"/>
              </a:rPr>
              <a:t>Dispute</a:t>
            </a:r>
            <a:endParaRPr lang="en-US" sz="1400" dirty="0"/>
          </a:p>
          <a:p>
            <a:pPr algn="ctr" indent="0" marL="0">
              <a:buNone/>
            </a:pPr>
            <a:r>
              <a:rPr lang="en-US" sz="1400" dirty="0">
                <a:solidFill>
                  <a:srgbClr val="5C5670"/>
                </a:solidFill>
                <a:latin typeface="Calibri" pitchFamily="34" charset="0"/>
                <a:ea typeface="Calibri" pitchFamily="34" charset="-122"/>
                <a:cs typeface="Calibri" pitchFamily="34" charset="-120"/>
              </a:rPr>
              <a:t>Invoice and pay</a:t>
            </a:r>
            <a:endParaRPr lang="en-US" sz="1400" dirty="0"/>
          </a:p>
        </p:txBody>
      </p:sp>
      <p:sp>
        <p:nvSpPr>
          <p:cNvPr id="34" name="Shape 32"/>
          <p:cNvSpPr/>
          <p:nvPr/>
        </p:nvSpPr>
        <p:spPr>
          <a:xfrm>
            <a:off x="502920" y="4617720"/>
            <a:ext cx="5669280" cy="1627632"/>
          </a:xfrm>
          <a:prstGeom prst="roundRect">
            <a:avLst>
              <a:gd name="adj" fmla="val 6742"/>
            </a:avLst>
          </a:prstGeom>
          <a:solidFill>
            <a:srgbClr val="F6F3FF"/>
          </a:solidFill>
          <a:ln w="12700">
            <a:solidFill>
              <a:srgbClr val="F6F3FF"/>
            </a:solidFill>
            <a:prstDash val="solid"/>
          </a:ln>
        </p:spPr>
      </p:sp>
      <p:sp>
        <p:nvSpPr>
          <p:cNvPr id="35" name="Text 33"/>
          <p:cNvSpPr txBox="1"/>
          <p:nvPr/>
        </p:nvSpPr>
        <p:spPr>
          <a:xfrm>
            <a:off x="731520" y="4773168"/>
            <a:ext cx="5212080" cy="256032"/>
          </a:xfrm>
          <a:prstGeom prst="rect">
            <a:avLst/>
          </a:prstGeom>
          <a:noFill/>
          <a:ln/>
        </p:spPr>
        <p:txBody>
          <a:bodyPr wrap="square" lIns="0" tIns="0" rIns="0" bIns="0" rtlCol="0" anchor="t"/>
          <a:lstStyle/>
          <a:p>
            <a:pPr indent="0" marL="0">
              <a:buNone/>
            </a:pPr>
            <a:r>
              <a:rPr lang="en-US" sz="1200" b="1" spc="80" kern="0" dirty="0">
                <a:solidFill>
                  <a:srgbClr val="5B21B6"/>
                </a:solidFill>
                <a:latin typeface="Calibri" pitchFamily="34" charset="0"/>
                <a:ea typeface="Calibri" pitchFamily="34" charset="-122"/>
                <a:cs typeface="Calibri" pitchFamily="34" charset="-120"/>
              </a:rPr>
              <a:t>THE PRICE LOCKS</a:t>
            </a:r>
            <a:endParaRPr lang="en-US" sz="1200" dirty="0"/>
          </a:p>
        </p:txBody>
      </p:sp>
      <p:sp>
        <p:nvSpPr>
          <p:cNvPr id="36" name="Text 34"/>
          <p:cNvSpPr txBox="1"/>
          <p:nvPr/>
        </p:nvSpPr>
        <p:spPr>
          <a:xfrm>
            <a:off x="731520" y="5084064"/>
            <a:ext cx="5212080" cy="960120"/>
          </a:xfrm>
          <a:prstGeom prst="rect">
            <a:avLst/>
          </a:prstGeom>
          <a:noFill/>
          <a:ln/>
        </p:spPr>
        <p:txBody>
          <a:bodyPr wrap="square" lIns="0" tIns="0" rIns="0" bIns="0" rtlCol="0" anchor="t"/>
          <a:lstStyle/>
          <a:p>
            <a:pPr indent="0" marL="0">
              <a:buNone/>
            </a:pPr>
            <a:r>
              <a:rPr lang="en-US" sz="1500" dirty="0">
                <a:solidFill>
                  <a:srgbClr val="3D2A57"/>
                </a:solidFill>
                <a:latin typeface="Calibri" pitchFamily="34" charset="0"/>
                <a:ea typeface="Calibri" pitchFamily="34" charset="-122"/>
                <a:cs typeface="Calibri" pitchFamily="34" charset="-120"/>
              </a:rPr>
              <a:t>Checkout revalidates on the server. The order line becomes a snapshot—not a live link back to the catalog.</a:t>
            </a:r>
            <a:endParaRPr lang="en-US" sz="1500" dirty="0"/>
          </a:p>
        </p:txBody>
      </p:sp>
      <p:sp>
        <p:nvSpPr>
          <p:cNvPr id="37" name="Shape 35"/>
          <p:cNvSpPr/>
          <p:nvPr/>
        </p:nvSpPr>
        <p:spPr>
          <a:xfrm>
            <a:off x="6355080" y="4617720"/>
            <a:ext cx="5321808" cy="1627632"/>
          </a:xfrm>
          <a:prstGeom prst="roundRect">
            <a:avLst>
              <a:gd name="adj" fmla="val 6742"/>
            </a:avLst>
          </a:prstGeom>
          <a:solidFill>
            <a:srgbClr val="ECFDF5"/>
          </a:solidFill>
          <a:ln w="12700">
            <a:solidFill>
              <a:srgbClr val="ECFDF5"/>
            </a:solidFill>
            <a:prstDash val="solid"/>
          </a:ln>
        </p:spPr>
      </p:sp>
      <p:sp>
        <p:nvSpPr>
          <p:cNvPr id="38" name="Text 36"/>
          <p:cNvSpPr txBox="1"/>
          <p:nvPr/>
        </p:nvSpPr>
        <p:spPr>
          <a:xfrm>
            <a:off x="6583680" y="4773168"/>
            <a:ext cx="4892040" cy="256032"/>
          </a:xfrm>
          <a:prstGeom prst="rect">
            <a:avLst/>
          </a:prstGeom>
          <a:noFill/>
          <a:ln/>
        </p:spPr>
        <p:txBody>
          <a:bodyPr wrap="square" lIns="0" tIns="0" rIns="0" bIns="0" rtlCol="0" anchor="t"/>
          <a:lstStyle/>
          <a:p>
            <a:pPr indent="0" marL="0">
              <a:buNone/>
            </a:pPr>
            <a:r>
              <a:rPr lang="en-US" sz="1200" b="1" spc="80" kern="0" dirty="0">
                <a:solidFill>
                  <a:srgbClr val="047857"/>
                </a:solidFill>
                <a:latin typeface="Calibri" pitchFamily="34" charset="0"/>
                <a:ea typeface="Calibri" pitchFamily="34" charset="-122"/>
                <a:cs typeface="Calibri" pitchFamily="34" charset="-120"/>
              </a:rPr>
              <a:t>INTELLIGENCE EXPLAINS</a:t>
            </a:r>
            <a:endParaRPr lang="en-US" sz="1200" dirty="0"/>
          </a:p>
        </p:txBody>
      </p:sp>
      <p:sp>
        <p:nvSpPr>
          <p:cNvPr id="39" name="Text 37"/>
          <p:cNvSpPr txBox="1"/>
          <p:nvPr/>
        </p:nvSpPr>
        <p:spPr>
          <a:xfrm>
            <a:off x="6583680" y="5084064"/>
            <a:ext cx="4892040" cy="960120"/>
          </a:xfrm>
          <a:prstGeom prst="rect">
            <a:avLst/>
          </a:prstGeom>
          <a:noFill/>
          <a:ln/>
        </p:spPr>
        <p:txBody>
          <a:bodyPr wrap="square" lIns="0" tIns="0" rIns="0" bIns="0" rtlCol="0" anchor="t"/>
          <a:lstStyle/>
          <a:p>
            <a:pPr indent="0" marL="0">
              <a:buNone/>
            </a:pPr>
            <a:r>
              <a:rPr lang="en-US" sz="1500" dirty="0">
                <a:solidFill>
                  <a:srgbClr val="3D2A57"/>
                </a:solidFill>
                <a:latin typeface="Calibri" pitchFamily="34" charset="0"/>
                <a:ea typeface="Calibri" pitchFamily="34" charset="-122"/>
                <a:cs typeface="Calibri" pitchFamily="34" charset="-120"/>
              </a:rPr>
              <a:t>It is read-only. It does not place orders, move stock, set prices, or assign drivers.</a:t>
            </a:r>
            <a:endParaRPr lang="en-US" sz="1500" dirty="0"/>
          </a:p>
        </p:txBody>
      </p:sp>
      <p:sp>
        <p:nvSpPr>
          <p:cNvPr id="40" name="Text 38"/>
          <p:cNvSpPr txBox="1"/>
          <p:nvPr/>
        </p:nvSpPr>
        <p:spPr>
          <a:xfrm>
            <a:off x="530352" y="6528816"/>
            <a:ext cx="5486400" cy="201168"/>
          </a:xfrm>
          <a:prstGeom prst="rect">
            <a:avLst/>
          </a:prstGeom>
          <a:noFill/>
          <a:ln/>
        </p:spPr>
        <p:txBody>
          <a:bodyPr wrap="square" lIns="0" tIns="0" rIns="0" bIns="0" rtlCol="0" anchor="t"/>
          <a:lstStyle/>
          <a:p>
            <a:pPr indent="0" marL="0">
              <a:buNone/>
            </a:pPr>
            <a:r>
              <a:rPr lang="en-US" sz="1100" spc="110" kern="0" dirty="0">
                <a:solidFill>
                  <a:srgbClr val="9A94A8"/>
                </a:solidFill>
                <a:latin typeface="Calibri" pitchFamily="34" charset="0"/>
                <a:ea typeface="Calibri" pitchFamily="34" charset="-122"/>
                <a:cs typeface="Calibri" pitchFamily="34" charset="-120"/>
              </a:rPr>
              <a:t>SUPPLIFY   ·   STAKEHOLDER BRIEF</a:t>
            </a:r>
            <a:endParaRPr lang="en-US" sz="1100" dirty="0"/>
          </a:p>
        </p:txBody>
      </p:sp>
      <p:sp>
        <p:nvSpPr>
          <p:cNvPr id="41" name="Text 39"/>
          <p:cNvSpPr txBox="1"/>
          <p:nvPr/>
        </p:nvSpPr>
        <p:spPr>
          <a:xfrm>
            <a:off x="10881360" y="6528816"/>
            <a:ext cx="777240" cy="201168"/>
          </a:xfrm>
          <a:prstGeom prst="rect">
            <a:avLst/>
          </a:prstGeom>
          <a:noFill/>
          <a:ln/>
        </p:spPr>
        <p:txBody>
          <a:bodyPr wrap="square" lIns="0" tIns="0" rIns="0" bIns="0" rtlCol="0" anchor="t"/>
          <a:lstStyle/>
          <a:p>
            <a:pPr algn="r" indent="0" marL="0">
              <a:buNone/>
            </a:pPr>
            <a:r>
              <a:rPr lang="en-US" sz="1200" b="1" dirty="0">
                <a:solidFill>
                  <a:srgbClr val="7C3AED"/>
                </a:solidFill>
                <a:latin typeface="Calibri" pitchFamily="34" charset="0"/>
                <a:ea typeface="Calibri" pitchFamily="34" charset="-122"/>
                <a:cs typeface="Calibri"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C"/>
        </a:solidFill>
      </p:bgPr>
    </p:bg>
    <p:spTree>
      <p:nvGrpSpPr>
        <p:cNvPr id="1" name=""/>
        <p:cNvGrpSpPr/>
        <p:nvPr/>
      </p:nvGrpSpPr>
      <p:grpSpPr>
        <a:xfrm>
          <a:off x="0" y="0"/>
          <a:ext cx="0" cy="0"/>
          <a:chOff x="0" y="0"/>
          <a:chExt cx="0" cy="0"/>
        </a:xfrm>
      </p:grpSpPr>
      <p:sp>
        <p:nvSpPr>
          <p:cNvPr id="2" name="Text 0"/>
          <p:cNvSpPr txBox="1"/>
          <p:nvPr/>
        </p:nvSpPr>
        <p:spPr>
          <a:xfrm>
            <a:off x="530352" y="292608"/>
            <a:ext cx="7315200" cy="219456"/>
          </a:xfrm>
          <a:prstGeom prst="rect">
            <a:avLst/>
          </a:prstGeom>
          <a:noFill/>
          <a:ln/>
        </p:spPr>
        <p:txBody>
          <a:bodyPr wrap="square" lIns="0" tIns="0" rIns="0" bIns="0" rtlCol="0" anchor="t"/>
          <a:lstStyle/>
          <a:p>
            <a:pPr indent="0" marL="0">
              <a:buNone/>
            </a:pPr>
            <a:r>
              <a:rPr lang="en-US" sz="1200" b="1" spc="160" kern="0" dirty="0">
                <a:solidFill>
                  <a:srgbClr val="7C3AED"/>
                </a:solidFill>
                <a:latin typeface="Calibri" pitchFamily="34" charset="0"/>
                <a:ea typeface="Calibri" pitchFamily="34" charset="-122"/>
                <a:cs typeface="Calibri" pitchFamily="34" charset="-120"/>
              </a:rPr>
              <a:t>HOW YOU START</a:t>
            </a:r>
            <a:endParaRPr lang="en-US" sz="1200" dirty="0"/>
          </a:p>
        </p:txBody>
      </p:sp>
      <p:sp>
        <p:nvSpPr>
          <p:cNvPr id="3" name="Text 1"/>
          <p:cNvSpPr txBox="1"/>
          <p:nvPr/>
        </p:nvSpPr>
        <p:spPr>
          <a:xfrm>
            <a:off x="512064" y="493776"/>
            <a:ext cx="11155680" cy="420624"/>
          </a:xfrm>
          <a:prstGeom prst="rect">
            <a:avLst/>
          </a:prstGeom>
          <a:noFill/>
          <a:ln/>
        </p:spPr>
        <p:txBody>
          <a:bodyPr wrap="square" lIns="0" tIns="0" rIns="0" bIns="0" rtlCol="0" anchor="t"/>
          <a:lstStyle/>
          <a:p>
            <a:pPr indent="0" marL="0">
              <a:buNone/>
            </a:pPr>
            <a:r>
              <a:rPr lang="en-US" sz="3000" b="1" dirty="0">
                <a:solidFill>
                  <a:srgbClr val="1E0B3A"/>
                </a:solidFill>
                <a:latin typeface="Calibri" pitchFamily="34" charset="0"/>
                <a:ea typeface="Calibri" pitchFamily="34" charset="-122"/>
                <a:cs typeface="Calibri" pitchFamily="34" charset="-120"/>
              </a:rPr>
              <a:t>Pay for operating depth, not a longer menu.</a:t>
            </a:r>
            <a:endParaRPr lang="en-US" sz="3000" dirty="0"/>
          </a:p>
        </p:txBody>
      </p:sp>
      <p:sp>
        <p:nvSpPr>
          <p:cNvPr id="4" name="Text 2"/>
          <p:cNvSpPr txBox="1"/>
          <p:nvPr/>
        </p:nvSpPr>
        <p:spPr>
          <a:xfrm>
            <a:off x="530352" y="969264"/>
            <a:ext cx="10972800" cy="274320"/>
          </a:xfrm>
          <a:prstGeom prst="rect">
            <a:avLst/>
          </a:prstGeom>
          <a:noFill/>
          <a:ln/>
        </p:spPr>
        <p:txBody>
          <a:bodyPr wrap="square" lIns="0" tIns="0" rIns="0" bIns="0" rtlCol="0" anchor="t"/>
          <a:lstStyle/>
          <a:p>
            <a:pPr indent="0" marL="0">
              <a:buNone/>
            </a:pPr>
            <a:r>
              <a:rPr lang="en-US" sz="1600" dirty="0">
                <a:solidFill>
                  <a:srgbClr val="5C5670"/>
                </a:solidFill>
                <a:latin typeface="Calibri" pitchFamily="34" charset="0"/>
                <a:ea typeface="Calibri" pitchFamily="34" charset="-122"/>
                <a:cs typeface="Calibri" pitchFamily="34" charset="-120"/>
              </a:rPr>
              <a:t>Thirty days to try it. Then the plan follows branches, active customer locations, and how deep you run.</a:t>
            </a:r>
            <a:endParaRPr lang="en-US" sz="1600" dirty="0"/>
          </a:p>
        </p:txBody>
      </p:sp>
      <p:sp>
        <p:nvSpPr>
          <p:cNvPr id="5" name="Text 3"/>
          <p:cNvSpPr txBox="1"/>
          <p:nvPr/>
        </p:nvSpPr>
        <p:spPr>
          <a:xfrm>
            <a:off x="530352" y="1371600"/>
            <a:ext cx="2743200" cy="219456"/>
          </a:xfrm>
          <a:prstGeom prst="rect">
            <a:avLst/>
          </a:prstGeom>
          <a:noFill/>
          <a:ln/>
        </p:spPr>
        <p:txBody>
          <a:bodyPr wrap="square" lIns="0" tIns="0" rIns="0" bIns="0" rtlCol="0" anchor="t"/>
          <a:lstStyle/>
          <a:p>
            <a:pPr indent="0" marL="0">
              <a:buNone/>
            </a:pPr>
            <a:r>
              <a:rPr lang="en-US" sz="1200" b="1" spc="110" kern="0" dirty="0">
                <a:solidFill>
                  <a:srgbClr val="7C3AED"/>
                </a:solidFill>
                <a:latin typeface="Calibri" pitchFamily="34" charset="0"/>
                <a:ea typeface="Calibri" pitchFamily="34" charset="-122"/>
                <a:cs typeface="Calibri" pitchFamily="34" charset="-120"/>
              </a:rPr>
              <a:t>RESTAURANTS</a:t>
            </a:r>
            <a:endParaRPr lang="en-US" sz="1200" dirty="0"/>
          </a:p>
        </p:txBody>
      </p:sp>
      <p:sp>
        <p:nvSpPr>
          <p:cNvPr id="6" name="Text 4"/>
          <p:cNvSpPr txBox="1"/>
          <p:nvPr/>
        </p:nvSpPr>
        <p:spPr>
          <a:xfrm>
            <a:off x="7452360" y="1371600"/>
            <a:ext cx="2743200" cy="219456"/>
          </a:xfrm>
          <a:prstGeom prst="rect">
            <a:avLst/>
          </a:prstGeom>
          <a:noFill/>
          <a:ln/>
        </p:spPr>
        <p:txBody>
          <a:bodyPr wrap="square" lIns="0" tIns="0" rIns="0" bIns="0" rtlCol="0" anchor="t"/>
          <a:lstStyle/>
          <a:p>
            <a:pPr indent="0" marL="0">
              <a:buNone/>
            </a:pPr>
            <a:r>
              <a:rPr lang="en-US" sz="1200" b="1" spc="110" kern="0" dirty="0">
                <a:solidFill>
                  <a:srgbClr val="047857"/>
                </a:solidFill>
                <a:latin typeface="Calibri" pitchFamily="34" charset="0"/>
                <a:ea typeface="Calibri" pitchFamily="34" charset="-122"/>
                <a:cs typeface="Calibri" pitchFamily="34" charset="-120"/>
              </a:rPr>
              <a:t>SUPPLIERS</a:t>
            </a:r>
            <a:endParaRPr lang="en-US" sz="1200" dirty="0"/>
          </a:p>
        </p:txBody>
      </p:sp>
      <p:sp>
        <p:nvSpPr>
          <p:cNvPr id="7" name="Shape 5"/>
          <p:cNvSpPr/>
          <p:nvPr/>
        </p:nvSpPr>
        <p:spPr>
          <a:xfrm>
            <a:off x="502920" y="1682496"/>
            <a:ext cx="2148840" cy="2788920"/>
          </a:xfrm>
          <a:prstGeom prst="roundRect">
            <a:avLst>
              <a:gd name="adj" fmla="val 5106"/>
            </a:avLst>
          </a:prstGeom>
          <a:solidFill>
            <a:srgbClr val="FFFFFF"/>
          </a:solidFill>
          <a:ln w="12700">
            <a:solidFill>
              <a:srgbClr val="FFFFFF"/>
            </a:solidFill>
            <a:prstDash val="solid"/>
          </a:ln>
          <a:effectLst>
            <a:outerShdw sx="100000" sy="100000" kx="0" ky="0" algn="bl" rotWithShape="0" blurRad="203200" dist="50800" dir="16200000">
              <a:srgbClr val="1E0B3A">
                <a:alpha val="10000"/>
              </a:srgbClr>
            </a:outerShdw>
          </a:effectLst>
        </p:spPr>
      </p:sp>
      <p:sp>
        <p:nvSpPr>
          <p:cNvPr id="8" name="Text 6"/>
          <p:cNvSpPr txBox="1"/>
          <p:nvPr/>
        </p:nvSpPr>
        <p:spPr>
          <a:xfrm>
            <a:off x="630936" y="1828800"/>
            <a:ext cx="1892808" cy="292608"/>
          </a:xfrm>
          <a:prstGeom prst="rect">
            <a:avLst/>
          </a:prstGeom>
          <a:noFill/>
          <a:ln/>
        </p:spPr>
        <p:txBody>
          <a:bodyPr wrap="square" lIns="0" tIns="0" rIns="0" bIns="0" rtlCol="0" anchor="t"/>
          <a:lstStyle/>
          <a:p>
            <a:pPr algn="ctr" indent="0" marL="0">
              <a:buNone/>
            </a:pPr>
            <a:r>
              <a:rPr lang="en-US" sz="1600" b="1" dirty="0">
                <a:solidFill>
                  <a:srgbClr val="1E0B3A"/>
                </a:solidFill>
                <a:latin typeface="Calibri" pitchFamily="34" charset="0"/>
                <a:ea typeface="Calibri" pitchFamily="34" charset="-122"/>
                <a:cs typeface="Calibri" pitchFamily="34" charset="-120"/>
              </a:rPr>
              <a:t>Growth</a:t>
            </a:r>
            <a:endParaRPr lang="en-US" sz="1600" dirty="0"/>
          </a:p>
        </p:txBody>
      </p:sp>
      <p:sp>
        <p:nvSpPr>
          <p:cNvPr id="9" name="Text 7"/>
          <p:cNvSpPr txBox="1"/>
          <p:nvPr/>
        </p:nvSpPr>
        <p:spPr>
          <a:xfrm>
            <a:off x="630936" y="2157984"/>
            <a:ext cx="1892808" cy="475488"/>
          </a:xfrm>
          <a:prstGeom prst="rect">
            <a:avLst/>
          </a:prstGeom>
          <a:noFill/>
          <a:ln/>
        </p:spPr>
        <p:txBody>
          <a:bodyPr wrap="square" lIns="0" tIns="0" rIns="0" bIns="0" rtlCol="0" anchor="t"/>
          <a:lstStyle/>
          <a:p>
            <a:pPr algn="ctr" indent="0" marL="0">
              <a:buNone/>
            </a:pPr>
            <a:r>
              <a:rPr lang="en-US" sz="3200" b="1" dirty="0">
                <a:solidFill>
                  <a:srgbClr val="7C3AED"/>
                </a:solidFill>
                <a:latin typeface="Calibri" pitchFamily="34" charset="0"/>
                <a:ea typeface="Calibri" pitchFamily="34" charset="-122"/>
                <a:cs typeface="Calibri" pitchFamily="34" charset="-120"/>
              </a:rPr>
              <a:t>$49</a:t>
            </a:r>
            <a:endParaRPr lang="en-US" sz="3200" dirty="0"/>
          </a:p>
        </p:txBody>
      </p:sp>
      <p:sp>
        <p:nvSpPr>
          <p:cNvPr id="10" name="Text 8"/>
          <p:cNvSpPr txBox="1"/>
          <p:nvPr/>
        </p:nvSpPr>
        <p:spPr>
          <a:xfrm>
            <a:off x="630936" y="2651760"/>
            <a:ext cx="1892808" cy="219456"/>
          </a:xfrm>
          <a:prstGeom prst="rect">
            <a:avLst/>
          </a:prstGeom>
          <a:noFill/>
          <a:ln/>
        </p:spPr>
        <p:txBody>
          <a:bodyPr wrap="square" lIns="0" tIns="0" rIns="0" bIns="0" rtlCol="0" anchor="t"/>
          <a:lstStyle/>
          <a:p>
            <a:pPr algn="ctr" indent="0" marL="0">
              <a:buNone/>
            </a:pPr>
            <a:r>
              <a:rPr lang="en-US" sz="1200" dirty="0">
                <a:solidFill>
                  <a:srgbClr val="5C5670"/>
                </a:solidFill>
                <a:latin typeface="Calibri" pitchFamily="34" charset="0"/>
                <a:ea typeface="Calibri" pitchFamily="34" charset="-122"/>
                <a:cs typeface="Calibri" pitchFamily="34" charset="-120"/>
              </a:rPr>
              <a:t>per month</a:t>
            </a:r>
            <a:endParaRPr lang="en-US" sz="1200" dirty="0"/>
          </a:p>
        </p:txBody>
      </p:sp>
      <p:sp>
        <p:nvSpPr>
          <p:cNvPr id="11" name="Text 9"/>
          <p:cNvSpPr txBox="1"/>
          <p:nvPr/>
        </p:nvSpPr>
        <p:spPr>
          <a:xfrm>
            <a:off x="594360" y="2980944"/>
            <a:ext cx="1965960" cy="475488"/>
          </a:xfrm>
          <a:prstGeom prst="rect">
            <a:avLst/>
          </a:prstGeom>
          <a:noFill/>
          <a:ln/>
        </p:spPr>
        <p:txBody>
          <a:bodyPr wrap="square" lIns="0" tIns="0" rIns="0" bIns="0" rtlCol="0" anchor="t"/>
          <a:lstStyle/>
          <a:p>
            <a:pPr algn="ctr" indent="0" marL="0">
              <a:buNone/>
            </a:pPr>
            <a:r>
              <a:rPr lang="en-US" sz="1200" b="1" dirty="0">
                <a:solidFill>
                  <a:srgbClr val="7C3AED"/>
                </a:solidFill>
                <a:latin typeface="Calibri" pitchFamily="34" charset="0"/>
                <a:ea typeface="Calibri" pitchFamily="34" charset="-122"/>
                <a:cs typeface="Calibri" pitchFamily="34" charset="-120"/>
              </a:rPr>
              <a:t>1 active branch</a:t>
            </a:r>
            <a:endParaRPr lang="en-US" sz="1200" dirty="0"/>
          </a:p>
        </p:txBody>
      </p:sp>
      <p:sp>
        <p:nvSpPr>
          <p:cNvPr id="12" name="Text 10"/>
          <p:cNvSpPr txBox="1"/>
          <p:nvPr/>
        </p:nvSpPr>
        <p:spPr>
          <a:xfrm>
            <a:off x="649224" y="3493008"/>
            <a:ext cx="1856232" cy="731520"/>
          </a:xfrm>
          <a:prstGeom prst="rect">
            <a:avLst/>
          </a:prstGeom>
          <a:noFill/>
          <a:ln/>
        </p:spPr>
        <p:txBody>
          <a:bodyPr wrap="square" lIns="0" tIns="0" rIns="0" bIns="0" rtlCol="0" anchor="t"/>
          <a:lstStyle/>
          <a:p>
            <a:pPr algn="ctr" indent="0" marL="0">
              <a:buNone/>
            </a:pPr>
            <a:r>
              <a:rPr lang="en-US" sz="1300" dirty="0">
                <a:solidFill>
                  <a:srgbClr val="5C5670"/>
                </a:solidFill>
                <a:latin typeface="Calibri" pitchFamily="34" charset="0"/>
                <a:ea typeface="Calibri" pitchFamily="34" charset="-122"/>
                <a:cs typeface="Calibri" pitchFamily="34" charset="-120"/>
              </a:rPr>
              <a:t>Core purchasing</a:t>
            </a:r>
            <a:endParaRPr lang="en-US" sz="1300" dirty="0"/>
          </a:p>
          <a:p>
            <a:pPr algn="ctr" indent="0" marL="0">
              <a:buNone/>
            </a:pPr>
            <a:r>
              <a:rPr lang="en-US" sz="1300" dirty="0">
                <a:solidFill>
                  <a:srgbClr val="5C5670"/>
                </a:solidFill>
                <a:latin typeface="Calibri" pitchFamily="34" charset="0"/>
                <a:ea typeface="Calibri" pitchFamily="34" charset="-122"/>
                <a:cs typeface="Calibri" pitchFamily="34" charset="-120"/>
              </a:rPr>
              <a:t>and operations</a:t>
            </a:r>
            <a:endParaRPr lang="en-US" sz="1300" dirty="0"/>
          </a:p>
        </p:txBody>
      </p:sp>
      <p:sp>
        <p:nvSpPr>
          <p:cNvPr id="13" name="Shape 11"/>
          <p:cNvSpPr/>
          <p:nvPr/>
        </p:nvSpPr>
        <p:spPr>
          <a:xfrm>
            <a:off x="2788920" y="1682496"/>
            <a:ext cx="2148840" cy="2788920"/>
          </a:xfrm>
          <a:prstGeom prst="roundRect">
            <a:avLst>
              <a:gd name="adj" fmla="val 5106"/>
            </a:avLst>
          </a:prstGeom>
          <a:solidFill>
            <a:srgbClr val="FFFFFF"/>
          </a:solidFill>
          <a:ln w="12700">
            <a:solidFill>
              <a:srgbClr val="FFFFFF"/>
            </a:solidFill>
            <a:prstDash val="solid"/>
          </a:ln>
          <a:effectLst>
            <a:outerShdw sx="100000" sy="100000" kx="0" ky="0" algn="bl" rotWithShape="0" blurRad="203200" dist="50800" dir="16200000">
              <a:srgbClr val="1E0B3A">
                <a:alpha val="10000"/>
              </a:srgbClr>
            </a:outerShdw>
          </a:effectLst>
        </p:spPr>
      </p:sp>
      <p:sp>
        <p:nvSpPr>
          <p:cNvPr id="14" name="Text 12"/>
          <p:cNvSpPr txBox="1"/>
          <p:nvPr/>
        </p:nvSpPr>
        <p:spPr>
          <a:xfrm>
            <a:off x="2916936" y="1828800"/>
            <a:ext cx="1892808" cy="292608"/>
          </a:xfrm>
          <a:prstGeom prst="rect">
            <a:avLst/>
          </a:prstGeom>
          <a:noFill/>
          <a:ln/>
        </p:spPr>
        <p:txBody>
          <a:bodyPr wrap="square" lIns="0" tIns="0" rIns="0" bIns="0" rtlCol="0" anchor="t"/>
          <a:lstStyle/>
          <a:p>
            <a:pPr algn="ctr" indent="0" marL="0">
              <a:buNone/>
            </a:pPr>
            <a:r>
              <a:rPr lang="en-US" sz="1600" b="1" dirty="0">
                <a:solidFill>
                  <a:srgbClr val="1E0B3A"/>
                </a:solidFill>
                <a:latin typeface="Calibri" pitchFamily="34" charset="0"/>
                <a:ea typeface="Calibri" pitchFamily="34" charset="-122"/>
                <a:cs typeface="Calibri" pitchFamily="34" charset="-120"/>
              </a:rPr>
              <a:t>Intelligence</a:t>
            </a:r>
            <a:endParaRPr lang="en-US" sz="1600" dirty="0"/>
          </a:p>
        </p:txBody>
      </p:sp>
      <p:sp>
        <p:nvSpPr>
          <p:cNvPr id="15" name="Text 13"/>
          <p:cNvSpPr txBox="1"/>
          <p:nvPr/>
        </p:nvSpPr>
        <p:spPr>
          <a:xfrm>
            <a:off x="2916936" y="2157984"/>
            <a:ext cx="1892808" cy="475488"/>
          </a:xfrm>
          <a:prstGeom prst="rect">
            <a:avLst/>
          </a:prstGeom>
          <a:noFill/>
          <a:ln/>
        </p:spPr>
        <p:txBody>
          <a:bodyPr wrap="square" lIns="0" tIns="0" rIns="0" bIns="0" rtlCol="0" anchor="t"/>
          <a:lstStyle/>
          <a:p>
            <a:pPr algn="ctr" indent="0" marL="0">
              <a:buNone/>
            </a:pPr>
            <a:r>
              <a:rPr lang="en-US" sz="3200" b="1" dirty="0">
                <a:solidFill>
                  <a:srgbClr val="7C3AED"/>
                </a:solidFill>
                <a:latin typeface="Calibri" pitchFamily="34" charset="0"/>
                <a:ea typeface="Calibri" pitchFamily="34" charset="-122"/>
                <a:cs typeface="Calibri" pitchFamily="34" charset="-120"/>
              </a:rPr>
              <a:t>$149</a:t>
            </a:r>
            <a:endParaRPr lang="en-US" sz="3200" dirty="0"/>
          </a:p>
        </p:txBody>
      </p:sp>
      <p:sp>
        <p:nvSpPr>
          <p:cNvPr id="16" name="Text 14"/>
          <p:cNvSpPr txBox="1"/>
          <p:nvPr/>
        </p:nvSpPr>
        <p:spPr>
          <a:xfrm>
            <a:off x="2916936" y="2651760"/>
            <a:ext cx="1892808" cy="219456"/>
          </a:xfrm>
          <a:prstGeom prst="rect">
            <a:avLst/>
          </a:prstGeom>
          <a:noFill/>
          <a:ln/>
        </p:spPr>
        <p:txBody>
          <a:bodyPr wrap="square" lIns="0" tIns="0" rIns="0" bIns="0" rtlCol="0" anchor="t"/>
          <a:lstStyle/>
          <a:p>
            <a:pPr algn="ctr" indent="0" marL="0">
              <a:buNone/>
            </a:pPr>
            <a:r>
              <a:rPr lang="en-US" sz="1200" dirty="0">
                <a:solidFill>
                  <a:srgbClr val="5C5670"/>
                </a:solidFill>
                <a:latin typeface="Calibri" pitchFamily="34" charset="0"/>
                <a:ea typeface="Calibri" pitchFamily="34" charset="-122"/>
                <a:cs typeface="Calibri" pitchFamily="34" charset="-120"/>
              </a:rPr>
              <a:t>per month</a:t>
            </a:r>
            <a:endParaRPr lang="en-US" sz="1200" dirty="0"/>
          </a:p>
        </p:txBody>
      </p:sp>
      <p:sp>
        <p:nvSpPr>
          <p:cNvPr id="17" name="Text 15"/>
          <p:cNvSpPr txBox="1"/>
          <p:nvPr/>
        </p:nvSpPr>
        <p:spPr>
          <a:xfrm>
            <a:off x="2880360" y="2980944"/>
            <a:ext cx="1965960" cy="475488"/>
          </a:xfrm>
          <a:prstGeom prst="rect">
            <a:avLst/>
          </a:prstGeom>
          <a:noFill/>
          <a:ln/>
        </p:spPr>
        <p:txBody>
          <a:bodyPr wrap="square" lIns="0" tIns="0" rIns="0" bIns="0" rtlCol="0" anchor="t"/>
          <a:lstStyle/>
          <a:p>
            <a:pPr algn="ctr" indent="0" marL="0">
              <a:buNone/>
            </a:pPr>
            <a:r>
              <a:rPr lang="en-US" sz="1200" b="1" dirty="0">
                <a:solidFill>
                  <a:srgbClr val="7C3AED"/>
                </a:solidFill>
                <a:latin typeface="Calibri" pitchFamily="34" charset="0"/>
                <a:ea typeface="Calibri" pitchFamily="34" charset="-122"/>
                <a:cs typeface="Calibri" pitchFamily="34" charset="-120"/>
              </a:rPr>
              <a:t>3 active branches</a:t>
            </a:r>
            <a:endParaRPr lang="en-US" sz="1200" dirty="0"/>
          </a:p>
        </p:txBody>
      </p:sp>
      <p:sp>
        <p:nvSpPr>
          <p:cNvPr id="18" name="Text 16"/>
          <p:cNvSpPr txBox="1"/>
          <p:nvPr/>
        </p:nvSpPr>
        <p:spPr>
          <a:xfrm>
            <a:off x="2935224" y="3493008"/>
            <a:ext cx="1856232" cy="731520"/>
          </a:xfrm>
          <a:prstGeom prst="rect">
            <a:avLst/>
          </a:prstGeom>
          <a:noFill/>
          <a:ln/>
        </p:spPr>
        <p:txBody>
          <a:bodyPr wrap="square" lIns="0" tIns="0" rIns="0" bIns="0" rtlCol="0" anchor="t"/>
          <a:lstStyle/>
          <a:p>
            <a:pPr algn="ctr" indent="0" marL="0">
              <a:buNone/>
            </a:pPr>
            <a:r>
              <a:rPr lang="en-US" sz="1300" dirty="0">
                <a:solidFill>
                  <a:srgbClr val="5C5670"/>
                </a:solidFill>
                <a:latin typeface="Calibri" pitchFamily="34" charset="0"/>
                <a:ea typeface="Calibri" pitchFamily="34" charset="-122"/>
                <a:cs typeface="Calibri" pitchFamily="34" charset="-120"/>
              </a:rPr>
              <a:t>Operational</a:t>
            </a:r>
            <a:endParaRPr lang="en-US" sz="1300" dirty="0"/>
          </a:p>
          <a:p>
            <a:pPr algn="ctr" indent="0" marL="0">
              <a:buNone/>
            </a:pPr>
            <a:r>
              <a:rPr lang="en-US" sz="1300" dirty="0">
                <a:solidFill>
                  <a:srgbClr val="5C5670"/>
                </a:solidFill>
                <a:latin typeface="Calibri" pitchFamily="34" charset="0"/>
                <a:ea typeface="Calibri" pitchFamily="34" charset="-122"/>
                <a:cs typeface="Calibri" pitchFamily="34" charset="-120"/>
              </a:rPr>
              <a:t>intelligence</a:t>
            </a:r>
            <a:endParaRPr lang="en-US" sz="1300" dirty="0"/>
          </a:p>
        </p:txBody>
      </p:sp>
      <p:sp>
        <p:nvSpPr>
          <p:cNvPr id="19" name="Shape 17"/>
          <p:cNvSpPr/>
          <p:nvPr/>
        </p:nvSpPr>
        <p:spPr>
          <a:xfrm>
            <a:off x="5074920" y="1682496"/>
            <a:ext cx="2148840" cy="2788920"/>
          </a:xfrm>
          <a:prstGeom prst="roundRect">
            <a:avLst>
              <a:gd name="adj" fmla="val 5106"/>
            </a:avLst>
          </a:prstGeom>
          <a:solidFill>
            <a:srgbClr val="FFFFFF"/>
          </a:solidFill>
          <a:ln w="12700">
            <a:solidFill>
              <a:srgbClr val="FFFFFF"/>
            </a:solidFill>
            <a:prstDash val="solid"/>
          </a:ln>
          <a:effectLst>
            <a:outerShdw sx="100000" sy="100000" kx="0" ky="0" algn="bl" rotWithShape="0" blurRad="203200" dist="50800" dir="16200000">
              <a:srgbClr val="1E0B3A">
                <a:alpha val="10000"/>
              </a:srgbClr>
            </a:outerShdw>
          </a:effectLst>
        </p:spPr>
      </p:sp>
      <p:sp>
        <p:nvSpPr>
          <p:cNvPr id="20" name="Text 18"/>
          <p:cNvSpPr txBox="1"/>
          <p:nvPr/>
        </p:nvSpPr>
        <p:spPr>
          <a:xfrm>
            <a:off x="5202936" y="1828800"/>
            <a:ext cx="1892808" cy="292608"/>
          </a:xfrm>
          <a:prstGeom prst="rect">
            <a:avLst/>
          </a:prstGeom>
          <a:noFill/>
          <a:ln/>
        </p:spPr>
        <p:txBody>
          <a:bodyPr wrap="square" lIns="0" tIns="0" rIns="0" bIns="0" rtlCol="0" anchor="t"/>
          <a:lstStyle/>
          <a:p>
            <a:pPr algn="ctr" indent="0" marL="0">
              <a:buNone/>
            </a:pPr>
            <a:r>
              <a:rPr lang="en-US" sz="1600" b="1" dirty="0">
                <a:solidFill>
                  <a:srgbClr val="1E0B3A"/>
                </a:solidFill>
                <a:latin typeface="Calibri" pitchFamily="34" charset="0"/>
                <a:ea typeface="Calibri" pitchFamily="34" charset="-122"/>
                <a:cs typeface="Calibri" pitchFamily="34" charset="-120"/>
              </a:rPr>
              <a:t>Scale</a:t>
            </a:r>
            <a:endParaRPr lang="en-US" sz="1600" dirty="0"/>
          </a:p>
        </p:txBody>
      </p:sp>
      <p:sp>
        <p:nvSpPr>
          <p:cNvPr id="21" name="Text 19"/>
          <p:cNvSpPr txBox="1"/>
          <p:nvPr/>
        </p:nvSpPr>
        <p:spPr>
          <a:xfrm>
            <a:off x="5202936" y="2157984"/>
            <a:ext cx="1892808" cy="475488"/>
          </a:xfrm>
          <a:prstGeom prst="rect">
            <a:avLst/>
          </a:prstGeom>
          <a:noFill/>
          <a:ln/>
        </p:spPr>
        <p:txBody>
          <a:bodyPr wrap="square" lIns="0" tIns="0" rIns="0" bIns="0" rtlCol="0" anchor="t"/>
          <a:lstStyle/>
          <a:p>
            <a:pPr algn="ctr" indent="0" marL="0">
              <a:buNone/>
            </a:pPr>
            <a:r>
              <a:rPr lang="en-US" sz="3200" b="1" dirty="0">
                <a:solidFill>
                  <a:srgbClr val="7C3AED"/>
                </a:solidFill>
                <a:latin typeface="Calibri" pitchFamily="34" charset="0"/>
                <a:ea typeface="Calibri" pitchFamily="34" charset="-122"/>
                <a:cs typeface="Calibri" pitchFamily="34" charset="-120"/>
              </a:rPr>
              <a:t>$349</a:t>
            </a:r>
            <a:endParaRPr lang="en-US" sz="3200" dirty="0"/>
          </a:p>
        </p:txBody>
      </p:sp>
      <p:sp>
        <p:nvSpPr>
          <p:cNvPr id="22" name="Text 20"/>
          <p:cNvSpPr txBox="1"/>
          <p:nvPr/>
        </p:nvSpPr>
        <p:spPr>
          <a:xfrm>
            <a:off x="5202936" y="2651760"/>
            <a:ext cx="1892808" cy="219456"/>
          </a:xfrm>
          <a:prstGeom prst="rect">
            <a:avLst/>
          </a:prstGeom>
          <a:noFill/>
          <a:ln/>
        </p:spPr>
        <p:txBody>
          <a:bodyPr wrap="square" lIns="0" tIns="0" rIns="0" bIns="0" rtlCol="0" anchor="t"/>
          <a:lstStyle/>
          <a:p>
            <a:pPr algn="ctr" indent="0" marL="0">
              <a:buNone/>
            </a:pPr>
            <a:r>
              <a:rPr lang="en-US" sz="1200" dirty="0">
                <a:solidFill>
                  <a:srgbClr val="5C5670"/>
                </a:solidFill>
                <a:latin typeface="Calibri" pitchFamily="34" charset="0"/>
                <a:ea typeface="Calibri" pitchFamily="34" charset="-122"/>
                <a:cs typeface="Calibri" pitchFamily="34" charset="-120"/>
              </a:rPr>
              <a:t>per month</a:t>
            </a:r>
            <a:endParaRPr lang="en-US" sz="1200" dirty="0"/>
          </a:p>
        </p:txBody>
      </p:sp>
      <p:sp>
        <p:nvSpPr>
          <p:cNvPr id="23" name="Text 21"/>
          <p:cNvSpPr txBox="1"/>
          <p:nvPr/>
        </p:nvSpPr>
        <p:spPr>
          <a:xfrm>
            <a:off x="5166360" y="2980944"/>
            <a:ext cx="1965960" cy="475488"/>
          </a:xfrm>
          <a:prstGeom prst="rect">
            <a:avLst/>
          </a:prstGeom>
          <a:noFill/>
          <a:ln/>
        </p:spPr>
        <p:txBody>
          <a:bodyPr wrap="square" lIns="0" tIns="0" rIns="0" bIns="0" rtlCol="0" anchor="t"/>
          <a:lstStyle/>
          <a:p>
            <a:pPr algn="ctr" indent="0" marL="0">
              <a:buNone/>
            </a:pPr>
            <a:r>
              <a:rPr lang="en-US" sz="1200" b="1" dirty="0">
                <a:solidFill>
                  <a:srgbClr val="7C3AED"/>
                </a:solidFill>
                <a:latin typeface="Calibri" pitchFamily="34" charset="0"/>
                <a:ea typeface="Calibri" pitchFamily="34" charset="-122"/>
                <a:cs typeface="Calibri" pitchFamily="34" charset="-120"/>
              </a:rPr>
              <a:t>Multi-branch</a:t>
            </a:r>
            <a:endParaRPr lang="en-US" sz="1200" dirty="0"/>
          </a:p>
        </p:txBody>
      </p:sp>
      <p:sp>
        <p:nvSpPr>
          <p:cNvPr id="24" name="Text 22"/>
          <p:cNvSpPr txBox="1"/>
          <p:nvPr/>
        </p:nvSpPr>
        <p:spPr>
          <a:xfrm>
            <a:off x="5221224" y="3493008"/>
            <a:ext cx="1856232" cy="731520"/>
          </a:xfrm>
          <a:prstGeom prst="rect">
            <a:avLst/>
          </a:prstGeom>
          <a:noFill/>
          <a:ln/>
        </p:spPr>
        <p:txBody>
          <a:bodyPr wrap="square" lIns="0" tIns="0" rIns="0" bIns="0" rtlCol="0" anchor="t"/>
          <a:lstStyle/>
          <a:p>
            <a:pPr algn="ctr" indent="0" marL="0">
              <a:buNone/>
            </a:pPr>
            <a:r>
              <a:rPr lang="en-US" sz="1300" dirty="0">
                <a:solidFill>
                  <a:srgbClr val="5C5670"/>
                </a:solidFill>
                <a:latin typeface="Calibri" pitchFamily="34" charset="0"/>
                <a:ea typeface="Calibri" pitchFamily="34" charset="-122"/>
                <a:cs typeface="Calibri" pitchFamily="34" charset="-120"/>
              </a:rPr>
              <a:t>Advanced controls</a:t>
            </a:r>
            <a:endParaRPr lang="en-US" sz="1300" dirty="0"/>
          </a:p>
          <a:p>
            <a:pPr algn="ctr" indent="0" marL="0">
              <a:buNone/>
            </a:pPr>
            <a:r>
              <a:rPr lang="en-US" sz="1300" dirty="0">
                <a:solidFill>
                  <a:srgbClr val="5C5670"/>
                </a:solidFill>
                <a:latin typeface="Calibri" pitchFamily="34" charset="0"/>
                <a:ea typeface="Calibri" pitchFamily="34" charset="-122"/>
                <a:cs typeface="Calibri" pitchFamily="34" charset="-120"/>
              </a:rPr>
              <a:t>and assistant</a:t>
            </a:r>
            <a:endParaRPr lang="en-US" sz="1300" dirty="0"/>
          </a:p>
        </p:txBody>
      </p:sp>
      <p:sp>
        <p:nvSpPr>
          <p:cNvPr id="25" name="Shape 23"/>
          <p:cNvSpPr/>
          <p:nvPr/>
        </p:nvSpPr>
        <p:spPr>
          <a:xfrm>
            <a:off x="7498080" y="1682496"/>
            <a:ext cx="2148840" cy="2788920"/>
          </a:xfrm>
          <a:prstGeom prst="roundRect">
            <a:avLst>
              <a:gd name="adj" fmla="val 5106"/>
            </a:avLst>
          </a:prstGeom>
          <a:solidFill>
            <a:srgbClr val="FFFFFF"/>
          </a:solidFill>
          <a:ln w="12700">
            <a:solidFill>
              <a:srgbClr val="FFFFFF"/>
            </a:solidFill>
            <a:prstDash val="solid"/>
          </a:ln>
          <a:effectLst>
            <a:outerShdw sx="100000" sy="100000" kx="0" ky="0" algn="bl" rotWithShape="0" blurRad="203200" dist="50800" dir="16200000">
              <a:srgbClr val="1E0B3A">
                <a:alpha val="10000"/>
              </a:srgbClr>
            </a:outerShdw>
          </a:effectLst>
        </p:spPr>
      </p:sp>
      <p:sp>
        <p:nvSpPr>
          <p:cNvPr id="26" name="Text 24"/>
          <p:cNvSpPr txBox="1"/>
          <p:nvPr/>
        </p:nvSpPr>
        <p:spPr>
          <a:xfrm>
            <a:off x="7626096" y="1828800"/>
            <a:ext cx="1892808" cy="292608"/>
          </a:xfrm>
          <a:prstGeom prst="rect">
            <a:avLst/>
          </a:prstGeom>
          <a:noFill/>
          <a:ln/>
        </p:spPr>
        <p:txBody>
          <a:bodyPr wrap="square" lIns="0" tIns="0" rIns="0" bIns="0" rtlCol="0" anchor="t"/>
          <a:lstStyle/>
          <a:p>
            <a:pPr algn="ctr" indent="0" marL="0">
              <a:buNone/>
            </a:pPr>
            <a:r>
              <a:rPr lang="en-US" sz="1600" b="1" dirty="0">
                <a:solidFill>
                  <a:srgbClr val="1E0B3A"/>
                </a:solidFill>
                <a:latin typeface="Calibri" pitchFamily="34" charset="0"/>
                <a:ea typeface="Calibri" pitchFamily="34" charset="-122"/>
                <a:cs typeface="Calibri" pitchFamily="34" charset="-120"/>
              </a:rPr>
              <a:t>Growth</a:t>
            </a:r>
            <a:endParaRPr lang="en-US" sz="1600" dirty="0"/>
          </a:p>
        </p:txBody>
      </p:sp>
      <p:sp>
        <p:nvSpPr>
          <p:cNvPr id="27" name="Text 25"/>
          <p:cNvSpPr txBox="1"/>
          <p:nvPr/>
        </p:nvSpPr>
        <p:spPr>
          <a:xfrm>
            <a:off x="7626096" y="2157984"/>
            <a:ext cx="1892808" cy="475488"/>
          </a:xfrm>
          <a:prstGeom prst="rect">
            <a:avLst/>
          </a:prstGeom>
          <a:noFill/>
          <a:ln/>
        </p:spPr>
        <p:txBody>
          <a:bodyPr wrap="square" lIns="0" tIns="0" rIns="0" bIns="0" rtlCol="0" anchor="t"/>
          <a:lstStyle/>
          <a:p>
            <a:pPr algn="ctr" indent="0" marL="0">
              <a:buNone/>
            </a:pPr>
            <a:r>
              <a:rPr lang="en-US" sz="3200" b="1" dirty="0">
                <a:solidFill>
                  <a:srgbClr val="10B981"/>
                </a:solidFill>
                <a:latin typeface="Calibri" pitchFamily="34" charset="0"/>
                <a:ea typeface="Calibri" pitchFamily="34" charset="-122"/>
                <a:cs typeface="Calibri" pitchFamily="34" charset="-120"/>
              </a:rPr>
              <a:t>$149</a:t>
            </a:r>
            <a:endParaRPr lang="en-US" sz="3200" dirty="0"/>
          </a:p>
        </p:txBody>
      </p:sp>
      <p:sp>
        <p:nvSpPr>
          <p:cNvPr id="28" name="Text 26"/>
          <p:cNvSpPr txBox="1"/>
          <p:nvPr/>
        </p:nvSpPr>
        <p:spPr>
          <a:xfrm>
            <a:off x="7626096" y="2651760"/>
            <a:ext cx="1892808" cy="219456"/>
          </a:xfrm>
          <a:prstGeom prst="rect">
            <a:avLst/>
          </a:prstGeom>
          <a:noFill/>
          <a:ln/>
        </p:spPr>
        <p:txBody>
          <a:bodyPr wrap="square" lIns="0" tIns="0" rIns="0" bIns="0" rtlCol="0" anchor="t"/>
          <a:lstStyle/>
          <a:p>
            <a:pPr algn="ctr" indent="0" marL="0">
              <a:buNone/>
            </a:pPr>
            <a:r>
              <a:rPr lang="en-US" sz="1200" dirty="0">
                <a:solidFill>
                  <a:srgbClr val="5C5670"/>
                </a:solidFill>
                <a:latin typeface="Calibri" pitchFamily="34" charset="0"/>
                <a:ea typeface="Calibri" pitchFamily="34" charset="-122"/>
                <a:cs typeface="Calibri" pitchFamily="34" charset="-120"/>
              </a:rPr>
              <a:t>per month</a:t>
            </a:r>
            <a:endParaRPr lang="en-US" sz="1200" dirty="0"/>
          </a:p>
        </p:txBody>
      </p:sp>
      <p:sp>
        <p:nvSpPr>
          <p:cNvPr id="29" name="Text 27"/>
          <p:cNvSpPr txBox="1"/>
          <p:nvPr/>
        </p:nvSpPr>
        <p:spPr>
          <a:xfrm>
            <a:off x="7589520" y="2980944"/>
            <a:ext cx="1965960" cy="475488"/>
          </a:xfrm>
          <a:prstGeom prst="rect">
            <a:avLst/>
          </a:prstGeom>
          <a:noFill/>
          <a:ln/>
        </p:spPr>
        <p:txBody>
          <a:bodyPr wrap="square" lIns="0" tIns="0" rIns="0" bIns="0" rtlCol="0" anchor="t"/>
          <a:lstStyle/>
          <a:p>
            <a:pPr algn="ctr" indent="0" marL="0">
              <a:buNone/>
            </a:pPr>
            <a:r>
              <a:rPr lang="en-US" sz="1200" b="1" dirty="0">
                <a:solidFill>
                  <a:srgbClr val="10B981"/>
                </a:solidFill>
                <a:latin typeface="Calibri" pitchFamily="34" charset="0"/>
                <a:ea typeface="Calibri" pitchFamily="34" charset="-122"/>
                <a:cs typeface="Calibri" pitchFamily="34" charset="-120"/>
              </a:rPr>
              <a:t>50 customer locations</a:t>
            </a:r>
            <a:endParaRPr lang="en-US" sz="1200" dirty="0"/>
          </a:p>
        </p:txBody>
      </p:sp>
      <p:sp>
        <p:nvSpPr>
          <p:cNvPr id="30" name="Text 28"/>
          <p:cNvSpPr txBox="1"/>
          <p:nvPr/>
        </p:nvSpPr>
        <p:spPr>
          <a:xfrm>
            <a:off x="7644384" y="3493008"/>
            <a:ext cx="1856232" cy="731520"/>
          </a:xfrm>
          <a:prstGeom prst="rect">
            <a:avLst/>
          </a:prstGeom>
          <a:noFill/>
          <a:ln/>
        </p:spPr>
        <p:txBody>
          <a:bodyPr wrap="square" lIns="0" tIns="0" rIns="0" bIns="0" rtlCol="0" anchor="t"/>
          <a:lstStyle/>
          <a:p>
            <a:pPr algn="ctr" indent="0" marL="0">
              <a:buNone/>
            </a:pPr>
            <a:r>
              <a:rPr lang="en-US" sz="1300" dirty="0">
                <a:solidFill>
                  <a:srgbClr val="5C5670"/>
                </a:solidFill>
                <a:latin typeface="Calibri" pitchFamily="34" charset="0"/>
                <a:ea typeface="Calibri" pitchFamily="34" charset="-122"/>
                <a:cs typeface="Calibri" pitchFamily="34" charset="-120"/>
              </a:rPr>
              <a:t>Core sales</a:t>
            </a:r>
            <a:endParaRPr lang="en-US" sz="1300" dirty="0"/>
          </a:p>
          <a:p>
            <a:pPr algn="ctr" indent="0" marL="0">
              <a:buNone/>
            </a:pPr>
            <a:r>
              <a:rPr lang="en-US" sz="1300" dirty="0">
                <a:solidFill>
                  <a:srgbClr val="5C5670"/>
                </a:solidFill>
                <a:latin typeface="Calibri" pitchFamily="34" charset="0"/>
                <a:ea typeface="Calibri" pitchFamily="34" charset="-122"/>
                <a:cs typeface="Calibri" pitchFamily="34" charset="-120"/>
              </a:rPr>
              <a:t>and operations</a:t>
            </a:r>
            <a:endParaRPr lang="en-US" sz="1300" dirty="0"/>
          </a:p>
        </p:txBody>
      </p:sp>
      <p:sp>
        <p:nvSpPr>
          <p:cNvPr id="31" name="Shape 29"/>
          <p:cNvSpPr/>
          <p:nvPr/>
        </p:nvSpPr>
        <p:spPr>
          <a:xfrm>
            <a:off x="9784080" y="1682496"/>
            <a:ext cx="2148840" cy="2788920"/>
          </a:xfrm>
          <a:prstGeom prst="roundRect">
            <a:avLst>
              <a:gd name="adj" fmla="val 5106"/>
            </a:avLst>
          </a:prstGeom>
          <a:solidFill>
            <a:srgbClr val="FFFFFF"/>
          </a:solidFill>
          <a:ln w="12700">
            <a:solidFill>
              <a:srgbClr val="FFFFFF"/>
            </a:solidFill>
            <a:prstDash val="solid"/>
          </a:ln>
          <a:effectLst>
            <a:outerShdw sx="100000" sy="100000" kx="0" ky="0" algn="bl" rotWithShape="0" blurRad="203200" dist="50800" dir="16200000">
              <a:srgbClr val="1E0B3A">
                <a:alpha val="10000"/>
              </a:srgbClr>
            </a:outerShdw>
          </a:effectLst>
        </p:spPr>
      </p:sp>
      <p:sp>
        <p:nvSpPr>
          <p:cNvPr id="32" name="Text 30"/>
          <p:cNvSpPr txBox="1"/>
          <p:nvPr/>
        </p:nvSpPr>
        <p:spPr>
          <a:xfrm>
            <a:off x="9912096" y="1828800"/>
            <a:ext cx="1892808" cy="292608"/>
          </a:xfrm>
          <a:prstGeom prst="rect">
            <a:avLst/>
          </a:prstGeom>
          <a:noFill/>
          <a:ln/>
        </p:spPr>
        <p:txBody>
          <a:bodyPr wrap="square" lIns="0" tIns="0" rIns="0" bIns="0" rtlCol="0" anchor="t"/>
          <a:lstStyle/>
          <a:p>
            <a:pPr algn="ctr" indent="0" marL="0">
              <a:buNone/>
            </a:pPr>
            <a:r>
              <a:rPr lang="en-US" sz="1600" b="1" dirty="0">
                <a:solidFill>
                  <a:srgbClr val="1E0B3A"/>
                </a:solidFill>
                <a:latin typeface="Calibri" pitchFamily="34" charset="0"/>
                <a:ea typeface="Calibri" pitchFamily="34" charset="-122"/>
                <a:cs typeface="Calibri" pitchFamily="34" charset="-120"/>
              </a:rPr>
              <a:t>Scale</a:t>
            </a:r>
            <a:endParaRPr lang="en-US" sz="1600" dirty="0"/>
          </a:p>
        </p:txBody>
      </p:sp>
      <p:sp>
        <p:nvSpPr>
          <p:cNvPr id="33" name="Text 31"/>
          <p:cNvSpPr txBox="1"/>
          <p:nvPr/>
        </p:nvSpPr>
        <p:spPr>
          <a:xfrm>
            <a:off x="9912096" y="2157984"/>
            <a:ext cx="1892808" cy="475488"/>
          </a:xfrm>
          <a:prstGeom prst="rect">
            <a:avLst/>
          </a:prstGeom>
          <a:noFill/>
          <a:ln/>
        </p:spPr>
        <p:txBody>
          <a:bodyPr wrap="square" lIns="0" tIns="0" rIns="0" bIns="0" rtlCol="0" anchor="t"/>
          <a:lstStyle/>
          <a:p>
            <a:pPr algn="ctr" indent="0" marL="0">
              <a:buNone/>
            </a:pPr>
            <a:r>
              <a:rPr lang="en-US" sz="3200" b="1" dirty="0">
                <a:solidFill>
                  <a:srgbClr val="10B981"/>
                </a:solidFill>
                <a:latin typeface="Calibri" pitchFamily="34" charset="0"/>
                <a:ea typeface="Calibri" pitchFamily="34" charset="-122"/>
                <a:cs typeface="Calibri" pitchFamily="34" charset="-120"/>
              </a:rPr>
              <a:t>$349</a:t>
            </a:r>
            <a:endParaRPr lang="en-US" sz="3200" dirty="0"/>
          </a:p>
        </p:txBody>
      </p:sp>
      <p:sp>
        <p:nvSpPr>
          <p:cNvPr id="34" name="Text 32"/>
          <p:cNvSpPr txBox="1"/>
          <p:nvPr/>
        </p:nvSpPr>
        <p:spPr>
          <a:xfrm>
            <a:off x="9912096" y="2651760"/>
            <a:ext cx="1892808" cy="219456"/>
          </a:xfrm>
          <a:prstGeom prst="rect">
            <a:avLst/>
          </a:prstGeom>
          <a:noFill/>
          <a:ln/>
        </p:spPr>
        <p:txBody>
          <a:bodyPr wrap="square" lIns="0" tIns="0" rIns="0" bIns="0" rtlCol="0" anchor="t"/>
          <a:lstStyle/>
          <a:p>
            <a:pPr algn="ctr" indent="0" marL="0">
              <a:buNone/>
            </a:pPr>
            <a:r>
              <a:rPr lang="en-US" sz="1200" dirty="0">
                <a:solidFill>
                  <a:srgbClr val="5C5670"/>
                </a:solidFill>
                <a:latin typeface="Calibri" pitchFamily="34" charset="0"/>
                <a:ea typeface="Calibri" pitchFamily="34" charset="-122"/>
                <a:cs typeface="Calibri" pitchFamily="34" charset="-120"/>
              </a:rPr>
              <a:t>per month</a:t>
            </a:r>
            <a:endParaRPr lang="en-US" sz="1200" dirty="0"/>
          </a:p>
        </p:txBody>
      </p:sp>
      <p:sp>
        <p:nvSpPr>
          <p:cNvPr id="35" name="Text 33"/>
          <p:cNvSpPr txBox="1"/>
          <p:nvPr/>
        </p:nvSpPr>
        <p:spPr>
          <a:xfrm>
            <a:off x="9875520" y="2980944"/>
            <a:ext cx="1965960" cy="475488"/>
          </a:xfrm>
          <a:prstGeom prst="rect">
            <a:avLst/>
          </a:prstGeom>
          <a:noFill/>
          <a:ln/>
        </p:spPr>
        <p:txBody>
          <a:bodyPr wrap="square" lIns="0" tIns="0" rIns="0" bIns="0" rtlCol="0" anchor="t"/>
          <a:lstStyle/>
          <a:p>
            <a:pPr algn="ctr" indent="0" marL="0">
              <a:buNone/>
            </a:pPr>
            <a:r>
              <a:rPr lang="en-US" sz="1200" b="1" dirty="0">
                <a:solidFill>
                  <a:srgbClr val="10B981"/>
                </a:solidFill>
                <a:latin typeface="Calibri" pitchFamily="34" charset="0"/>
                <a:ea typeface="Calibri" pitchFamily="34" charset="-122"/>
                <a:cs typeface="Calibri" pitchFamily="34" charset="-120"/>
              </a:rPr>
              <a:t>200 customer locations</a:t>
            </a:r>
            <a:endParaRPr lang="en-US" sz="1200" dirty="0"/>
          </a:p>
        </p:txBody>
      </p:sp>
      <p:sp>
        <p:nvSpPr>
          <p:cNvPr id="36" name="Text 34"/>
          <p:cNvSpPr txBox="1"/>
          <p:nvPr/>
        </p:nvSpPr>
        <p:spPr>
          <a:xfrm>
            <a:off x="9930384" y="3493008"/>
            <a:ext cx="1856232" cy="731520"/>
          </a:xfrm>
          <a:prstGeom prst="rect">
            <a:avLst/>
          </a:prstGeom>
          <a:noFill/>
          <a:ln/>
        </p:spPr>
        <p:txBody>
          <a:bodyPr wrap="square" lIns="0" tIns="0" rIns="0" bIns="0" rtlCol="0" anchor="t"/>
          <a:lstStyle/>
          <a:p>
            <a:pPr algn="ctr" indent="0" marL="0">
              <a:buNone/>
            </a:pPr>
            <a:r>
              <a:rPr lang="en-US" sz="1300" dirty="0">
                <a:solidFill>
                  <a:srgbClr val="5C5670"/>
                </a:solidFill>
                <a:latin typeface="Calibri" pitchFamily="34" charset="0"/>
                <a:ea typeface="Calibri" pitchFamily="34" charset="-122"/>
                <a:cs typeface="Calibri" pitchFamily="34" charset="-120"/>
              </a:rPr>
              <a:t>Multi-warehouse</a:t>
            </a:r>
            <a:endParaRPr lang="en-US" sz="1300" dirty="0"/>
          </a:p>
          <a:p>
            <a:pPr algn="ctr" indent="0" marL="0">
              <a:buNone/>
            </a:pPr>
            <a:r>
              <a:rPr lang="en-US" sz="1300" dirty="0">
                <a:solidFill>
                  <a:srgbClr val="5C5670"/>
                </a:solidFill>
                <a:latin typeface="Calibri" pitchFamily="34" charset="0"/>
                <a:ea typeface="Calibri" pitchFamily="34" charset="-122"/>
                <a:cs typeface="Calibri" pitchFamily="34" charset="-120"/>
              </a:rPr>
              <a:t>and intelligence</a:t>
            </a:r>
            <a:endParaRPr lang="en-US" sz="1300" dirty="0"/>
          </a:p>
        </p:txBody>
      </p:sp>
      <p:sp>
        <p:nvSpPr>
          <p:cNvPr id="37" name="Shape 35"/>
          <p:cNvSpPr/>
          <p:nvPr/>
        </p:nvSpPr>
        <p:spPr>
          <a:xfrm>
            <a:off x="502920" y="4645152"/>
            <a:ext cx="11173968" cy="1627632"/>
          </a:xfrm>
          <a:prstGeom prst="roundRect">
            <a:avLst>
              <a:gd name="adj" fmla="val 6742"/>
            </a:avLst>
          </a:prstGeom>
          <a:solidFill>
            <a:srgbClr val="1E0B3A"/>
          </a:solidFill>
          <a:ln w="12700">
            <a:solidFill>
              <a:srgbClr val="1E0B3A"/>
            </a:solidFill>
            <a:prstDash val="solid"/>
          </a:ln>
        </p:spPr>
      </p:sp>
      <p:sp>
        <p:nvSpPr>
          <p:cNvPr id="38" name="Text 36"/>
          <p:cNvSpPr txBox="1"/>
          <p:nvPr/>
        </p:nvSpPr>
        <p:spPr>
          <a:xfrm>
            <a:off x="749808" y="4828032"/>
            <a:ext cx="3383280" cy="256032"/>
          </a:xfrm>
          <a:prstGeom prst="rect">
            <a:avLst/>
          </a:prstGeom>
          <a:noFill/>
          <a:ln/>
        </p:spPr>
        <p:txBody>
          <a:bodyPr wrap="square" lIns="0" tIns="0" rIns="0" bIns="0" rtlCol="0" anchor="t"/>
          <a:lstStyle/>
          <a:p>
            <a:pPr indent="0" marL="0">
              <a:buNone/>
            </a:pPr>
            <a:r>
              <a:rPr lang="en-US" sz="1200" b="1" spc="70" kern="0" dirty="0">
                <a:solidFill>
                  <a:srgbClr val="6EE7B7"/>
                </a:solidFill>
                <a:latin typeface="Calibri" pitchFamily="34" charset="0"/>
                <a:ea typeface="Calibri" pitchFamily="34" charset="-122"/>
                <a:cs typeface="Calibri" pitchFamily="34" charset="-120"/>
              </a:rPr>
              <a:t>ANNUAL</a:t>
            </a:r>
            <a:endParaRPr lang="en-US" sz="1200" dirty="0"/>
          </a:p>
        </p:txBody>
      </p:sp>
      <p:sp>
        <p:nvSpPr>
          <p:cNvPr id="39" name="Text 37"/>
          <p:cNvSpPr txBox="1"/>
          <p:nvPr/>
        </p:nvSpPr>
        <p:spPr>
          <a:xfrm>
            <a:off x="749808" y="5157216"/>
            <a:ext cx="3383280" cy="8686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Pay for ten months. The year is covered.</a:t>
            </a:r>
            <a:endParaRPr lang="en-US" sz="1400" dirty="0"/>
          </a:p>
        </p:txBody>
      </p:sp>
      <p:sp>
        <p:nvSpPr>
          <p:cNvPr id="40" name="Text 38"/>
          <p:cNvSpPr txBox="1"/>
          <p:nvPr/>
        </p:nvSpPr>
        <p:spPr>
          <a:xfrm>
            <a:off x="4407408" y="4828032"/>
            <a:ext cx="3383280" cy="256032"/>
          </a:xfrm>
          <a:prstGeom prst="rect">
            <a:avLst/>
          </a:prstGeom>
          <a:noFill/>
          <a:ln/>
        </p:spPr>
        <p:txBody>
          <a:bodyPr wrap="square" lIns="0" tIns="0" rIns="0" bIns="0" rtlCol="0" anchor="t"/>
          <a:lstStyle/>
          <a:p>
            <a:pPr indent="0" marL="0">
              <a:buNone/>
            </a:pPr>
            <a:r>
              <a:rPr lang="en-US" sz="1200" b="1" spc="70" kern="0" dirty="0">
                <a:solidFill>
                  <a:srgbClr val="6EE7B7"/>
                </a:solidFill>
                <a:latin typeface="Calibri" pitchFamily="34" charset="0"/>
                <a:ea typeface="Calibri" pitchFamily="34" charset="-122"/>
                <a:cs typeface="Calibri" pitchFamily="34" charset="-120"/>
              </a:rPr>
              <a:t>IN THE PRODUCT</a:t>
            </a:r>
            <a:endParaRPr lang="en-US" sz="1200" dirty="0"/>
          </a:p>
        </p:txBody>
      </p:sp>
      <p:sp>
        <p:nvSpPr>
          <p:cNvPr id="41" name="Text 39"/>
          <p:cNvSpPr txBox="1"/>
          <p:nvPr/>
        </p:nvSpPr>
        <p:spPr>
          <a:xfrm>
            <a:off x="4407408" y="5157216"/>
            <a:ext cx="3383280" cy="8686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Web, Android, and iOS. The order runs through to finance.</a:t>
            </a:r>
            <a:endParaRPr lang="en-US" sz="1400" dirty="0"/>
          </a:p>
        </p:txBody>
      </p:sp>
      <p:sp>
        <p:nvSpPr>
          <p:cNvPr id="42" name="Text 40"/>
          <p:cNvSpPr txBox="1"/>
          <p:nvPr/>
        </p:nvSpPr>
        <p:spPr>
          <a:xfrm>
            <a:off x="8065008" y="4828032"/>
            <a:ext cx="3383280" cy="256032"/>
          </a:xfrm>
          <a:prstGeom prst="rect">
            <a:avLst/>
          </a:prstGeom>
          <a:noFill/>
          <a:ln/>
        </p:spPr>
        <p:txBody>
          <a:bodyPr wrap="square" lIns="0" tIns="0" rIns="0" bIns="0" rtlCol="0" anchor="t"/>
          <a:lstStyle/>
          <a:p>
            <a:pPr indent="0" marL="0">
              <a:buNone/>
            </a:pPr>
            <a:r>
              <a:rPr lang="en-US" sz="1200" b="1" spc="70" kern="0" dirty="0">
                <a:solidFill>
                  <a:srgbClr val="FDBA74"/>
                </a:solidFill>
                <a:latin typeface="Calibri" pitchFamily="34" charset="0"/>
                <a:ea typeface="Calibri" pitchFamily="34" charset="-122"/>
                <a:cs typeface="Calibri" pitchFamily="34" charset="-120"/>
              </a:rPr>
              <a:t>NOT IN THIS RELEASE</a:t>
            </a:r>
            <a:endParaRPr lang="en-US" sz="1200" dirty="0"/>
          </a:p>
        </p:txBody>
      </p:sp>
      <p:sp>
        <p:nvSpPr>
          <p:cNvPr id="43" name="Text 41"/>
          <p:cNvSpPr txBox="1"/>
          <p:nvPr/>
        </p:nvSpPr>
        <p:spPr>
          <a:xfrm>
            <a:off x="8065008" y="5157216"/>
            <a:ext cx="3383280" cy="8686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Live recurring billing, action-taking AI, full central purchasing.</a:t>
            </a:r>
            <a:endParaRPr lang="en-US" sz="1400" dirty="0"/>
          </a:p>
        </p:txBody>
      </p:sp>
      <p:sp>
        <p:nvSpPr>
          <p:cNvPr id="44" name="Text 42"/>
          <p:cNvSpPr txBox="1"/>
          <p:nvPr/>
        </p:nvSpPr>
        <p:spPr>
          <a:xfrm>
            <a:off x="530352" y="6528816"/>
            <a:ext cx="5486400" cy="201168"/>
          </a:xfrm>
          <a:prstGeom prst="rect">
            <a:avLst/>
          </a:prstGeom>
          <a:noFill/>
          <a:ln/>
        </p:spPr>
        <p:txBody>
          <a:bodyPr wrap="square" lIns="0" tIns="0" rIns="0" bIns="0" rtlCol="0" anchor="t"/>
          <a:lstStyle/>
          <a:p>
            <a:pPr indent="0" marL="0">
              <a:buNone/>
            </a:pPr>
            <a:r>
              <a:rPr lang="en-US" sz="1100" spc="110" kern="0" dirty="0">
                <a:solidFill>
                  <a:srgbClr val="9A94A8"/>
                </a:solidFill>
                <a:latin typeface="Calibri" pitchFamily="34" charset="0"/>
                <a:ea typeface="Calibri" pitchFamily="34" charset="-122"/>
                <a:cs typeface="Calibri" pitchFamily="34" charset="-120"/>
              </a:rPr>
              <a:t>SUPPLIFY   ·   STAKEHOLDER BRIEF</a:t>
            </a:r>
            <a:endParaRPr lang="en-US" sz="1100" dirty="0"/>
          </a:p>
        </p:txBody>
      </p:sp>
      <p:sp>
        <p:nvSpPr>
          <p:cNvPr id="45" name="Text 43"/>
          <p:cNvSpPr txBox="1"/>
          <p:nvPr/>
        </p:nvSpPr>
        <p:spPr>
          <a:xfrm>
            <a:off x="10881360" y="6528816"/>
            <a:ext cx="777240" cy="201168"/>
          </a:xfrm>
          <a:prstGeom prst="rect">
            <a:avLst/>
          </a:prstGeom>
          <a:noFill/>
          <a:ln/>
        </p:spPr>
        <p:txBody>
          <a:bodyPr wrap="square" lIns="0" tIns="0" rIns="0" bIns="0" rtlCol="0" anchor="t"/>
          <a:lstStyle/>
          <a:p>
            <a:pPr algn="r" indent="0" marL="0">
              <a:buNone/>
            </a:pPr>
            <a:r>
              <a:rPr lang="en-US" sz="1200" b="1" dirty="0">
                <a:solidFill>
                  <a:srgbClr val="7C3AED"/>
                </a:solidFill>
                <a:latin typeface="Calibri" pitchFamily="34" charset="0"/>
                <a:ea typeface="Calibri" pitchFamily="34" charset="-122"/>
                <a:cs typeface="Calibri"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0B3A"/>
        </a:solidFill>
      </p:bgPr>
    </p:bg>
    <p:spTree>
      <p:nvGrpSpPr>
        <p:cNvPr id="1" name=""/>
        <p:cNvGrpSpPr/>
        <p:nvPr/>
      </p:nvGrpSpPr>
      <p:grpSpPr>
        <a:xfrm>
          <a:off x="0" y="0"/>
          <a:ext cx="0" cy="0"/>
          <a:chOff x="0" y="0"/>
          <a:chExt cx="0" cy="0"/>
        </a:xfrm>
      </p:grpSpPr>
      <p:sp>
        <p:nvSpPr>
          <p:cNvPr id="2" name="Shape 0"/>
          <p:cNvSpPr/>
          <p:nvPr/>
        </p:nvSpPr>
        <p:spPr>
          <a:xfrm>
            <a:off x="-2194560" y="-2286000"/>
            <a:ext cx="5120640" cy="5120640"/>
          </a:xfrm>
          <a:prstGeom prst="ellipse">
            <a:avLst/>
          </a:prstGeom>
          <a:solidFill>
            <a:srgbClr val="7C3AED"/>
          </a:solidFill>
          <a:ln w="12700">
            <a:solidFill>
              <a:srgbClr val="7C3AED"/>
            </a:solidFill>
            <a:prstDash val="solid"/>
          </a:ln>
        </p:spPr>
      </p:sp>
      <p:sp>
        <p:nvSpPr>
          <p:cNvPr id="3" name="Shape 1"/>
          <p:cNvSpPr/>
          <p:nvPr/>
        </p:nvSpPr>
        <p:spPr>
          <a:xfrm>
            <a:off x="10104120" y="4709160"/>
            <a:ext cx="3108960" cy="3108960"/>
          </a:xfrm>
          <a:prstGeom prst="ellipse">
            <a:avLst/>
          </a:prstGeom>
          <a:solidFill>
            <a:srgbClr val="0F766E"/>
          </a:solidFill>
          <a:ln w="12700">
            <a:solidFill>
              <a:srgbClr val="0F766E"/>
            </a:solidFill>
            <a:prstDash val="solid"/>
          </a:ln>
        </p:spPr>
      </p:sp>
      <p:sp>
        <p:nvSpPr>
          <p:cNvPr id="4" name="Shape 2"/>
          <p:cNvSpPr/>
          <p:nvPr/>
        </p:nvSpPr>
        <p:spPr>
          <a:xfrm>
            <a:off x="5852160" y="347472"/>
            <a:ext cx="493776" cy="493776"/>
          </a:xfrm>
          <a:prstGeom prst="roundRect">
            <a:avLst>
              <a:gd name="adj" fmla="val 22222"/>
            </a:avLst>
          </a:prstGeom>
          <a:solidFill>
            <a:srgbClr val="FFFFFF"/>
          </a:solidFill>
          <a:ln w="12700">
            <a:solidFill>
              <a:srgbClr val="FFFFFF"/>
            </a:solidFill>
            <a:prstDash val="solid"/>
          </a:ln>
        </p:spPr>
      </p:sp>
      <p:pic>
        <p:nvPicPr>
          <p:cNvPr id="5" name="Image 0" descr="C:\myProjects\supplify_erp\apps\web\static\brand\supplify-logo.png">    </p:cNvPr>
          <p:cNvPicPr>
            <a:picLocks noChangeAspect="1"/>
          </p:cNvPicPr>
          <p:nvPr/>
        </p:nvPicPr>
        <p:blipFill>
          <a:blip r:embed="rId1"/>
          <a:stretch>
            <a:fillRect/>
          </a:stretch>
        </p:blipFill>
        <p:spPr>
          <a:xfrm>
            <a:off x="5907024" y="402336"/>
            <a:ext cx="384048" cy="384048"/>
          </a:xfrm>
          <a:prstGeom prst="rect">
            <a:avLst/>
          </a:prstGeom>
        </p:spPr>
      </p:pic>
      <p:sp>
        <p:nvSpPr>
          <p:cNvPr id="6" name="Text 3"/>
          <p:cNvSpPr txBox="1"/>
          <p:nvPr/>
        </p:nvSpPr>
        <p:spPr>
          <a:xfrm>
            <a:off x="1188720" y="1051560"/>
            <a:ext cx="9784080" cy="1234440"/>
          </a:xfrm>
          <a:prstGeom prst="rect">
            <a:avLst/>
          </a:prstGeom>
          <a:noFill/>
          <a:ln/>
        </p:spPr>
        <p:txBody>
          <a:bodyPr wrap="square" lIns="0" tIns="0" rIns="0" bIns="0" rtlCol="0" anchor="t"/>
          <a:lstStyle/>
          <a:p>
            <a:pPr algn="ctr" indent="0" marL="0">
              <a:buNone/>
            </a:pPr>
            <a:r>
              <a:rPr lang="en-US" sz="3200" b="1" dirty="0">
                <a:solidFill>
                  <a:srgbClr val="FFFFFF"/>
                </a:solidFill>
                <a:latin typeface="Calibri" pitchFamily="34" charset="0"/>
                <a:ea typeface="Calibri" pitchFamily="34" charset="-122"/>
                <a:cs typeface="Calibri" pitchFamily="34" charset="-120"/>
              </a:rPr>
              <a:t>Let’s put one connected operating layer</a:t>
            </a:r>
            <a:endParaRPr lang="en-US" sz="3200" dirty="0"/>
          </a:p>
          <a:p>
            <a:pPr algn="ctr" indent="0" marL="0">
              <a:buNone/>
            </a:pPr>
            <a:r>
              <a:rPr lang="en-US" sz="3200" b="1" dirty="0">
                <a:solidFill>
                  <a:srgbClr val="FFFFFF"/>
                </a:solidFill>
                <a:latin typeface="Calibri" pitchFamily="34" charset="0"/>
                <a:ea typeface="Calibri" pitchFamily="34" charset="-122"/>
                <a:cs typeface="Calibri" pitchFamily="34" charset="-120"/>
              </a:rPr>
              <a:t>under your F&amp;B supply.</a:t>
            </a:r>
            <a:endParaRPr lang="en-US" sz="3200" dirty="0"/>
          </a:p>
        </p:txBody>
      </p:sp>
      <p:sp>
        <p:nvSpPr>
          <p:cNvPr id="7" name="Shape 4"/>
          <p:cNvSpPr/>
          <p:nvPr/>
        </p:nvSpPr>
        <p:spPr>
          <a:xfrm>
            <a:off x="640080" y="2514600"/>
            <a:ext cx="2697480" cy="1051560"/>
          </a:xfrm>
          <a:prstGeom prst="roundRect">
            <a:avLst>
              <a:gd name="adj" fmla="val 10435"/>
            </a:avLst>
          </a:prstGeom>
          <a:solidFill>
            <a:srgbClr val="2A1848"/>
          </a:solidFill>
          <a:ln w="12700">
            <a:solidFill>
              <a:srgbClr val="2A1848"/>
            </a:solidFill>
            <a:prstDash val="solid"/>
          </a:ln>
        </p:spPr>
      </p:sp>
      <p:sp>
        <p:nvSpPr>
          <p:cNvPr id="8" name="Text 5"/>
          <p:cNvSpPr txBox="1"/>
          <p:nvPr/>
        </p:nvSpPr>
        <p:spPr>
          <a:xfrm>
            <a:off x="749808" y="2633472"/>
            <a:ext cx="2468880" cy="292608"/>
          </a:xfrm>
          <a:prstGeom prst="rect">
            <a:avLst/>
          </a:prstGeom>
          <a:noFill/>
          <a:ln/>
        </p:spPr>
        <p:txBody>
          <a:bodyPr wrap="square" lIns="0" tIns="0" rIns="0" bIns="0" rtlCol="0" anchor="t"/>
          <a:lstStyle/>
          <a:p>
            <a:pPr algn="ctr" indent="0" marL="0">
              <a:buNone/>
            </a:pPr>
            <a:r>
              <a:rPr lang="en-US" sz="1100" b="1" spc="90" kern="0" dirty="0">
                <a:solidFill>
                  <a:srgbClr val="A78BFA"/>
                </a:solidFill>
                <a:latin typeface="Calibri" pitchFamily="34" charset="0"/>
                <a:ea typeface="Calibri" pitchFamily="34" charset="-122"/>
                <a:cs typeface="Calibri" pitchFamily="34" charset="-120"/>
              </a:rPr>
              <a:t>RESTAURANTS</a:t>
            </a:r>
            <a:endParaRPr lang="en-US" sz="1100" dirty="0"/>
          </a:p>
        </p:txBody>
      </p:sp>
      <p:sp>
        <p:nvSpPr>
          <p:cNvPr id="9" name="Text 6"/>
          <p:cNvSpPr txBox="1"/>
          <p:nvPr/>
        </p:nvSpPr>
        <p:spPr>
          <a:xfrm>
            <a:off x="749808" y="2944368"/>
            <a:ext cx="2468880" cy="420624"/>
          </a:xfrm>
          <a:prstGeom prst="rect">
            <a:avLst/>
          </a:prstGeom>
          <a:noFill/>
          <a:ln/>
        </p:spPr>
        <p:txBody>
          <a:bodyPr wrap="square" lIns="0" tIns="0" rIns="0" bIns="0" rtlCol="0" anchor="t"/>
          <a:lstStyle/>
          <a:p>
            <a:pPr algn="ctr" indent="0" marL="0">
              <a:buNone/>
            </a:pPr>
            <a:r>
              <a:rPr lang="en-US" sz="2000" b="1" dirty="0">
                <a:solidFill>
                  <a:srgbClr val="FFFFFF"/>
                </a:solidFill>
                <a:latin typeface="Calibri" pitchFamily="34" charset="0"/>
                <a:ea typeface="Calibri" pitchFamily="34" charset="-122"/>
                <a:cs typeface="Calibri" pitchFamily="34" charset="-120"/>
              </a:rPr>
              <a:t>Control</a:t>
            </a:r>
            <a:endParaRPr lang="en-US" sz="2000" dirty="0"/>
          </a:p>
        </p:txBody>
      </p:sp>
      <p:sp>
        <p:nvSpPr>
          <p:cNvPr id="10" name="Shape 7"/>
          <p:cNvSpPr/>
          <p:nvPr/>
        </p:nvSpPr>
        <p:spPr>
          <a:xfrm>
            <a:off x="3520440" y="2514600"/>
            <a:ext cx="2697480" cy="1051560"/>
          </a:xfrm>
          <a:prstGeom prst="roundRect">
            <a:avLst>
              <a:gd name="adj" fmla="val 10435"/>
            </a:avLst>
          </a:prstGeom>
          <a:solidFill>
            <a:srgbClr val="2A1848"/>
          </a:solidFill>
          <a:ln w="12700">
            <a:solidFill>
              <a:srgbClr val="2A1848"/>
            </a:solidFill>
            <a:prstDash val="solid"/>
          </a:ln>
        </p:spPr>
      </p:sp>
      <p:sp>
        <p:nvSpPr>
          <p:cNvPr id="11" name="Text 8"/>
          <p:cNvSpPr txBox="1"/>
          <p:nvPr/>
        </p:nvSpPr>
        <p:spPr>
          <a:xfrm>
            <a:off x="3630168" y="2633472"/>
            <a:ext cx="2468880" cy="292608"/>
          </a:xfrm>
          <a:prstGeom prst="rect">
            <a:avLst/>
          </a:prstGeom>
          <a:noFill/>
          <a:ln/>
        </p:spPr>
        <p:txBody>
          <a:bodyPr wrap="square" lIns="0" tIns="0" rIns="0" bIns="0" rtlCol="0" anchor="t"/>
          <a:lstStyle/>
          <a:p>
            <a:pPr algn="ctr" indent="0" marL="0">
              <a:buNone/>
            </a:pPr>
            <a:r>
              <a:rPr lang="en-US" sz="1100" b="1" spc="90" kern="0" dirty="0">
                <a:solidFill>
                  <a:srgbClr val="A78BFA"/>
                </a:solidFill>
                <a:latin typeface="Calibri" pitchFamily="34" charset="0"/>
                <a:ea typeface="Calibri" pitchFamily="34" charset="-122"/>
                <a:cs typeface="Calibri" pitchFamily="34" charset="-120"/>
              </a:rPr>
              <a:t>SUPPLIERS</a:t>
            </a:r>
            <a:endParaRPr lang="en-US" sz="1100" dirty="0"/>
          </a:p>
        </p:txBody>
      </p:sp>
      <p:sp>
        <p:nvSpPr>
          <p:cNvPr id="12" name="Text 9"/>
          <p:cNvSpPr txBox="1"/>
          <p:nvPr/>
        </p:nvSpPr>
        <p:spPr>
          <a:xfrm>
            <a:off x="3630168" y="2944368"/>
            <a:ext cx="2468880" cy="420624"/>
          </a:xfrm>
          <a:prstGeom prst="rect">
            <a:avLst/>
          </a:prstGeom>
          <a:noFill/>
          <a:ln/>
        </p:spPr>
        <p:txBody>
          <a:bodyPr wrap="square" lIns="0" tIns="0" rIns="0" bIns="0" rtlCol="0" anchor="t"/>
          <a:lstStyle/>
          <a:p>
            <a:pPr algn="ctr" indent="0" marL="0">
              <a:buNone/>
            </a:pPr>
            <a:r>
              <a:rPr lang="en-US" sz="2000" b="1" dirty="0">
                <a:solidFill>
                  <a:srgbClr val="FFFFFF"/>
                </a:solidFill>
                <a:latin typeface="Calibri" pitchFamily="34" charset="0"/>
                <a:ea typeface="Calibri" pitchFamily="34" charset="-122"/>
                <a:cs typeface="Calibri" pitchFamily="34" charset="-120"/>
              </a:rPr>
              <a:t>Execution</a:t>
            </a:r>
            <a:endParaRPr lang="en-US" sz="2000" dirty="0"/>
          </a:p>
        </p:txBody>
      </p:sp>
      <p:sp>
        <p:nvSpPr>
          <p:cNvPr id="13" name="Shape 10"/>
          <p:cNvSpPr/>
          <p:nvPr/>
        </p:nvSpPr>
        <p:spPr>
          <a:xfrm>
            <a:off x="6400800" y="2514600"/>
            <a:ext cx="2697480" cy="1051560"/>
          </a:xfrm>
          <a:prstGeom prst="roundRect">
            <a:avLst>
              <a:gd name="adj" fmla="val 10435"/>
            </a:avLst>
          </a:prstGeom>
          <a:solidFill>
            <a:srgbClr val="2A1848"/>
          </a:solidFill>
          <a:ln w="12700">
            <a:solidFill>
              <a:srgbClr val="2A1848"/>
            </a:solidFill>
            <a:prstDash val="solid"/>
          </a:ln>
        </p:spPr>
      </p:sp>
      <p:sp>
        <p:nvSpPr>
          <p:cNvPr id="14" name="Text 11"/>
          <p:cNvSpPr txBox="1"/>
          <p:nvPr/>
        </p:nvSpPr>
        <p:spPr>
          <a:xfrm>
            <a:off x="6510528" y="2633472"/>
            <a:ext cx="2468880" cy="292608"/>
          </a:xfrm>
          <a:prstGeom prst="rect">
            <a:avLst/>
          </a:prstGeom>
          <a:noFill/>
          <a:ln/>
        </p:spPr>
        <p:txBody>
          <a:bodyPr wrap="square" lIns="0" tIns="0" rIns="0" bIns="0" rtlCol="0" anchor="t"/>
          <a:lstStyle/>
          <a:p>
            <a:pPr algn="ctr" indent="0" marL="0">
              <a:buNone/>
            </a:pPr>
            <a:r>
              <a:rPr lang="en-US" sz="1100" b="1" spc="90" kern="0" dirty="0">
                <a:solidFill>
                  <a:srgbClr val="A78BFA"/>
                </a:solidFill>
                <a:latin typeface="Calibri" pitchFamily="34" charset="0"/>
                <a:ea typeface="Calibri" pitchFamily="34" charset="-122"/>
                <a:cs typeface="Calibri" pitchFamily="34" charset="-120"/>
              </a:rPr>
              <a:t>WAREHOUSES</a:t>
            </a:r>
            <a:endParaRPr lang="en-US" sz="1100" dirty="0"/>
          </a:p>
        </p:txBody>
      </p:sp>
      <p:sp>
        <p:nvSpPr>
          <p:cNvPr id="15" name="Text 12"/>
          <p:cNvSpPr txBox="1"/>
          <p:nvPr/>
        </p:nvSpPr>
        <p:spPr>
          <a:xfrm>
            <a:off x="6510528" y="2944368"/>
            <a:ext cx="2468880" cy="420624"/>
          </a:xfrm>
          <a:prstGeom prst="rect">
            <a:avLst/>
          </a:prstGeom>
          <a:noFill/>
          <a:ln/>
        </p:spPr>
        <p:txBody>
          <a:bodyPr wrap="square" lIns="0" tIns="0" rIns="0" bIns="0" rtlCol="0" anchor="t"/>
          <a:lstStyle/>
          <a:p>
            <a:pPr algn="ctr" indent="0" marL="0">
              <a:buNone/>
            </a:pPr>
            <a:r>
              <a:rPr lang="en-US" sz="2000" b="1" dirty="0">
                <a:solidFill>
                  <a:srgbClr val="FFFFFF"/>
                </a:solidFill>
                <a:latin typeface="Calibri" pitchFamily="34" charset="0"/>
                <a:ea typeface="Calibri" pitchFamily="34" charset="-122"/>
                <a:cs typeface="Calibri" pitchFamily="34" charset="-120"/>
              </a:rPr>
              <a:t>Coordination</a:t>
            </a:r>
            <a:endParaRPr lang="en-US" sz="2000" dirty="0"/>
          </a:p>
        </p:txBody>
      </p:sp>
      <p:sp>
        <p:nvSpPr>
          <p:cNvPr id="16" name="Shape 13"/>
          <p:cNvSpPr/>
          <p:nvPr/>
        </p:nvSpPr>
        <p:spPr>
          <a:xfrm>
            <a:off x="9281160" y="2514600"/>
            <a:ext cx="2697480" cy="1051560"/>
          </a:xfrm>
          <a:prstGeom prst="roundRect">
            <a:avLst>
              <a:gd name="adj" fmla="val 10435"/>
            </a:avLst>
          </a:prstGeom>
          <a:solidFill>
            <a:srgbClr val="2A1848"/>
          </a:solidFill>
          <a:ln w="12700">
            <a:solidFill>
              <a:srgbClr val="2A1848"/>
            </a:solidFill>
            <a:prstDash val="solid"/>
          </a:ln>
        </p:spPr>
      </p:sp>
      <p:sp>
        <p:nvSpPr>
          <p:cNvPr id="17" name="Text 14"/>
          <p:cNvSpPr txBox="1"/>
          <p:nvPr/>
        </p:nvSpPr>
        <p:spPr>
          <a:xfrm>
            <a:off x="9390888" y="2633472"/>
            <a:ext cx="2468880" cy="292608"/>
          </a:xfrm>
          <a:prstGeom prst="rect">
            <a:avLst/>
          </a:prstGeom>
          <a:noFill/>
          <a:ln/>
        </p:spPr>
        <p:txBody>
          <a:bodyPr wrap="square" lIns="0" tIns="0" rIns="0" bIns="0" rtlCol="0" anchor="t"/>
          <a:lstStyle/>
          <a:p>
            <a:pPr algn="ctr" indent="0" marL="0">
              <a:buNone/>
            </a:pPr>
            <a:r>
              <a:rPr lang="en-US" sz="1100" b="1" spc="90" kern="0" dirty="0">
                <a:solidFill>
                  <a:srgbClr val="A78BFA"/>
                </a:solidFill>
                <a:latin typeface="Calibri" pitchFamily="34" charset="0"/>
                <a:ea typeface="Calibri" pitchFamily="34" charset="-122"/>
                <a:cs typeface="Calibri" pitchFamily="34" charset="-120"/>
              </a:rPr>
              <a:t>DRIVERS</a:t>
            </a:r>
            <a:endParaRPr lang="en-US" sz="1100" dirty="0"/>
          </a:p>
        </p:txBody>
      </p:sp>
      <p:sp>
        <p:nvSpPr>
          <p:cNvPr id="18" name="Text 15"/>
          <p:cNvSpPr txBox="1"/>
          <p:nvPr/>
        </p:nvSpPr>
        <p:spPr>
          <a:xfrm>
            <a:off x="9390888" y="2944368"/>
            <a:ext cx="2468880" cy="420624"/>
          </a:xfrm>
          <a:prstGeom prst="rect">
            <a:avLst/>
          </a:prstGeom>
          <a:noFill/>
          <a:ln/>
        </p:spPr>
        <p:txBody>
          <a:bodyPr wrap="square" lIns="0" tIns="0" rIns="0" bIns="0" rtlCol="0" anchor="t"/>
          <a:lstStyle/>
          <a:p>
            <a:pPr algn="ctr" indent="0" marL="0">
              <a:buNone/>
            </a:pPr>
            <a:r>
              <a:rPr lang="en-US" sz="2000" b="1" dirty="0">
                <a:solidFill>
                  <a:srgbClr val="FFFFFF"/>
                </a:solidFill>
                <a:latin typeface="Calibri" pitchFamily="34" charset="0"/>
                <a:ea typeface="Calibri" pitchFamily="34" charset="-122"/>
                <a:cs typeface="Calibri" pitchFamily="34" charset="-120"/>
              </a:rPr>
              <a:t>Connection</a:t>
            </a:r>
            <a:endParaRPr lang="en-US" sz="2000" dirty="0"/>
          </a:p>
        </p:txBody>
      </p:sp>
      <p:sp>
        <p:nvSpPr>
          <p:cNvPr id="19" name="Text 16"/>
          <p:cNvSpPr txBox="1"/>
          <p:nvPr/>
        </p:nvSpPr>
        <p:spPr>
          <a:xfrm>
            <a:off x="731520" y="3840480"/>
            <a:ext cx="10698480" cy="365760"/>
          </a:xfrm>
          <a:prstGeom prst="rect">
            <a:avLst/>
          </a:prstGeom>
          <a:noFill/>
          <a:ln/>
        </p:spPr>
        <p:txBody>
          <a:bodyPr wrap="square" lIns="0" tIns="0" rIns="0" bIns="0" rtlCol="0" anchor="t"/>
          <a:lstStyle/>
          <a:p>
            <a:pPr algn="ctr" indent="0" marL="0">
              <a:buNone/>
            </a:pPr>
            <a:r>
              <a:rPr lang="en-US" sz="1600" b="1" spc="120" kern="0" dirty="0">
                <a:solidFill>
                  <a:srgbClr val="6EE7B7"/>
                </a:solidFill>
                <a:latin typeface="Calibri" pitchFamily="34" charset="0"/>
                <a:ea typeface="Calibri" pitchFamily="34" charset="-122"/>
                <a:cs typeface="Calibri" pitchFamily="34" charset="-120"/>
              </a:rPr>
              <a:t>SOURCE.    ORDER.    FULFILL.    DELIVER.</a:t>
            </a:r>
            <a:endParaRPr lang="en-US" sz="1600" dirty="0"/>
          </a:p>
        </p:txBody>
      </p:sp>
      <p:sp>
        <p:nvSpPr>
          <p:cNvPr id="20" name="Shape 17"/>
          <p:cNvSpPr/>
          <p:nvPr/>
        </p:nvSpPr>
        <p:spPr>
          <a:xfrm>
            <a:off x="2880360" y="4434840"/>
            <a:ext cx="6446520" cy="658368"/>
          </a:xfrm>
          <a:prstGeom prst="roundRect">
            <a:avLst>
              <a:gd name="adj" fmla="val 16667"/>
            </a:avLst>
          </a:prstGeom>
          <a:solidFill>
            <a:srgbClr val="10B981"/>
          </a:solidFill>
          <a:ln w="12700">
            <a:solidFill>
              <a:srgbClr val="10B981"/>
            </a:solidFill>
            <a:prstDash val="solid"/>
          </a:ln>
        </p:spPr>
      </p:sp>
      <p:sp>
        <p:nvSpPr>
          <p:cNvPr id="21" name="Text 18"/>
          <p:cNvSpPr txBox="1"/>
          <p:nvPr/>
        </p:nvSpPr>
        <p:spPr>
          <a:xfrm>
            <a:off x="2880360" y="4434840"/>
            <a:ext cx="6446520" cy="658368"/>
          </a:xfrm>
          <a:prstGeom prst="rect">
            <a:avLst/>
          </a:prstGeom>
          <a:noFill/>
          <a:ln/>
        </p:spPr>
        <p:txBody>
          <a:bodyPr wrap="square" lIns="0" tIns="0" rIns="0" bIns="0" rtlCol="0" anchor="ctr"/>
          <a:lstStyle/>
          <a:p>
            <a:pPr algn="ctr" indent="0" marL="0">
              <a:buNone/>
            </a:pPr>
            <a:r>
              <a:rPr lang="en-US" sz="1800" b="1" dirty="0">
                <a:solidFill>
                  <a:srgbClr val="1E0B3A"/>
                </a:solidFill>
                <a:latin typeface="Calibri" pitchFamily="34" charset="0"/>
                <a:ea typeface="Calibri" pitchFamily="34" charset="-122"/>
                <a:cs typeface="Calibri" pitchFamily="34" charset="-120"/>
              </a:rPr>
              <a:t>Next step: walk one live order, end to end</a:t>
            </a:r>
            <a:endParaRPr lang="en-US" sz="1800" dirty="0"/>
          </a:p>
        </p:txBody>
      </p:sp>
      <p:sp>
        <p:nvSpPr>
          <p:cNvPr id="22" name="Text 19"/>
          <p:cNvSpPr txBox="1"/>
          <p:nvPr/>
        </p:nvSpPr>
        <p:spPr>
          <a:xfrm>
            <a:off x="2011680" y="5303520"/>
            <a:ext cx="8138160" cy="292608"/>
          </a:xfrm>
          <a:prstGeom prst="rect">
            <a:avLst/>
          </a:prstGeom>
          <a:noFill/>
          <a:ln/>
        </p:spPr>
        <p:txBody>
          <a:bodyPr wrap="square" lIns="0" tIns="0" rIns="0" bIns="0" rtlCol="0" anchor="t"/>
          <a:lstStyle/>
          <a:p>
            <a:pPr algn="ctr" indent="0" marL="0">
              <a:buNone/>
            </a:pPr>
            <a:r>
              <a:rPr lang="en-US" sz="1400" dirty="0">
                <a:solidFill>
                  <a:srgbClr val="C4B5FD"/>
                </a:solidFill>
                <a:latin typeface="Calibri" pitchFamily="34" charset="0"/>
                <a:ea typeface="Calibri" pitchFamily="34" charset="-122"/>
                <a:cs typeface="Calibri" pitchFamily="34" charset="-120"/>
              </a:rPr>
              <a:t>The workflow is in the product. A pilot is the proof.</a:t>
            </a:r>
            <a:endParaRPr lang="en-US" sz="1400" dirty="0"/>
          </a:p>
        </p:txBody>
      </p:sp>
      <p:sp>
        <p:nvSpPr>
          <p:cNvPr id="23" name="Text 20"/>
          <p:cNvSpPr txBox="1"/>
          <p:nvPr/>
        </p:nvSpPr>
        <p:spPr>
          <a:xfrm>
            <a:off x="731520" y="6263640"/>
            <a:ext cx="10698480" cy="219456"/>
          </a:xfrm>
          <a:prstGeom prst="rect">
            <a:avLst/>
          </a:prstGeom>
          <a:noFill/>
          <a:ln/>
        </p:spPr>
        <p:txBody>
          <a:bodyPr wrap="square" lIns="0" tIns="0" rIns="0" bIns="0" rtlCol="0" anchor="t"/>
          <a:lstStyle/>
          <a:p>
            <a:pPr algn="ctr" indent="0" marL="0">
              <a:buNone/>
            </a:pPr>
            <a:r>
              <a:rPr lang="en-US" sz="1200" b="1" spc="220" kern="0" dirty="0">
                <a:solidFill>
                  <a:srgbClr val="A78BFA"/>
                </a:solidFill>
                <a:latin typeface="Calibri" pitchFamily="34" charset="0"/>
                <a:ea typeface="Calibri" pitchFamily="34" charset="-122"/>
                <a:cs typeface="Calibri" pitchFamily="34" charset="-120"/>
              </a:rPr>
              <a:t>SUPPLIFY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Supplify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Supplify — Stakeholder brief</dc:title>
  <dc:subject>Seven-slide stakeholder brief: the operating platform for F&amp;B procurement and supply</dc:subject>
  <dc:creator>Supplify</dc:creator>
  <cp:lastModifiedBy>Supplify</cp:lastModifiedBy>
  <cp:revision>1</cp:revision>
  <dcterms:created xsi:type="dcterms:W3CDTF">2026-10-01T20:10:37Z</dcterms:created>
  <dcterms:modified xsi:type="dcterms:W3CDTF">2026-10-01T20:10:37Z</dcterms:modified>
</cp:coreProperties>
</file>