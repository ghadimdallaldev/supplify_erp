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7addak compresses a fragmented home-maintenance search into one trusted, managed journey.
TRANSITION: First, show why the current experience is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pain is not only the repair—it is the unmanaged search, price uncertainty, and trust gap around it.
TRANSITION: 7addak replaces that burden with a guided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interface begins with the customer’s symptom—not trade terminology—and carries the job through resolution.
TRANSITION: That experience creates value on both sides of the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7addak wins only when both sides experience less friction and more productive outcomes.
TRANSITION: The mechanism that makes that possible is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Verification, eligibility, reputation, and platform oversight turn a directory into a managed service promise.
TRANSITION: That trust must extend to pricing, especially when the repair is uncertain.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Fixed price serves predictable work; diagnosis plus explicit approval serves uncertain repair work.
TRANSITION: The platform has to operationalize that promise from request through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7addak is the accountable operating layer: it manages eligibility, matching, pricing, workflow, payment, quality, and support.
TRANSITION: That operating role supports a straightforward commercial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primary model is a platform share on completed jobs; every other monetization route remains a future option.
TRANSITION: The launch strategy must first create reliable local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Start small, create local density, prove reliability, and make Time to Resolution the north-star measure.
TRANSITION: The closing vision is a simpler category promise people can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7addak replaces a stressful, fragmented process with five memorable actions and one accountable service promise.
TRANSITION: Close on the promise: Problem → Technician →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331720"/>
            <a:ext cx="6583680" cy="6583680"/>
          </a:xfrm>
          <a:prstGeom prst="ellipse">
            <a:avLst/>
          </a:prstGeom>
          <a:solidFill>
            <a:srgbClr val="0F766E">
              <a:alpha val="76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4919472"/>
            <a:ext cx="2560320" cy="2560320"/>
          </a:xfrm>
          <a:prstGeom prst="ellipse">
            <a:avLst/>
          </a:prstGeom>
          <a:solidFill>
            <a:srgbClr val="F59E0B">
              <a:alpha val="6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5349240"/>
            <a:ext cx="2560320" cy="2560320"/>
          </a:xfrm>
          <a:prstGeom prst="ellipse">
            <a:avLst/>
          </a:prstGeom>
          <a:solidFill>
            <a:srgbClr val="0D9488">
              <a:alpha val="5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457200"/>
            <a:ext cx="512064" cy="512064"/>
          </a:xfrm>
          <a:prstGeom prst="hexag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48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475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spc="2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7addak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573768" y="530352"/>
            <a:ext cx="1993392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46920" y="5486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OVERVIEW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76656" y="1389888"/>
            <a:ext cx="6720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button between 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problem and 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trusted professional.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94944" y="3749040"/>
            <a:ext cx="5989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managed home-maintenance marketplace built around one outcome: less uncertainty, faster resolution, and service people can trust.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94944" y="4736592"/>
            <a:ext cx="1252728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47548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057400" y="4736592"/>
            <a:ext cx="1252728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475488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419856" y="4736592"/>
            <a:ext cx="1115568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475488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PLUMBING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645152" y="4736592"/>
            <a:ext cx="786384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4754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174736" y="2542032"/>
            <a:ext cx="969264" cy="649224"/>
          </a:xfrm>
          <a:prstGeom prst="line">
            <a:avLst/>
          </a:prstGeom>
          <a:solidFill>
            <a:srgbClr val="FFFFFF">
              <a:alpha val="0"/>
            </a:srgbClr>
          </a:solidFill>
          <a:ln w="2667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9866376" y="2487168"/>
            <a:ext cx="777240" cy="640080"/>
          </a:xfrm>
          <a:prstGeom prst="line">
            <a:avLst/>
          </a:prstGeom>
          <a:solidFill>
            <a:srgbClr val="FFFFFF">
              <a:alpha val="0"/>
            </a:srgbClr>
          </a:solidFill>
          <a:ln w="2667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4928" y="1828800"/>
            <a:ext cx="960120" cy="9601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2700000">
              <a:srgbClr val="020617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24928" y="1810512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178040" y="297180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7040880" y="3246120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what is wrong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87968" y="2999232"/>
            <a:ext cx="1097280" cy="10972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2700000">
              <a:srgbClr val="020617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887968" y="2980944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8641080" y="4279392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8503920" y="45537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and managed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424160" y="1673352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2700000">
              <a:srgbClr val="020617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24160" y="165506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10177272" y="281635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10040112" y="3090672"/>
            <a:ext cx="1728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Resolution, support, trust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06640" y="513892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spc="70" kern="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 →  TECHNICIAN  →  FIXED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maintenance starts with uncertainty.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something breaks, customers become coordinators—searching, calling, negotiating, and hoping.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110002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08483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15768" y="2587752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2331720"/>
            <a:ext cx="512064" cy="51206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47088" y="28803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79976" y="2587752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21608" y="2331720"/>
            <a:ext cx="512064" cy="51206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11296" y="28803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044184" y="2587752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85816" y="2331720"/>
            <a:ext cx="512064" cy="51206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5504" y="28803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NEGOTIATE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08392" y="2587752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50024" y="2331720"/>
            <a:ext cx="512064" cy="51206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28803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714232" y="2331720"/>
            <a:ext cx="512064" cy="51206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423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288036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HOPE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94360" y="3511296"/>
            <a:ext cx="11000232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" y="373075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7ADDAK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15768" y="4224528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57400" y="396849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47088" y="451713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379976" y="4224528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721608" y="396849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11296" y="451713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044184" y="4224528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385816" y="396849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85816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75504" y="451713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708392" y="4224528"/>
            <a:ext cx="914400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50024" y="3968496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0024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39712" y="451713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714232" y="396849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14232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03920" y="451713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03504" y="5193792"/>
            <a:ext cx="346557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539496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1947672" y="533095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calls, uncertain availability, and endless coordination.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4325112" y="5193792"/>
            <a:ext cx="346557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26280" y="539496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ANXIETY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5669280" y="533095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scope and informal negotiation create doubt before work begins.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8046720" y="5193792"/>
            <a:ext cx="3465576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47888" y="539496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RISK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9390888" y="533095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quality, inconsistent service, and little recourse if things go wrong.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“what’s happening?” to handled.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describe symptoms in plain language. 7addak orchestrates everything that follows.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612648" y="1828800"/>
            <a:ext cx="3127248" cy="42245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1396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1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HAPPENING?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96112" y="245059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Tell us what you see.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86968" y="3090672"/>
            <a:ext cx="2542032" cy="329184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10896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leaking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044952" y="310896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6968" y="3538728"/>
            <a:ext cx="2542032" cy="329184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5570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water pressure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86968" y="3986784"/>
            <a:ext cx="2542032" cy="329184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00507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Toilet problem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86968" y="4434840"/>
            <a:ext cx="2542032" cy="329184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45312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hot water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86968" y="4882896"/>
            <a:ext cx="2542032" cy="329184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490118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Something else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96112" y="5468112"/>
            <a:ext cx="2523744" cy="91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5641848"/>
            <a:ext cx="1152144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5660136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NOW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57984" y="5641848"/>
            <a:ext cx="1271016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7984" y="5660136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69080" y="1828800"/>
            <a:ext cx="233172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1828800"/>
            <a:ext cx="233172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20848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81728" y="207568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70248" y="2670048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0248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9160" y="266090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us what’s wrong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4416552" y="2980944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0248" y="333756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0248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332841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simple questions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4416552" y="3648456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0248" y="400507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0248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399592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or schedule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4416552" y="4315968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0248" y="4672584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0248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09160" y="46634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location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556248" y="1828800"/>
            <a:ext cx="233172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56248" y="1828800"/>
            <a:ext cx="23317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9128" y="20848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68896" y="207568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57416" y="26700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57416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196328" y="266090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technician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903720" y="2980944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57416" y="333756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57416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196328" y="332841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confirmed</a:t>
            </a:r>
            <a:endParaRPr lang="en-US" sz="1010" dirty="0"/>
          </a:p>
        </p:txBody>
      </p:sp>
      <p:sp>
        <p:nvSpPr>
          <p:cNvPr id="56" name="Shape 54"/>
          <p:cNvSpPr/>
          <p:nvPr/>
        </p:nvSpPr>
        <p:spPr>
          <a:xfrm>
            <a:off x="6903720" y="3648456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57416" y="400507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57416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196328" y="399592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 &amp; tracking</a:t>
            </a:r>
            <a:endParaRPr lang="en-US" sz="1010" dirty="0"/>
          </a:p>
        </p:txBody>
      </p:sp>
      <p:sp>
        <p:nvSpPr>
          <p:cNvPr id="60" name="Shape 58"/>
          <p:cNvSpPr/>
          <p:nvPr/>
        </p:nvSpPr>
        <p:spPr>
          <a:xfrm>
            <a:off x="9043416" y="1828800"/>
            <a:ext cx="254203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43416" y="1828800"/>
            <a:ext cx="254203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26296" y="208483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656064" y="20756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244584" y="26700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44584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683496" y="2660904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/ quote</a:t>
            </a:r>
            <a:endParaRPr lang="en-US" sz="1010" dirty="0"/>
          </a:p>
        </p:txBody>
      </p:sp>
      <p:sp>
        <p:nvSpPr>
          <p:cNvPr id="67" name="Shape 65"/>
          <p:cNvSpPr/>
          <p:nvPr/>
        </p:nvSpPr>
        <p:spPr>
          <a:xfrm>
            <a:off x="9390888" y="2980944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44584" y="333756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44584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683496" y="3328416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010" dirty="0"/>
          </a:p>
        </p:txBody>
      </p:sp>
      <p:sp>
        <p:nvSpPr>
          <p:cNvPr id="71" name="Shape 69"/>
          <p:cNvSpPr/>
          <p:nvPr/>
        </p:nvSpPr>
        <p:spPr>
          <a:xfrm>
            <a:off x="9390888" y="3648456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44584" y="400507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44584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683496" y="399592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10" dirty="0"/>
          </a:p>
        </p:txBody>
      </p:sp>
      <p:sp>
        <p:nvSpPr>
          <p:cNvPr id="75" name="Shape 73"/>
          <p:cNvSpPr/>
          <p:nvPr/>
        </p:nvSpPr>
        <p:spPr>
          <a:xfrm>
            <a:off x="9390888" y="4315968"/>
            <a:ext cx="914" cy="27432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44584" y="467258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44584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683496" y="466344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&amp; rate</a:t>
            </a:r>
            <a:endParaRPr lang="en-US" sz="1010" dirty="0"/>
          </a:p>
        </p:txBody>
      </p:sp>
      <p:sp>
        <p:nvSpPr>
          <p:cNvPr id="79" name="Shape 77"/>
          <p:cNvSpPr/>
          <p:nvPr/>
        </p:nvSpPr>
        <p:spPr>
          <a:xfrm>
            <a:off x="6391656" y="3886200"/>
            <a:ext cx="128016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8878824" y="3886200"/>
            <a:ext cx="128016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6199632" y="61722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spc="12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TECHNICAL KNOWLEDGE REQUIRED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TWO-SIDED VALUE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for the home. Better for the professional.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removes coordination friction for customers and demand-generation friction for technicians.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603504" y="1874520"/>
            <a:ext cx="5157216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28232" y="1874520"/>
            <a:ext cx="5157216" cy="42793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41264" y="3474720"/>
            <a:ext cx="1097280" cy="10972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41264" y="34564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138928" y="4023360"/>
            <a:ext cx="384048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6254496" y="4023360"/>
            <a:ext cx="384048" cy="914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905256" y="2157984"/>
            <a:ext cx="237744" cy="21872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157984"/>
            <a:ext cx="237744" cy="21872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334" y="2357689"/>
            <a:ext cx="323332" cy="247254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9226" y="2467051"/>
            <a:ext cx="85588" cy="137892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2768" y="21671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CUSTOMERS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" y="25877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without the chase.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3246120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28" dirty="0"/>
          </a:p>
        </p:txBody>
      </p:sp>
      <p:sp>
        <p:nvSpPr>
          <p:cNvPr id="21" name="Text 19"/>
          <p:cNvSpPr/>
          <p:nvPr/>
        </p:nvSpPr>
        <p:spPr>
          <a:xfrm>
            <a:off x="1316736" y="32369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2221992" y="319125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request, simple questions, visible ETA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4032504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28" dirty="0"/>
          </a:p>
        </p:txBody>
      </p:sp>
      <p:sp>
        <p:nvSpPr>
          <p:cNvPr id="25" name="Text 23"/>
          <p:cNvSpPr/>
          <p:nvPr/>
        </p:nvSpPr>
        <p:spPr>
          <a:xfrm>
            <a:off x="1316736" y="4023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2221992" y="39776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pricing and transparent quotations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4818888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809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28" dirty="0"/>
          </a:p>
        </p:txBody>
      </p:sp>
      <p:sp>
        <p:nvSpPr>
          <p:cNvPr id="29" name="Text 27"/>
          <p:cNvSpPr/>
          <p:nvPr/>
        </p:nvSpPr>
        <p:spPr>
          <a:xfrm>
            <a:off x="1316736" y="48097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2221992" y="4764024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Ratings, service history, support, warranty potential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4400" y="5596128"/>
            <a:ext cx="4343400" cy="31089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5614416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SEARCHING  •  MORE CERTAINTY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891284" y="2157984"/>
            <a:ext cx="171176" cy="17117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6187" y="2348179"/>
            <a:ext cx="361371" cy="261518"/>
          </a:xfrm>
          <a:prstGeom prst="arc">
            <a:avLst/>
          </a:prstGeom>
          <a:solidFill>
            <a:srgbClr val="FFFFFF">
              <a:alpha val="0"/>
            </a:srgbClr>
          </a:solidFill>
          <a:ln w="20320">
            <a:solidFill>
              <a:srgbClr val="5EEA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2167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TECHNICIANS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39128" y="25877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time doing skilled work.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748272" y="32461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28" dirty="0"/>
          </a:p>
        </p:txBody>
      </p:sp>
      <p:sp>
        <p:nvSpPr>
          <p:cNvPr id="39" name="Text 37"/>
          <p:cNvSpPr/>
          <p:nvPr/>
        </p:nvSpPr>
        <p:spPr>
          <a:xfrm>
            <a:off x="7150608" y="323697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8211312" y="319125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jobs and less time finding customers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48272" y="40325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28" dirty="0"/>
          </a:p>
        </p:txBody>
      </p:sp>
      <p:sp>
        <p:nvSpPr>
          <p:cNvPr id="43" name="Text 41"/>
          <p:cNvSpPr/>
          <p:nvPr/>
        </p:nvSpPr>
        <p:spPr>
          <a:xfrm>
            <a:off x="7150608" y="4023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8211312" y="3977640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Navigation, quotations, job flow, earnings visibility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748272" y="48188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4809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28" dirty="0"/>
          </a:p>
        </p:txBody>
      </p:sp>
      <p:sp>
        <p:nvSpPr>
          <p:cNvPr id="47" name="Text 45"/>
          <p:cNvSpPr/>
          <p:nvPr/>
        </p:nvSpPr>
        <p:spPr>
          <a:xfrm>
            <a:off x="7150608" y="480974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REPUTATION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8211312" y="476402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Ratings, repeat demand, and a trusted service record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48272" y="5596128"/>
            <a:ext cx="4334256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561441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PROSPECTING  •  MORE PRODUCTIVE TIME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THE TRUST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is not a feature. It is the product.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is a managed marketplace—not an open directory of names and phone numbers.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“7addak is selling trust,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plumbing.”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76656" y="3675888"/>
            <a:ext cx="4599432" cy="1133856"/>
          </a:xfrm>
          <a:prstGeom prst="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1363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DIRECTORY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of options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88336" y="397764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310128" y="39136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310128" y="4224528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accountable experience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" y="51389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" kern="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Review. Match. Monitor. Support.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551383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layer reduces uncertainty before, during, and after the visit.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19088" y="2039112"/>
            <a:ext cx="914" cy="3694176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190195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6876288" y="1892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IDENTITY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025128" y="187452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who is arriving.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227064" y="25603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876288" y="2551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025128" y="253288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right trade to the problem.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227064" y="3218688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876288" y="32095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025128" y="319125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practical capability and background.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227064" y="3877056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876288" y="38679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025128" y="38496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each outcome into visible reputation.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227064" y="453542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876288" y="4526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HISTORY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025128" y="4507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operating record over time.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227064" y="51937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876288" y="5184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OVERSIGHT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025128" y="516636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Support, complaints, and quality control.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Clarity before commitment.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right pricing model for the job—without asking the customer to gamble on an unknown total.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603504" y="1856232"/>
            <a:ext cx="4114800" cy="41513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148840"/>
            <a:ext cx="1298448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16712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PRICE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896112" y="2670048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service.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price.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05256" y="3721608"/>
            <a:ext cx="31272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predictable work such as installation or routine maintenance.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905256" y="4590288"/>
            <a:ext cx="3429000" cy="786384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473659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9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SHOWN BEFORE BOOKING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794760" y="47548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905256" y="55595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comes from knowing the commitment upfront.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992624" y="1856232"/>
            <a:ext cx="6601968" cy="4151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94376" y="2148840"/>
            <a:ext cx="2176272" cy="31089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216712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+ QUOTATION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294376" y="2660904"/>
            <a:ext cx="5797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Unknown repair. Transparent decision.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675120" y="3630168"/>
            <a:ext cx="329184" cy="91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3355848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355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1888" y="33284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65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961888" y="360273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 inspects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8449056" y="3630168"/>
            <a:ext cx="329184" cy="91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77456" y="3355848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3355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35824" y="33284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65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ITEMIZE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735824" y="360273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 + materials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8851392" y="3355848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51392" y="3355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0" y="33284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65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509760" y="360273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sees total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5303520" y="4270248"/>
            <a:ext cx="3364992" cy="12893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4462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ITEMIZED QUOTE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4736592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894576" y="473659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Clearly stated</a:t>
            </a:r>
            <a:endParaRPr lang="en-US" sz="920" dirty="0"/>
          </a:p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Clearly stated</a:t>
            </a:r>
            <a:endParaRPr lang="en-US" sz="920" dirty="0"/>
          </a:p>
          <a:p>
            <a:pPr algn="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total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897112" y="4270248"/>
            <a:ext cx="2395728" cy="53949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7112" y="430682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897112" y="5020056"/>
            <a:ext cx="2395728" cy="539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97112" y="505663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06440" y="57150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quote-dependent work begins before customer approval.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OPERATING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Convenience on the surface. Control underneath.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owns the service workflow between the customer’s need and the technician’s work.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960120" y="2953512"/>
            <a:ext cx="987552" cy="9875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25296" y="3163824"/>
            <a:ext cx="228600" cy="210312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3163824"/>
            <a:ext cx="228600" cy="210312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3355848"/>
            <a:ext cx="310896" cy="237744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1036" y="3461004"/>
            <a:ext cx="82296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1056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95528" y="437997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+ location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4928616" y="2514600"/>
            <a:ext cx="1938528" cy="1938528"/>
          </a:xfrm>
          <a:prstGeom prst="hexagon">
            <a:avLst/>
          </a:prstGeom>
          <a:solidFill>
            <a:srgbClr val="0F766E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2700000">
              <a:srgbClr val="02061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28616" y="2578608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4300" dirty="0"/>
          </a:p>
        </p:txBody>
      </p:sp>
      <p:sp>
        <p:nvSpPr>
          <p:cNvPr id="16" name="Text 14"/>
          <p:cNvSpPr/>
          <p:nvPr/>
        </p:nvSpPr>
        <p:spPr>
          <a:xfrm>
            <a:off x="4928616" y="369417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140" kern="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0222992" y="2953512"/>
            <a:ext cx="987552" cy="9875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34472" y="316382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3032" y="3346704"/>
            <a:ext cx="347472" cy="251460"/>
          </a:xfrm>
          <a:prstGeom prst="arc">
            <a:avLst/>
          </a:prstGeom>
          <a:solidFill>
            <a:srgbClr val="FFFFFF">
              <a:alpha val="0"/>
            </a:srgbClr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49256" y="410565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985248" y="4379976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+ availability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2157984" y="3456432"/>
            <a:ext cx="2578608" cy="914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59168" y="3456432"/>
            <a:ext cx="2980944" cy="914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907792" y="31181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35240" y="311810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+ MANAGE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4965192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983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990088" y="4965192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4983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266944" y="4965192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0096" y="4983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RULES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543800" y="4965192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16952" y="4983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STATUS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9820656" y="4965192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93808" y="49834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QUOTATIONS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713232" y="5394960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541324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990088" y="5394960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541324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266944" y="5394960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0096" y="541324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7543800" y="5394960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2" y="541324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WARRANTIES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9820656" y="5394960"/>
            <a:ext cx="2029968" cy="292608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93808" y="541324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spc="65" kern="0" dirty="0">
                <a:solidFill>
                  <a:srgbClr val="FD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722376" y="6007608"/>
            <a:ext cx="10753344" cy="91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6126480"/>
            <a:ext cx="10744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i="1" dirty="0">
                <a:solidFill>
                  <a:srgbClr val="99F6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creates convenience. Operations create reliability.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Earn when the job is completed.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intended commercial flow aligns platform revenue with a delivered service outcome.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603504" y="1828800"/>
            <a:ext cx="10981944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2249424"/>
            <a:ext cx="1078992" cy="10789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240280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34472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3675888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Pays for the completed service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983480" y="2249424"/>
            <a:ext cx="1078992" cy="10789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40280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754880" y="34472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43400" y="3675888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Retains the agreed platform share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942832" y="2249424"/>
            <a:ext cx="1078992" cy="10789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42832" y="2240280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14232" y="34472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02752" y="3675888"/>
            <a:ext cx="2359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the settled portion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331720" y="2788920"/>
            <a:ext cx="2468880" cy="914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91072" y="2788920"/>
            <a:ext cx="2468880" cy="914"/>
          </a:xfrm>
          <a:prstGeom prst="line">
            <a:avLst/>
          </a:prstGeom>
          <a:solidFill>
            <a:srgbClr val="FFFFFF">
              <a:alpha val="0"/>
            </a:srgbClr>
          </a:solidFill>
          <a:ln w="2794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26080" y="2414016"/>
            <a:ext cx="1335024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PAYMENT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967728" y="2414016"/>
            <a:ext cx="1225296" cy="310896"/>
          </a:xfrm>
          <a:prstGeom prst="roundRect">
            <a:avLst/>
          </a:prstGeom>
          <a:solidFill>
            <a:srgbClr val="22304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4323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03504" y="4224528"/>
            <a:ext cx="2743200" cy="166420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4622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ENGINE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841248" y="4800600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Commission or platform share on completed jobs.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41248" y="553212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percentage assumed.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75888" y="43525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OPPORTUNITIES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675888" y="4736592"/>
            <a:ext cx="2340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31336" y="48646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87368" y="4782312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plans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6272784" y="4736592"/>
            <a:ext cx="2340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28232" y="48646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4782312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Technician subscriptions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8869680" y="4736592"/>
            <a:ext cx="2340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25128" y="48646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4782312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accounts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3675888" y="5303520"/>
            <a:ext cx="2340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31336" y="543153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87368" y="5349240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Preventive maintenance</a:t>
            </a:r>
            <a:endParaRPr lang="en-US" sz="910" dirty="0"/>
          </a:p>
        </p:txBody>
      </p:sp>
      <p:sp>
        <p:nvSpPr>
          <p:cNvPr id="43" name="Shape 41"/>
          <p:cNvSpPr/>
          <p:nvPr/>
        </p:nvSpPr>
        <p:spPr>
          <a:xfrm>
            <a:off x="6272784" y="5303520"/>
            <a:ext cx="2340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28232" y="543153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84264" y="5349240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services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8869680" y="5303520"/>
            <a:ext cx="234086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25128" y="543153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81160" y="5349240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service categories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3675888" y="5971032"/>
            <a:ext cx="7242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Clearly staged as future options—not launch assumptions.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749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657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LAUNCH &amp; GROWTH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one zone before expanding the map.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12648" y="1307592"/>
            <a:ext cx="10744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response comes from density—not from launching everywhere at once.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603504" y="1837944"/>
            <a:ext cx="5669280" cy="428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103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LAUNCH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905256" y="25786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1115568" y="2999232"/>
            <a:ext cx="914" cy="28346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56032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514600" y="25328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controlled geographic area.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05256" y="331012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3310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1115568" y="3730752"/>
            <a:ext cx="914" cy="28346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2918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DENSIFY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14600" y="32644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 a carefully selected technician network.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05256" y="404164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1115568" y="4462272"/>
            <a:ext cx="914" cy="28346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02336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514600" y="39959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matching, reliability, first-time fix, satisfaction, repeat usage.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05256" y="477316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1554480" y="47548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514600" y="47274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geography only after the operating model holds.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96112" y="5632704"/>
            <a:ext cx="5084064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650992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45" kern="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DENSITY  +  TECHNICIAN DENSITY  =  FAST RESPONSE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537960" y="1837944"/>
            <a:ext cx="5056632" cy="42885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2700000">
              <a:srgbClr val="0F172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48856" y="2103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830568" y="2505456"/>
            <a:ext cx="40416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TO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RESOLUTION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48856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have a problem.”  →  “Problem solved.”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6848856" y="4151376"/>
            <a:ext cx="4416552" cy="91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44074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time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8321040" y="44074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Technician ETA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9793224" y="44074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Acceptance rate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6848856" y="46817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Cancellation rate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8321040" y="46817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Average job value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9793224" y="46817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Jobs / technician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6848856" y="49560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rating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8321040" y="49560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Technician rating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9793224" y="49560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 customers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848856" y="52303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DE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First-time fix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8321040" y="52303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Complaint rate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9793224" y="52303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Platform commission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6848856" y="55046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Technician utilization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931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840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THE 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9217152" y="-2606040"/>
            <a:ext cx="6400800" cy="6400800"/>
          </a:xfrm>
          <a:prstGeom prst="ellipse">
            <a:avLst/>
          </a:prstGeom>
          <a:solidFill>
            <a:srgbClr val="0F766E">
              <a:alpha val="76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755648" y="5321808"/>
            <a:ext cx="2834640" cy="2834640"/>
          </a:xfrm>
          <a:prstGeom prst="ellipse">
            <a:avLst/>
          </a:prstGeom>
          <a:solidFill>
            <a:srgbClr val="F59E0B">
              <a:alpha val="6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13816"/>
            <a:ext cx="8458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home problem should feel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solvable from the first tap.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85800" y="2386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4944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" y="2889504"/>
            <a:ext cx="1993392" cy="914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2186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" y="3346704"/>
            <a:ext cx="1993392" cy="914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6758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NEGOTIATING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" y="3803904"/>
            <a:ext cx="1993392" cy="914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133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" y="4261104"/>
            <a:ext cx="1993392" cy="914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45902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4718304"/>
            <a:ext cx="1993392" cy="914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2384" y="3730752"/>
            <a:ext cx="740664" cy="914"/>
          </a:xfrm>
          <a:prstGeom prst="line">
            <a:avLst/>
          </a:prstGeom>
          <a:solidFill>
            <a:srgbClr val="FFFFFF">
              <a:alpha val="0"/>
            </a:srgbClr>
          </a:solidFill>
          <a:ln w="304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15384" y="2386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24528" y="2770632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2761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6008" y="27614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24528" y="3227832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6008" y="32186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24528" y="3685032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3675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6008" y="36758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24528" y="4142232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4133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6008" y="41330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24528" y="4599432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45902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36008" y="4590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53528" y="2121408"/>
            <a:ext cx="1024128" cy="1024128"/>
          </a:xfrm>
          <a:prstGeom prst="hexagon">
            <a:avLst/>
          </a:prstGeom>
          <a:solidFill>
            <a:srgbClr val="0F766E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2112264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3100" dirty="0"/>
          </a:p>
        </p:txBody>
      </p:sp>
      <p:sp>
        <p:nvSpPr>
          <p:cNvPr id="37" name="Text 35"/>
          <p:cNvSpPr/>
          <p:nvPr/>
        </p:nvSpPr>
        <p:spPr>
          <a:xfrm>
            <a:off x="7635240" y="337413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7addak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7653528" y="4123944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button between a home problem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 trusted professional.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7653528" y="5129784"/>
            <a:ext cx="3694176" cy="6675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36408" y="5276088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 →  TECHNICIAN  →  FIXED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7662672" y="604418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9F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Trust, operationalized.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0350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7ADDAK  /  STAKEHOLDER OVERVIEW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29260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7addak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7addak — One button between a home problem and a trusted professional</dc:title>
  <dc:subject>Stakeholder business overview</dc:subject>
  <dc:creator>7addak</dc:creator>
  <cp:lastModifiedBy>7addak</cp:lastModifiedBy>
  <cp:revision>1</cp:revision>
  <dcterms:created xsi:type="dcterms:W3CDTF">2026-10-01T20:18:51Z</dcterms:created>
  <dcterms:modified xsi:type="dcterms:W3CDTF">2026-10-01T20:18:51Z</dcterms:modified>
</cp:coreProperties>
</file>